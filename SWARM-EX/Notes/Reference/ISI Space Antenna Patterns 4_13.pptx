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C6EEC8-DB9A-3468-B754-F42E714B5A59}" v="1" dt="2026-04-13T22:00:48.235"/>
    <p1510:client id="{CF21E1F9-CFDF-4B51-6FC7-3BA84BF2729B}" v="1353" dt="2026-04-13T21:57:56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21:43:11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5583 12619 16383 0 0,'-6'0'0'0'0,"-2"6"0"0"0,1 14 0 0 0,-6 10 0 0 0,-5 11 0 0 0,-6 11 0 0 0,-5 9 0 0 0,-4 12 0 0 0,-2 5 0 0 0,-1 14 0 0 0,0 3 0 0 0,-1-3 0 0 0,1-5 0 0 0,0-5 0 0 0,0 2 0 0 0,1 4 0 0 0,-1 5 0 0 0,1-1 0 0 0,0 2 0 0 0,5-4 0 0 0,3-4 0 0 0,0-5 0 0 0,3-5 0 0 0,2-3 0 0 0,3-7 0 0 0,-1-10 0 0 0,3-2 0 0 0,5 2 0 0 0,-2-3 0 0 0,1-4 0 0 0,3 1 0 0 0,-2-1 0 0 0,0 2 0 0 0,-4 5 0 0 0,2-1 0 0 0,-4-4 0 0 0,1-5 0 0 0,5 2 0 0 0,3-1 0 0 0,-3-3 0 0 0,2-2 0 0 0,1-3 0 0 0,3 4 0 0 0,-4-5 0 0 0,0-4 0 0 0,2 0 0 0 0,2-1 0 0 0,-4 0 0 0 0,0 0 0 0 0,1 2 0 0 0,3-1 0 0 0,-4 1 0 0 0,0 6 0 0 0,1 2 0 0 0,3 0 0 0 0,-5-1 0 0 0,1-2 0 0 0,2-2 0 0 0,1-1 0 0 0,3-2 0 0 0,-4-5 0 0 0,-1-3 0 0 0,1 0 0 0 0,2 2 0 0 0,2 2 0 0 0,-4-5 0 0 0,-1 6 0 0 0,1 3 0 0 0,2 1 0 0 0,2 2 0 0 0,2-1 0 0 0,-5 0 0 0 0,-2 5 0 0 0,2 2 0 0 0,1 0 0 0 0,2-3 0 0 0,2-1 0 0 0,1-2 0 0 0,0-2 0 0 0,1 0 0 0 0,1-1 0 0 0,-1 0 0 0 0,0 0 0 0 0,1 0 0 0 0,-1 0 0 0 0,0 0 0 0 0,0 0 0 0 0,0 1 0 0 0,0 5 0 0 0,0 2 0 0 0,0 0 0 0 0,0 22 0 0 0,0 7 0 0 0,6-4 0 0 0,2-6 0 0 0,6-15 0 0 0,0-9 0 0 0,-2-5 0 0 0,2-8 0 0 0,0 4 0 0 0,3 3 0 0 0,5 2 0 0 0,4 1 0 0 0,4 0 0 0 0,3 1 0 0 0,-4 0 0 0 0,-2 0 0 0 0,-4 0 0 0 0,-1-6 0 0 0,-4-3 0 0 0,1 1 0 0 0,4 1 0 0 0,3-4 0 0 0,-3-1 0 0 0,2-3 0 0 0,-5-1 0 0 0,1-3 0 0 0,3-4 0 0 0,3 1 0 0 0,3-1 0 0 0,3-3 0 0 0,1 2 0 0 0,1 0 0 0 0,1-3 0 0 0,0-2 0 0 0,0-3 0 0 0,0-2 0 0 0,-1 5 0 0 0,1 1 0 0 0,-1-1 0 0 0,1-1 0 0 0,-1-2 0 0 0,0-2 0 0 0,0-1 0 0 0,1 0 0 0 0,-1-1 0 0 0,0-1 0 0 0,0 1 0 0 0,1 0 0 0 0,-1-1 0 0 0,0 1 0 0 0,1 0 0 0 0,-1 0 0 0 0,0 0 0 0 0,0 0 0 0 0,1 0 0 0 0,-1 0 0 0 0,0 0 0 0 0,7 0 0 0 0,1 0 0 0 0,0 0 0 0 0,-2 0 0 0 0,-1 0 0 0 0,-2 0 0 0 0,-2 0 0 0 0,0 0 0 0 0,0 0 0 0 0,-1 0 0 0 0,0 0 0 0 0,-1 0 0 0 0,1 0 0 0 0,1 0 0 0 0,-1-6 0 0 0,0-2 0 0 0,0 0 0 0 0,-6-4 0 0 0,-1 0 0 0 0,-1 2 0 0 0,-3-4 0 0 0,-1 1 0 0 0,2-3 0 0 0,2 1 0 0 0,10-4 0 0 0,-3-3 0 0 0,0 1 0 0 0,-1-1 0 0 0,1 2 0 0 0,-6-1 0 0 0,-1-2 0 0 0,0 1 0 0 0,-4 0 0 0 0,0-3 0 0 0,2 3 0 0 0,3-1 0 0 0,-4-3 0 0 0,1-2 0 0 0,-5-3 0 0 0,1 4 0 0 0,3-6 0 0 0,-3-2 0 0 0,1-3 0 0 0,-3 1 0 0 0,1-1 0 0 0,-3 1 0 0 0,2 1 0 0 0,-2 0 0 0 0,-5 0 0 0 0,-4 1 0 0 0,-3-6 0 0 0,-2-3 0 0 0,-3 2 0 0 0,0 0 0 0 0,-1 3 0 0 0,0 1 0 0 0,1 1 0 0 0,-1 1 0 0 0,1 1 0 0 0,0 0 0 0 0,-1 0 0 0 0,1 0 0 0 0,0 0 0 0 0,0 0 0 0 0,0 0 0 0 0,1 0 0 0 0,-1-1 0 0 0,-6 1 0 0 0,-2 0 0 0 0,0 0 0 0 0,2-1 0 0 0,1 1 0 0 0,3 0 0 0 0,-6-1 0 0 0,0 1 0 0 0,0 0 0 0 0,2 0 0 0 0,-4-1 0 0 0,0 1 0 0 0,-5 0 0 0 0,1-1 0 0 0,-4 1 0 0 0,1 0 0 0 0,-2 0 0 0 0,2-1 0 0 0,-2 1 0 0 0,2 0 0 0 0,-2-1 0 0 0,2 1 0 0 0,-1 0 0 0 0,1 0 0 0 0,-2-1 0 0 0,3 1 0 0 0,3-6 0 0 0,-2-8 0 0 0,2-2 0 0 0,-3-4 0 0 0,1 1 0 0 0,-2 4 0 0 0,1 4 0 0 0,3 5 0 0 0,-2 8 0 0 0,2 5 0 0 0,3 0 0 0 0,-3 6 0 0 0,1-1 0 0 0,2-1 0 0 0,-3 3 0 0 0,1-1 0 0 0,2-2 0 0 0,-3 2 0 0 0,1-1 0 0 0,2-2 0 0 0,-3-3 0 0 0,1-3 0 0 0,-4-2 0 0 0,1-2 0 0 0,-3 0 0 0 0,1-1 0 0 0,-2 6 0 0 0,3 3 0 0 0,3-2 0 0 0,4 0 0 0 0,-3 4 0 0 0,2 0 0 0 0,1-1 0 0 0,4-3 0 0 0,1-2 0 0 0,-4-1 0 0 0,-1-3 0 0 0,-4 0 0 0 0,-1 0 0 0 0,-3-1 0 0 0,0 1 0 0 0,-2-1 0 0 0,2 0 0 0 0,4 1 0 0 0,-2-1 0 0 0,1 1 0 0 0,4 0 0 0 0,-3 0 0 0 0,1-1 0 0 0,-4 7 0 0 0,1 2 0 0 0,4-1 0 0 0,2-1 0 0 0,-2 4 0 0 0,1 0 0 0 0,1-1 0 0 0,-3 4 0 0 0,0-1 0 0 0,2-3 0 0 0,-3 4 0 0 0,1-6 0 0 0,2-5 0 0 0,-3-3 0 0 0,1-1 0 0 0,2 0 0 0 0,-4-1 0 0 0,2 2 0 0 0,-4-1 0 0 0,1 2 0 0 0,-3 5 0 0 0,2 3 0 0 0,3-1 0 0 0,4-1 0 0 0,-2 4 0 0 0,0 1 0 0 0,2-3 0 0 0,-3-1 0 0 0,1-3 0 0 0,1-2 0 0 0,-3 5 0 0 0,1 1 0 0 0,2-1 0 0 0,-3 4 0 0 0,1 1 0 0 0,2-2 0 0 0,-3-3 0 0 0,0-3 0 0 0,3-2 0 0 0,-3-1 0 0 0,1-1 0 0 0,-4 0 0 0 0,1-1 0 0 0,-3 0 0 0 0,2 0 0 0 0,3 1 0 0 0,-2 5 0 0 0,2 3 0 0 0,-4-1 0 0 0,-4-1 0 0 0,1-2 0 0 0,-1-1 0 0 0,-5-2 0 0 0,4 5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20:49:59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5350 12552 16383 0 0,'-5'0'0'0'0,"-1"4"0"0"0,0 10 0 0 0,-4 6 0 0 0,-4 7 0 0 0,-6 9 0 0 0,-3 5 0 0 0,-3 8 0 0 0,-2 4 0 0 0,-1 9 0 0 0,0 2 0 0 0,0-2 0 0 0,0-3 0 0 0,0-4 0 0 0,0 2 0 0 0,1 2 0 0 0,-1 4 0 0 0,1-1 0 0 0,0 1 0 0 0,4-2 0 0 0,3-3 0 0 0,-1-3 0 0 0,3-4 0 0 0,1-2 0 0 0,3-4 0 0 0,-1-7 0 0 0,2-2 0 0 0,5 2 0 0 0,-2-3 0 0 0,0-1 0 0 0,3-1 0 0 0,-1 0 0 0 0,-1 2 0 0 0,-3 3 0 0 0,2-1 0 0 0,-3-3 0 0 0,0-3 0 0 0,4 2 0 0 0,3-2 0 0 0,-3-1 0 0 0,2-2 0 0 0,1-1 0 0 0,2 2 0 0 0,-3-4 0 0 0,0-2 0 0 0,2 0 0 0 0,1-1 0 0 0,-3 1 0 0 0,0-1 0 0 0,1 2 0 0 0,2-2 0 0 0,-3 2 0 0 0,0 4 0 0 0,1 1 0 0 0,2 0 0 0 0,-4-1 0 0 0,1-1 0 0 0,2-1 0 0 0,0-1 0 0 0,3-2 0 0 0,-3-2 0 0 0,-1-3 0 0 0,0 0 0 0 0,2 2 0 0 0,2 1 0 0 0,-3-4 0 0 0,-1 5 0 0 0,0 1 0 0 0,2 2 0 0 0,2 0 0 0 0,2 0 0 0 0,-5 0 0 0 0,-1 3 0 0 0,1 2 0 0 0,1 0 0 0 0,2-2 0 0 0,2-1 0 0 0,0-2 0 0 0,0-1 0 0 0,1 1 0 0 0,1-2 0 0 0,-1 1 0 0 0,0 0 0 0 0,1-1 0 0 0,-1 1 0 0 0,0-1 0 0 0,0 1 0 0 0,0 0 0 0 0,0 4 0 0 0,0 1 0 0 0,0 0 0 0 0,0 15 0 0 0,0 5 0 0 0,4-4 0 0 0,3-3 0 0 0,4-10 0 0 0,0-6 0 0 0,-1-4 0 0 0,1-5 0 0 0,0 2 0 0 0,3 3 0 0 0,3 1 0 0 0,4 0 0 0 0,3 1 0 0 0,3 0 0 0 0,-4 1 0 0 0,-2-1 0 0 0,-2 0 0 0 0,-1-4 0 0 0,-4-1 0 0 0,1 0 0 0 0,4 0 0 0 0,1-2 0 0 0,-1-1 0 0 0,1-2 0 0 0,-4 0 0 0 0,1-3 0 0 0,2-2 0 0 0,2 1 0 0 0,3-2 0 0 0,3-1 0 0 0,0 1 0 0 0,1 0 0 0 0,1-2 0 0 0,0-1 0 0 0,-1-2 0 0 0,1-2 0 0 0,-1 4 0 0 0,1 0 0 0 0,-1 0 0 0 0,1-1 0 0 0,-1-1 0 0 0,0-2 0 0 0,0 0 0 0 0,1-1 0 0 0,-1 0 0 0 0,0 0 0 0 0,0 0 0 0 0,1 0 0 0 0,-1-1 0 0 0,0 1 0 0 0,0 0 0 0 0,0 0 0 0 0,1 0 0 0 0,-1 0 0 0 0,0 0 0 0 0,0 0 0 0 0,0 0 0 0 0,6 0 0 0 0,0 0 0 0 0,1 0 0 0 0,-2 0 0 0 0,-1 0 0 0 0,-2 0 0 0 0,-1 0 0 0 0,0 0 0 0 0,-1 0 0 0 0,0 0 0 0 0,1 0 0 0 0,-2 0 0 0 0,1 0 0 0 0,1 0 0 0 0,-1-4 0 0 0,0-1 0 0 0,0-1 0 0 0,-5-2 0 0 0,-1 0 0 0 0,0 1 0 0 0,-3-2 0 0 0,-1 0 0 0 0,2-2 0 0 0,2 1 0 0 0,8-3 0 0 0,-3-2 0 0 0,0 1 0 0 0,-1-1 0 0 0,2 2 0 0 0,-6-1 0 0 0,0-2 0 0 0,-1 1 0 0 0,-2 1 0 0 0,-1-3 0 0 0,2 2 0 0 0,3-1 0 0 0,-4-1 0 0 0,1-2 0 0 0,-4-2 0 0 0,1 3 0 0 0,2-4 0 0 0,-2-2 0 0 0,0-2 0 0 0,-2 1 0 0 0,1 0 0 0 0,-2 0 0 0 0,1 0 0 0 0,-1 1 0 0 0,-5 0 0 0 0,-2 0 0 0 0,-3-3 0 0 0,-2-3 0 0 0,-2 1 0 0 0,0 1 0 0 0,-1 2 0 0 0,1 0 0 0 0,0 1 0 0 0,-1 1 0 0 0,1 0 0 0 0,0 1 0 0 0,-1-1 0 0 0,1 0 0 0 0,0 1 0 0 0,0-1 0 0 0,0 1 0 0 0,1-1 0 0 0,-1 0 0 0 0,-5 0 0 0 0,-1 0 0 0 0,-1 1 0 0 0,2-1 0 0 0,1 0 0 0 0,3 0 0 0 0,-6 0 0 0 0,1 0 0 0 0,0 1 0 0 0,1-1 0 0 0,-3 0 0 0 0,0 0 0 0 0,-4 1 0 0 0,1-2 0 0 0,-4 2 0 0 0,2-1 0 0 0,-3 1 0 0 0,3-2 0 0 0,-2 2 0 0 0,1-1 0 0 0,-1 0 0 0 0,1 0 0 0 0,0 0 0 0 0,0 1 0 0 0,-1-1 0 0 0,2 0 0 0 0,3-4 0 0 0,-2-5 0 0 0,1-1 0 0 0,-1-3 0 0 0,0 0 0 0 0,-2 3 0 0 0,1 3 0 0 0,3 4 0 0 0,-2 5 0 0 0,1 3 0 0 0,3 0 0 0 0,-2 4 0 0 0,0-1 0 0 0,2 0 0 0 0,-2 2 0 0 0,0-1 0 0 0,2-1 0 0 0,-2 1 0 0 0,0 0 0 0 0,2-2 0 0 0,-2-2 0 0 0,0-2 0 0 0,-3-1 0 0 0,1-2 0 0 0,-2 0 0 0 0,0 0 0 0 0,-1 4 0 0 0,2 2 0 0 0,3-2 0 0 0,3 1 0 0 0,-3 2 0 0 0,2 0 0 0 0,1-1 0 0 0,3-1 0 0 0,1-2 0 0 0,-4-1 0 0 0,0-1 0 0 0,-3-1 0 0 0,-1 0 0 0 0,-3 0 0 0 0,0 0 0 0 0,-1 0 0 0 0,2 0 0 0 0,2 0 0 0 0,-1 0 0 0 0,1 0 0 0 0,3 1 0 0 0,-2-1 0 0 0,0 0 0 0 0,-3 4 0 0 0,1 2 0 0 0,3-1 0 0 0,2 0 0 0 0,-2 2 0 0 0,1 0 0 0 0,1-1 0 0 0,-3 3 0 0 0,1 0 0 0 0,1-3 0 0 0,-3 3 0 0 0,2-3 0 0 0,1-5 0 0 0,-3-1 0 0 0,2-1 0 0 0,1 0 0 0 0,-3-1 0 0 0,1 2 0 0 0,-3-1 0 0 0,1 2 0 0 0,-2 2 0 0 0,1 3 0 0 0,3-1 0 0 0,2 0 0 0 0,0 2 0 0 0,-1 1 0 0 0,2-3 0 0 0,-3 0 0 0 0,1-1 0 0 0,1-3 0 0 0,-2 4 0 0 0,0 1 0 0 0,2-1 0 0 0,-2 3 0 0 0,0 1 0 0 0,2-2 0 0 0,-2-2 0 0 0,-1-2 0 0 0,3-1 0 0 0,-2-1 0 0 0,0-1 0 0 0,-2 0 0 0 0,0 0 0 0 0,-3 0 0 0 0,2 0 0 0 0,3 0 0 0 0,-2 4 0 0 0,2 1 0 0 0,-4 1 0 0 0,-3-2 0 0 0,1-1 0 0 0,-1 0 0 0 0,-4-2 0 0 0,4 3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21:58:28.6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13494 12683 16383 0 0,'0'-6'0'0'0,"0"-8"0"0"0,0-8 0 0 0,0-6 0 0 0,0-4 0 0 0,0-8 0 0 0,0-11 0 0 0,0-1 0 0 0,0 1 0 0 0,0 4 0 0 0,0 4 0 0 0,0 3 0 0 0,0 2 0 0 0,0 2 0 0 0,0-5 0 0 0,0-1 0 0 0,0-6 0 0 0,0-1 0 0 0,0 2 0 0 0,0-3 0 0 0,0 2 0 0 0,0 2 0 0 0,0 3 0 0 0,0 3 0 0 0,0 2 0 0 0,0 2 0 0 0,0 1 0 0 0,0 0 0 0 0,0 0 0 0 0,0 0 0 0 0,0 1 0 0 0,0-1 0 0 0,0 0 0 0 0,0-1 0 0 0,0 1 0 0 0,0 0 0 0 0,0 0 0 0 0,0-1 0 0 0,0 1 0 0 0,0 0 0 0 0,0-7 0 0 0,0-1 0 0 0,0 0 0 0 0,0-22 0 0 0,0-7 0 0 0,0 4 0 0 0,6 7 0 0 0,2 7 0 0 0,-1 8 0 0 0,-1 5 0 0 0,-1 4 0 0 0,-2 2 0 0 0,-2 7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21:58:28.6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13575 12229 16383 0 0,'-6'0'0'0'0,"-8"-6"0"0"0,-7-8 0 0 0,-7-8 0 0 0,-10-11 0 0 0,1-8 0 0 0,1-1 0 0 0,-5 0 0 0 0,-2-5 0 0 0,1-1 0 0 0,7 2 0 0 0,3 10 0 0 0,2 3 0 0 0,5 3 0 0 0,2 5 0 0 0,-2 2 0 0 0,4-1 0 0 0,-1 2 0 0 0,3 6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21:58:28.6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13547 12131 16383 0 0,'6'-6'0'0'0,"8"-8"0"0"0,13-13 0 0 0,9-9 0 0 0,16-4 0 0 0,10-1 0 0 0,8-5 0 0 0,4-2 0 0 0,-6 2 0 0 0,-7 9 0 0 0,-9 5 0 0 0,-6 1 0 0 0,-6 6 0 0 0,-4 8 0 0 0,-7 0 0 0 0,-9 4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21:58:28.6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19526 9340 16383 0 0,'6'0'0'0'0,"8"0"0"0"0,8 0 0 0 0,6 0 0 0 0,10 0 0 0 0,4 0 0 0 0,2 0 0 0 0,5 0 0 0 0,0 0 0 0 0,-2 0 0 0 0,-3 0 0 0 0,-3 0 0 0 0,-3 0 0 0 0,-1 0 0 0 0,-2 0 0 0 0,0 0 0 0 0,0 0 0 0 0,0 0 0 0 0,-1 0 0 0 0,1 0 0 0 0,0 0 0 0 0,0 0 0 0 0,1 0 0 0 0,-1 0 0 0 0,0 0 0 0 0,0 0 0 0 0,1 0 0 0 0,-1 0 0 0 0,0 0 0 0 0,1 0 0 0 0,-1 0 0 0 0,0 0 0 0 0,0 0 0 0 0,1 0 0 0 0,-1 0 0 0 0,0 0 0 0 0,1 0 0 0 0,5 0 0 0 0,8 0 0 0 0,2 0 0 0 0,-2 0 0 0 0,-3 0 0 0 0,-4 0 0 0 0,-2 0 0 0 0,-3 0 0 0 0,-1 0 0 0 0,-1 0 0 0 0,-7 0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21:58:28.6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19526 9240 16383 0 0,'6'-6'0'0'0,"8"-2"0"0"0,14-5 0 0 0,13-2 0 0 0,7 3 0 0 0,7 4 0 0 0,-1 2 0 0 0,-2 3 0 0 0,-5 1 0 0 0,-4 2 0 0 0,-4 0 0 0 0,-1-5 0 0 0,-3-9 0 0 0,0-1 0 0 0,-1 2 0 0 0,-5 3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3T21:58:28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19447 9313 16383 0 0,'0'6'0'0'0,"12"8"0"0"0,10 8 0 0 0,7 6 0 0 0,5 10 0 0 0,8 4 0 0 0,4 8 0 0 0,-1 1 0 0 0,-1-8 0 0 0,-3-6 0 0 0,-2-2 0 0 0,-2-2 0 0 0,-1-6 0 0 0,0-8 0 0 0,-1-7 0 0 0,-7 0 0 0 0,-1-2 0 0 0,1-2 0 0 0,-6-3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12" Type="http://schemas.openxmlformats.org/officeDocument/2006/relationships/customXml" Target="../ink/ink7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17.png"/><Relationship Id="rId14" Type="http://schemas.openxmlformats.org/officeDocument/2006/relationships/customXml" Target="../ink/ink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ISI Space Antenna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Gabriel Burdan – 4/13/2026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9FAA2-115F-04B5-0B10-6421624EE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Quadrupole Turnstile Antenna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730FE-2321-AD87-C7BA-2E7F0B1E3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865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Current ISI Space Antenna configuration</a:t>
            </a:r>
          </a:p>
          <a:p>
            <a:r>
              <a:rPr lang="en-US"/>
              <a:t>Tuned to be impedance matched at 401 MHz</a:t>
            </a:r>
            <a:endParaRPr lang="en-US" dirty="0"/>
          </a:p>
          <a:p>
            <a:r>
              <a:rPr lang="en-US"/>
              <a:t>3U Structure underneath antenna</a:t>
            </a:r>
          </a:p>
          <a:p>
            <a:r>
              <a:rPr lang="en-US" dirty="0"/>
              <a:t>Fed with 4x lumped ports, each with a 90 degree phase offset</a:t>
            </a:r>
          </a:p>
        </p:txBody>
      </p:sp>
      <p:pic>
        <p:nvPicPr>
          <p:cNvPr id="4" name="Picture 3" descr="A grey rectangular object with orange lines&#10;&#10;AI-generated content may be incorrect.">
            <a:extLst>
              <a:ext uri="{FF2B5EF4-FFF2-40B4-BE49-F238E27FC236}">
                <a16:creationId xmlns:a16="http://schemas.microsoft.com/office/drawing/2014/main" id="{E1B616EC-DDDB-77AA-BD0A-1902FF9EF3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28" t="9337" r="551" b="11053"/>
          <a:stretch>
            <a:fillRect/>
          </a:stretch>
        </p:blipFill>
        <p:spPr>
          <a:xfrm>
            <a:off x="7137754" y="1495378"/>
            <a:ext cx="5052455" cy="466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31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A7A85-5B7B-3FF7-CC5A-112E364E3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Gain Patterns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C1FA81-0853-1E1E-37E8-BCDCE9A4C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531" y="1445733"/>
            <a:ext cx="5209277" cy="4872308"/>
          </a:xfrm>
          <a:prstGeom prst="rect">
            <a:avLst/>
          </a:prstGeom>
        </p:spPr>
      </p:pic>
      <p:pic>
        <p:nvPicPr>
          <p:cNvPr id="7" name="Picture 6" descr="A computer screen shot of a fruit&#10;&#10;AI-generated content may be incorrect.">
            <a:extLst>
              <a:ext uri="{FF2B5EF4-FFF2-40B4-BE49-F238E27FC236}">
                <a16:creationId xmlns:a16="http://schemas.microsoft.com/office/drawing/2014/main" id="{B55D2731-C171-F672-787A-1F74258A1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1446213"/>
            <a:ext cx="521335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6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8637B-E384-FF42-4EFC-A5FA59F59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2D RHCP Gain Cuts @401 MHz</a:t>
            </a:r>
            <a:endParaRPr lang="en-US" dirty="0"/>
          </a:p>
        </p:txBody>
      </p:sp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9C433AC8-B85B-54B8-C207-7DB1BA26D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611" y="1337903"/>
            <a:ext cx="8147291" cy="48866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1EA9BB-BF3E-EE2C-950A-A59632B66434}"/>
              </a:ext>
            </a:extLst>
          </p:cNvPr>
          <p:cNvSpPr txBox="1"/>
          <p:nvPr/>
        </p:nvSpPr>
        <p:spPr>
          <a:xfrm>
            <a:off x="698500" y="1676400"/>
            <a:ext cx="29718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Good pattern symmetry within HPBW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Peak RHCP Gain = 3.71 dB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HPBW ~= 100 degrees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Main lobe orientation shown below</a:t>
            </a:r>
            <a:endParaRPr lang="en-US" dirty="0"/>
          </a:p>
        </p:txBody>
      </p:sp>
      <p:pic>
        <p:nvPicPr>
          <p:cNvPr id="7" name="Picture 6" descr="A grey rectangular object with orange lines&#10;&#10;AI-generated content may be incorrect.">
            <a:extLst>
              <a:ext uri="{FF2B5EF4-FFF2-40B4-BE49-F238E27FC236}">
                <a16:creationId xmlns:a16="http://schemas.microsoft.com/office/drawing/2014/main" id="{84450E64-C6C6-BA1C-ECE0-A25520F1E9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28" t="9337" r="551" b="11053"/>
          <a:stretch>
            <a:fillRect/>
          </a:stretch>
        </p:blipFill>
        <p:spPr>
          <a:xfrm>
            <a:off x="838554" y="3641678"/>
            <a:ext cx="2880755" cy="28093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80F4D6B-B171-CD40-CC9F-EECC6F57E0B2}"/>
                  </a:ext>
                </a:extLst>
              </p14:cNvPr>
              <p14:cNvContentPartPr/>
              <p14:nvPr/>
            </p14:nvContentPartPr>
            <p14:xfrm>
              <a:off x="1675821" y="4650147"/>
              <a:ext cx="1081414" cy="203061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80F4D6B-B171-CD40-CC9F-EECC6F57E0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57827" y="4632152"/>
                <a:ext cx="1117041" cy="206624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8934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3FC50-26A3-4871-2604-BAF50747F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2F294-EA6C-0990-A821-27C7D20E2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2D LHCP Gain Cuts @401 MHz</a:t>
            </a:r>
            <a:endParaRPr lang="en-US" dirty="0"/>
          </a:p>
        </p:txBody>
      </p:sp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46A165E4-0EB4-6BA0-1570-F27B6858B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611" y="1337903"/>
            <a:ext cx="8147291" cy="48866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DB7212-A7E2-F8FF-9BA5-D76823BC3E98}"/>
              </a:ext>
            </a:extLst>
          </p:cNvPr>
          <p:cNvSpPr txBox="1"/>
          <p:nvPr/>
        </p:nvSpPr>
        <p:spPr>
          <a:xfrm>
            <a:off x="698500" y="1676400"/>
            <a:ext cx="29718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Good pattern symmetry within HPBW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Peak LHCP Gain = 2.21 dB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HPBW ~= 100 degrees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Main lobe orientation shown below</a:t>
            </a:r>
            <a:endParaRPr lang="en-US" dirty="0"/>
          </a:p>
        </p:txBody>
      </p:sp>
      <p:pic>
        <p:nvPicPr>
          <p:cNvPr id="7" name="Picture 6" descr="A grey rectangular object with orange lines&#10;&#10;AI-generated content may be incorrect.">
            <a:extLst>
              <a:ext uri="{FF2B5EF4-FFF2-40B4-BE49-F238E27FC236}">
                <a16:creationId xmlns:a16="http://schemas.microsoft.com/office/drawing/2014/main" id="{E672715A-B35A-60A2-4305-A2BD2DF8B0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28" t="9337" r="551" b="11053"/>
          <a:stretch>
            <a:fillRect/>
          </a:stretch>
        </p:blipFill>
        <p:spPr>
          <a:xfrm>
            <a:off x="902054" y="4225878"/>
            <a:ext cx="2626755" cy="25680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ABE362A-AB60-59C9-6F0B-BF0F90EA28D0}"/>
                  </a:ext>
                </a:extLst>
              </p14:cNvPr>
              <p14:cNvContentPartPr/>
              <p14:nvPr/>
            </p14:nvContentPartPr>
            <p14:xfrm rot="11100000">
              <a:off x="1786221" y="3817268"/>
              <a:ext cx="865514" cy="137021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ABE362A-AB60-59C9-6F0B-BF0F90EA28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11100000">
                <a:off x="1768227" y="3799272"/>
                <a:ext cx="901142" cy="140584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8B2B21C-B359-92B8-A2C2-1EC2BCB6B3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925" y="1255713"/>
            <a:ext cx="8159750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49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7E1CE-5DA0-9A94-2DCD-17FC14D83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 Axis RHCP </a:t>
            </a:r>
            <a:r>
              <a:rPr lang="en-US"/>
              <a:t>Radiati</a:t>
            </a:r>
            <a:r>
              <a:rPr lang="en-US">
                <a:solidFill>
                  <a:srgbClr val="000000"/>
                </a:solidFill>
                <a:latin typeface="Aptos Display"/>
              </a:rPr>
              <a:t>on</a:t>
            </a:r>
            <a:r>
              <a:rPr lang="en-US"/>
              <a:t> Properties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4651B3-CD25-DC0F-0C57-19941C411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972" y="1419136"/>
            <a:ext cx="8591550" cy="51593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C63803D-79E8-A81A-6524-E6F0614667F9}"/>
              </a:ext>
            </a:extLst>
          </p:cNvPr>
          <p:cNvSpPr txBox="1"/>
          <p:nvPr/>
        </p:nvSpPr>
        <p:spPr>
          <a:xfrm>
            <a:off x="698500" y="1689100"/>
            <a:ext cx="26035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Pattern symmetry degrades away from boresight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RHCP Radiation for +/- 90 degrees off boresight shown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AR shown on next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730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E07F2-3EDE-112A-2B22-0AE0F5915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Axial Ratio @401 MHz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FB03B6-BE4F-4FBA-F4A4-395581265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425" y="1357313"/>
            <a:ext cx="8286750" cy="4943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F55A97-B7CF-CB98-D14A-03FAE0D7783E}"/>
              </a:ext>
            </a:extLst>
          </p:cNvPr>
          <p:cNvSpPr txBox="1"/>
          <p:nvPr/>
        </p:nvSpPr>
        <p:spPr>
          <a:xfrm>
            <a:off x="698500" y="1689100"/>
            <a:ext cx="32131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Main beams (RHCP and </a:t>
            </a:r>
            <a:r>
              <a:rPr lang="en-US"/>
              <a:t>LHCP) have low AR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RHCP circularly polarized beamwidth ~= 64 degrees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LHCP circularly polarized beamwidth ~= 62 degrees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Off-axis EM waves linearly polarized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5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82A50-D9F3-6F14-049C-3ABA35ABA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Dipole Turnstile Antenna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FF380-8210-DAC5-A0CD-0C4948C03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310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Proposed ISI</a:t>
            </a:r>
            <a:r>
              <a:rPr lang="en-US" dirty="0"/>
              <a:t> Space </a:t>
            </a:r>
            <a:r>
              <a:rPr lang="en-US"/>
              <a:t>Antenna configuration</a:t>
            </a:r>
            <a:endParaRPr lang="en-US" dirty="0"/>
          </a:p>
          <a:p>
            <a:r>
              <a:rPr lang="en-US"/>
              <a:t>Tuned to be impedance matched at 401 MHz</a:t>
            </a:r>
          </a:p>
          <a:p>
            <a:r>
              <a:rPr lang="en-US"/>
              <a:t>3U Structure underneath antenna</a:t>
            </a:r>
          </a:p>
          <a:p>
            <a:r>
              <a:rPr lang="en-US" dirty="0"/>
              <a:t>Fed with 2x lumped ports, each with a 180 degree phase offset</a:t>
            </a:r>
          </a:p>
        </p:txBody>
      </p:sp>
      <p:pic>
        <p:nvPicPr>
          <p:cNvPr id="4" name="Picture 3" descr="A white rectangular object with orange lines&#10;&#10;AI-generated content may be incorrect.">
            <a:extLst>
              <a:ext uri="{FF2B5EF4-FFF2-40B4-BE49-F238E27FC236}">
                <a16:creationId xmlns:a16="http://schemas.microsoft.com/office/drawing/2014/main" id="{5AF56AC4-477C-AB55-1DD3-50786296CC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00" t="5196" r="28349" b="12017"/>
          <a:stretch>
            <a:fillRect/>
          </a:stretch>
        </p:blipFill>
        <p:spPr>
          <a:xfrm>
            <a:off x="8262938" y="519113"/>
            <a:ext cx="3095923" cy="583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542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13CD8-6CEF-B930-1A3D-2BA6CCE36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Gain Pattern</a:t>
            </a:r>
          </a:p>
        </p:txBody>
      </p:sp>
      <p:pic>
        <p:nvPicPr>
          <p:cNvPr id="5" name="Picture 4" descr="A colorful circle with white text&#10;&#10;AI-generated content may be incorrect.">
            <a:extLst>
              <a:ext uri="{FF2B5EF4-FFF2-40B4-BE49-F238E27FC236}">
                <a16:creationId xmlns:a16="http://schemas.microsoft.com/office/drawing/2014/main" id="{4D04D68E-E2B1-3301-817B-CBE54FC98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350" y="1293813"/>
            <a:ext cx="6807200" cy="523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03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C6CF-0A8B-2B6D-E44A-C3F12BDDD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2D Radiation Pattern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B0F3A2-EBDD-A847-EDB4-74BC5CB4BBDD}"/>
              </a:ext>
            </a:extLst>
          </p:cNvPr>
          <p:cNvSpPr txBox="1"/>
          <p:nvPr/>
        </p:nvSpPr>
        <p:spPr>
          <a:xfrm>
            <a:off x="698500" y="1689100"/>
            <a:ext cx="32131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Linearly polarized omnidirectional pattern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Nulls at dipole ends (phi = 90 deg, theta ~= 90, 270 deg)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Peak gain = 3.63 dB</a:t>
            </a:r>
            <a:endParaRPr lang="en-US" dirty="0"/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876BAABC-B48F-9AD0-5EA9-19172C822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600" y="1395413"/>
            <a:ext cx="8280400" cy="439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45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F5D14-EB0E-ACE9-D137-18E7A4AC7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to ISI Space Antenna Manual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A756A1-5DDF-19D8-22F3-D0E25B35B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188" y="1583277"/>
            <a:ext cx="4534080" cy="3244311"/>
          </a:xfrm>
          <a:prstGeom prst="rect">
            <a:avLst/>
          </a:prstGeom>
        </p:spPr>
      </p:pic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92368EF3-F103-3D9E-A59C-4C051476A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5" y="1284288"/>
            <a:ext cx="3879850" cy="3844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D9A216-5594-2B2A-CD1F-C46E54446B85}"/>
              </a:ext>
            </a:extLst>
          </p:cNvPr>
          <p:cNvSpPr txBox="1"/>
          <p:nvPr/>
        </p:nvSpPr>
        <p:spPr>
          <a:xfrm>
            <a:off x="4406900" y="4813300"/>
            <a:ext cx="34036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Total dB Gain vs Theta @ Phi = 90</a:t>
            </a:r>
          </a:p>
          <a:p>
            <a:r>
              <a:rPr lang="en-US"/>
              <a:t>@ 401 MHz with 3U CubeSat Underneath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8EEA75-8960-976B-7495-D12B15F094A2}"/>
              </a:ext>
            </a:extLst>
          </p:cNvPr>
          <p:cNvSpPr txBox="1"/>
          <p:nvPr/>
        </p:nvSpPr>
        <p:spPr>
          <a:xfrm>
            <a:off x="8318500" y="4826000"/>
            <a:ext cx="34036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Total dB Gain vs Theta @ Phi = 0 (blue dotted line) for a UHF Antenna with 2U CubeSat Underneath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9D755B6-8583-6AC6-6A8D-E510FDA965C4}"/>
                  </a:ext>
                </a:extLst>
              </p14:cNvPr>
              <p14:cNvContentPartPr/>
              <p14:nvPr/>
            </p14:nvContentPartPr>
            <p14:xfrm>
              <a:off x="6032500" y="3745936"/>
              <a:ext cx="13044" cy="775263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9D755B6-8583-6AC6-6A8D-E510FDA965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15226" y="3727948"/>
                <a:ext cx="47946" cy="8108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275C70D-3813-FE5B-2F4A-1B46CE1F0697}"/>
                  </a:ext>
                </a:extLst>
              </p14:cNvPr>
              <p14:cNvContentPartPr/>
              <p14:nvPr/>
            </p14:nvContentPartPr>
            <p14:xfrm>
              <a:off x="5813255" y="4298034"/>
              <a:ext cx="193844" cy="197765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275C70D-3813-FE5B-2F4A-1B46CE1F069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95633" y="4280055"/>
                <a:ext cx="229448" cy="2333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050B5B4-7C42-84A9-66FF-B0DADB313358}"/>
                  </a:ext>
                </a:extLst>
              </p14:cNvPr>
              <p14:cNvContentPartPr/>
              <p14:nvPr/>
            </p14:nvContentPartPr>
            <p14:xfrm>
              <a:off x="6057899" y="4286091"/>
              <a:ext cx="249503" cy="171608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050B5B4-7C42-84A9-66FF-B0DADB3133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0283" y="4268499"/>
                <a:ext cx="285095" cy="2071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6A0F33-74A0-EA68-31E9-4CA6E35E36AC}"/>
                  </a:ext>
                </a:extLst>
              </p14:cNvPr>
              <p14:cNvContentPartPr/>
              <p14:nvPr/>
            </p14:nvContentPartPr>
            <p14:xfrm>
              <a:off x="8928100" y="3175000"/>
              <a:ext cx="634390" cy="127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6A0F33-74A0-EA68-31E9-4CA6E35E36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10108" y="2552700"/>
                <a:ext cx="670014" cy="1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A43F087-DB67-FF11-2E31-8A25B9817033}"/>
                  </a:ext>
                </a:extLst>
              </p14:cNvPr>
              <p14:cNvContentPartPr/>
              <p14:nvPr/>
            </p14:nvContentPartPr>
            <p14:xfrm>
              <a:off x="8928099" y="3064538"/>
              <a:ext cx="215099" cy="46961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A43F087-DB67-FF11-2E31-8A25B981703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910144" y="3046972"/>
                <a:ext cx="250290" cy="824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152AA5F-8FFF-171A-BEA7-5092998971B0}"/>
                  </a:ext>
                </a:extLst>
              </p14:cNvPr>
              <p14:cNvContentPartPr/>
              <p14:nvPr/>
            </p14:nvContentPartPr>
            <p14:xfrm>
              <a:off x="8890000" y="3162299"/>
              <a:ext cx="217288" cy="177095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152AA5F-8FFF-171A-BEA7-5092998971B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72401" y="3144338"/>
                <a:ext cx="252844" cy="212658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E1151B9-2A9D-DA07-409A-B6074758965D}"/>
              </a:ext>
            </a:extLst>
          </p:cNvPr>
          <p:cNvSpPr txBox="1"/>
          <p:nvPr/>
        </p:nvSpPr>
        <p:spPr>
          <a:xfrm>
            <a:off x="4190999" y="6489699"/>
            <a:ext cx="909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*Red arrows indicate direction CubeSat structure is pointing for each simulation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E59CAC-EAE0-1B7A-19EC-E58375A65F66}"/>
              </a:ext>
            </a:extLst>
          </p:cNvPr>
          <p:cNvSpPr txBox="1"/>
          <p:nvPr/>
        </p:nvSpPr>
        <p:spPr>
          <a:xfrm>
            <a:off x="698500" y="1689100"/>
            <a:ext cx="32131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Omnidirectional pattern for </a:t>
            </a:r>
            <a:r>
              <a:rPr lang="en-US"/>
              <a:t>both</a:t>
            </a:r>
            <a:r>
              <a:rPr lang="en-US" dirty="0"/>
              <a:t> models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Peak gain aligned with CubeSat in both cases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Nulls at dipole ends (more on next slide)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577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F773D-2923-35E3-2319-CCB03E69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graph&#10;&#10;AI-generated content may be incorrect.">
            <a:extLst>
              <a:ext uri="{FF2B5EF4-FFF2-40B4-BE49-F238E27FC236}">
                <a16:creationId xmlns:a16="http://schemas.microsoft.com/office/drawing/2014/main" id="{9FA97946-5238-97B4-4D4E-74E0BEC6B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188" y="1331913"/>
            <a:ext cx="4657725" cy="34702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A4FE1F-3EDA-4436-36CF-081B58072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to ISI Space Antenna Manual</a:t>
            </a:r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62CC7BD9-B886-7438-C5AD-34BCB85CE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5" y="1284288"/>
            <a:ext cx="3879850" cy="3844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3F1C8F-B02C-297D-887C-E6BBAC595C5D}"/>
              </a:ext>
            </a:extLst>
          </p:cNvPr>
          <p:cNvSpPr txBox="1"/>
          <p:nvPr/>
        </p:nvSpPr>
        <p:spPr>
          <a:xfrm>
            <a:off x="4406900" y="4813300"/>
            <a:ext cx="34036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Total dB Gain vs Phi @ Theta = 90</a:t>
            </a:r>
          </a:p>
          <a:p>
            <a:r>
              <a:rPr lang="en-US"/>
              <a:t>@ 401 MHz with 3U CubeSat Underneath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8192E-1837-39BE-F03C-C7E309AB499F}"/>
              </a:ext>
            </a:extLst>
          </p:cNvPr>
          <p:cNvSpPr txBox="1"/>
          <p:nvPr/>
        </p:nvSpPr>
        <p:spPr>
          <a:xfrm>
            <a:off x="8318500" y="4826000"/>
            <a:ext cx="34036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Total dB Gain vs Phi @ Theta = 0 </a:t>
            </a:r>
            <a:r>
              <a:rPr lang="en-US"/>
              <a:t>(solid red line) for a UHF </a:t>
            </a:r>
            <a:r>
              <a:rPr lang="en-US" dirty="0"/>
              <a:t>Antenna with 2U CubeSat Underneath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8F5ED8-2912-15C2-4D4D-4C333E884428}"/>
              </a:ext>
            </a:extLst>
          </p:cNvPr>
          <p:cNvSpPr txBox="1"/>
          <p:nvPr/>
        </p:nvSpPr>
        <p:spPr>
          <a:xfrm>
            <a:off x="698500" y="1689100"/>
            <a:ext cx="32131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Similar pattern </a:t>
            </a:r>
            <a:r>
              <a:rPr lang="en-US"/>
              <a:t>asymmetry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Different coordinate axis definitions, but null observed in both patterns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530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1600-36A3-DC00-5BC3-74198069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9DEC7-E0C8-90A1-96AD-48B76A20E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Model reflected power into antenna feeds inside TVAC chamber</a:t>
            </a:r>
          </a:p>
          <a:p>
            <a:r>
              <a:rPr lang="en-US"/>
              <a:t>Minimize reflected power using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910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ISI Space Antenna Results</vt:lpstr>
      <vt:lpstr>Quadrupole Turnstile Antenna</vt:lpstr>
      <vt:lpstr>3D Gain Patterns</vt:lpstr>
      <vt:lpstr>2D RHCP Gain Cuts @401 MHz</vt:lpstr>
      <vt:lpstr>2D LHCP Gain Cuts @401 MHz</vt:lpstr>
      <vt:lpstr>Off Axis RHCP Radiation Properties</vt:lpstr>
      <vt:lpstr>Axial Ratio @401 MHz</vt:lpstr>
      <vt:lpstr>Dipole Turnstile Antenna</vt:lpstr>
      <vt:lpstr>3D Gain Pattern</vt:lpstr>
      <vt:lpstr>2D Radiation Pattern</vt:lpstr>
      <vt:lpstr>Comparison to ISI Space Antenna Manual</vt:lpstr>
      <vt:lpstr>Comparison to ISI Space Antenna Manual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241</cp:revision>
  <dcterms:created xsi:type="dcterms:W3CDTF">2026-04-13T20:12:25Z</dcterms:created>
  <dcterms:modified xsi:type="dcterms:W3CDTF">2026-04-13T22:00:54Z</dcterms:modified>
</cp:coreProperties>
</file>