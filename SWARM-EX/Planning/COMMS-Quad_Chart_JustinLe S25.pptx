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1.xml" ContentType="application/xml"/>
  <Override PartName="/customXml/itemProps1.xml" ContentType="application/vnd.openxmlformats-officedocument.customXmlProperties+xml"/>
  <Override PartName="/customXml/item2.xml" ContentType="application/xml"/>
  <Override PartName="/customXml/_rels/item3.xml.rels" ContentType="application/vnd.openxmlformats-package.relationships+xml"/>
  <Override PartName="/customXml/_rels/item2.xml.rels" ContentType="application/vnd.openxmlformats-package.relationships+xml"/>
  <Override PartName="/customXml/_rels/item1.xml.rels" ContentType="application/vnd.openxmlformats-package.relationships+xml"/>
  <Override PartName="/customXml/itemProps2.xml" ContentType="application/vnd.openxmlformats-officedocument.customXmlProperties+xml"/>
  <Override PartName="/customXml/item3.xml" ContentType="application/xml"/>
  <Override PartName="/customXml/itemProps3.xml" ContentType="application/vnd.openxmlformats-officedocument.customXml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6AC63BDB-8897-44C1-B00C-2A9DD42156EC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Notes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Accomplishments:  These should be high level and focus on what you accomplished in the past week.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Plans for the Week: Focus on the tasks you will be working on this week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Issue Impeding Progress: 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628560" indent="-17136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List any items that are blocking your tasks. 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628560" indent="-17136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Specifically focus on what you need from others.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628560" indent="-17136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You don’t need to list items such as other classes where others cannot help resolve the issue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Upcoming deliverables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628560" indent="-17136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In this section you should provide a longer term (4 week) forward looking view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628560" indent="-17136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What are the key items on your schedule that need to be completed in the next month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Color Code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628560" indent="-17136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Green – overall on track and deliverables on track for upcoming deliverables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628560" indent="-17136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Yellow – Concerns about current status and about the ability to deliver current deliverable on time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628560" indent="-17136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Red – “I need help”  things are falling apart and deliverables have missed the planned deadline.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Google Shape;6;p1"/>
          <p:cNvSpPr/>
          <p:nvPr/>
        </p:nvSpPr>
        <p:spPr>
          <a:xfrm>
            <a:off x="4588560" y="2575800"/>
            <a:ext cx="4570560" cy="278280"/>
          </a:xfrm>
          <a:prstGeom prst="rect">
            <a:avLst/>
          </a:prstGeom>
          <a:gradFill rotWithShape="0">
            <a:gsLst>
              <a:gs pos="0">
                <a:srgbClr val="f2f2f2"/>
              </a:gs>
              <a:gs pos="67000">
                <a:srgbClr val="f2f2f2"/>
              </a:gs>
              <a:gs pos="100000">
                <a:srgbClr val="d8d8d8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Deliverables Tracking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Google Shape;7;p1"/>
          <p:cNvSpPr/>
          <p:nvPr/>
        </p:nvSpPr>
        <p:spPr>
          <a:xfrm>
            <a:off x="0" y="2566080"/>
            <a:ext cx="4570560" cy="278280"/>
          </a:xfrm>
          <a:prstGeom prst="rect">
            <a:avLst/>
          </a:prstGeom>
          <a:gradFill rotWithShape="0">
            <a:gsLst>
              <a:gs pos="0">
                <a:srgbClr val="f2f2f2"/>
              </a:gs>
              <a:gs pos="67000">
                <a:srgbClr val="f2f2f2"/>
              </a:gs>
              <a:gs pos="100000">
                <a:srgbClr val="d8d8d8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Plan for the Week</a:t>
            </a:r>
            <a:r>
              <a:rPr b="1" lang="en" sz="1400" spc="-1" strike="noStrike">
                <a:solidFill>
                  <a:srgbClr val="000000"/>
                </a:solidFill>
                <a:latin typeface="Arial"/>
                <a:ea typeface="Calibri"/>
              </a:rPr>
              <a:t>	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" name="Google Shape;8;p1"/>
          <p:cNvCxnSpPr/>
          <p:nvPr/>
        </p:nvCxnSpPr>
        <p:spPr>
          <a:xfrm>
            <a:off x="0" y="2565720"/>
            <a:ext cx="9145440" cy="1440"/>
          </a:xfrm>
          <a:prstGeom prst="straightConnector1">
            <a:avLst/>
          </a:prstGeom>
          <a:ln w="28575">
            <a:solidFill>
              <a:srgbClr val="7f7f7f"/>
            </a:solidFill>
            <a:round/>
          </a:ln>
        </p:spPr>
      </p:cxnSp>
      <p:sp>
        <p:nvSpPr>
          <p:cNvPr id="3" name="Google Shape;9;p1"/>
          <p:cNvSpPr/>
          <p:nvPr/>
        </p:nvSpPr>
        <p:spPr>
          <a:xfrm>
            <a:off x="4572000" y="561960"/>
            <a:ext cx="4570560" cy="278280"/>
          </a:xfrm>
          <a:prstGeom prst="rect">
            <a:avLst/>
          </a:prstGeom>
          <a:gradFill rotWithShape="0">
            <a:gsLst>
              <a:gs pos="0">
                <a:srgbClr val="f2f2f2"/>
              </a:gs>
              <a:gs pos="67000">
                <a:srgbClr val="f2f2f2"/>
              </a:gs>
              <a:gs pos="100000">
                <a:srgbClr val="d8d8d8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Issues Impeding Progress</a:t>
            </a:r>
            <a:r>
              <a:rPr b="1" lang="en" sz="1400" spc="-1" strike="noStrike">
                <a:solidFill>
                  <a:srgbClr val="000000"/>
                </a:solidFill>
                <a:latin typeface="Calibri"/>
                <a:ea typeface="Calibri"/>
              </a:rPr>
              <a:t>	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Google Shape;10;p1"/>
          <p:cNvSpPr/>
          <p:nvPr/>
        </p:nvSpPr>
        <p:spPr>
          <a:xfrm>
            <a:off x="0" y="561960"/>
            <a:ext cx="4570560" cy="278280"/>
          </a:xfrm>
          <a:prstGeom prst="rect">
            <a:avLst/>
          </a:prstGeom>
          <a:gradFill rotWithShape="0">
            <a:gsLst>
              <a:gs pos="0">
                <a:srgbClr val="f2f2f2"/>
              </a:gs>
              <a:gs pos="67000">
                <a:srgbClr val="f2f2f2"/>
              </a:gs>
              <a:gs pos="100000">
                <a:srgbClr val="d8d8d8"/>
              </a:gs>
            </a:gsLst>
            <a:lin ang="5400000"/>
          </a:gradFill>
          <a:ln w="9525">
            <a:solidFill>
              <a:srgbClr val="eeee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Accomplishments</a:t>
            </a:r>
            <a:r>
              <a:rPr b="1" lang="en" sz="1400" spc="-1" strike="noStrike">
                <a:solidFill>
                  <a:srgbClr val="000000"/>
                </a:solidFill>
                <a:latin typeface="Calibri"/>
                <a:ea typeface="Calibri"/>
              </a:rPr>
              <a:t>	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5" name="Google Shape;11;p1"/>
          <p:cNvCxnSpPr/>
          <p:nvPr/>
        </p:nvCxnSpPr>
        <p:spPr>
          <a:xfrm flipV="1">
            <a:off x="4572000" y="561600"/>
            <a:ext cx="10800" cy="4066560"/>
          </a:xfrm>
          <a:prstGeom prst="straightConnector1">
            <a:avLst/>
          </a:prstGeom>
          <a:ln w="28575">
            <a:solidFill>
              <a:srgbClr val="7f7f7f"/>
            </a:solidFill>
            <a:round/>
          </a:ln>
        </p:spPr>
      </p:cxnSp>
      <p:sp>
        <p:nvSpPr>
          <p:cNvPr id="6" name="Google Shape;12;p1"/>
          <p:cNvSpPr/>
          <p:nvPr/>
        </p:nvSpPr>
        <p:spPr>
          <a:xfrm>
            <a:off x="8027280" y="4749120"/>
            <a:ext cx="1203120" cy="33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" sz="1200" spc="-1" strike="noStrike">
                <a:solidFill>
                  <a:srgbClr val="000000"/>
                </a:solidFill>
                <a:latin typeface="Arial"/>
                <a:ea typeface="Arial"/>
              </a:rPr>
              <a:t>Spring 2025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Google Shape;12;p1"/>
          <p:cNvSpPr/>
          <p:nvPr/>
        </p:nvSpPr>
        <p:spPr>
          <a:xfrm>
            <a:off x="3893400" y="4749120"/>
            <a:ext cx="2531520" cy="33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200" spc="-1" strike="noStrike">
                <a:solidFill>
                  <a:srgbClr val="000000"/>
                </a:solidFill>
                <a:latin typeface="Arial"/>
                <a:ea typeface="Arial"/>
              </a:rPr>
              <a:t>Graduate Projects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" name="Google Shape;26;p2" descr=""/>
          <p:cNvPicPr/>
          <p:nvPr/>
        </p:nvPicPr>
        <p:blipFill>
          <a:blip r:embed="rId2"/>
          <a:stretch/>
        </p:blipFill>
        <p:spPr>
          <a:xfrm>
            <a:off x="-11880" y="4593600"/>
            <a:ext cx="2139840" cy="466560"/>
          </a:xfrm>
          <a:prstGeom prst="rect">
            <a:avLst/>
          </a:prstGeom>
          <a:ln w="0">
            <a:noFill/>
          </a:ln>
        </p:spPr>
      </p:pic>
      <p:sp>
        <p:nvSpPr>
          <p:cNvPr id="9" name="Google Shape;29;p2"/>
          <p:cNvSpPr/>
          <p:nvPr/>
        </p:nvSpPr>
        <p:spPr>
          <a:xfrm>
            <a:off x="8638560" y="52200"/>
            <a:ext cx="447840" cy="444240"/>
          </a:xfrm>
          <a:prstGeom prst="ellipse">
            <a:avLst/>
          </a:prstGeom>
          <a:solidFill>
            <a:srgbClr val="70ad47"/>
          </a:solidFill>
          <a:ln w="9525">
            <a:solidFill>
              <a:srgbClr val="44546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cxnSp>
        <p:nvCxnSpPr>
          <p:cNvPr id="10" name="Google Shape;30;p2"/>
          <p:cNvCxnSpPr/>
          <p:nvPr/>
        </p:nvCxnSpPr>
        <p:spPr>
          <a:xfrm flipH="1">
            <a:off x="7560" y="4623840"/>
            <a:ext cx="4565880" cy="1440"/>
          </a:xfrm>
          <a:prstGeom prst="straightConnector1">
            <a:avLst/>
          </a:prstGeom>
          <a:ln w="9525">
            <a:solidFill>
              <a:srgbClr val="595959"/>
            </a:solidFill>
            <a:round/>
          </a:ln>
        </p:spPr>
      </p:cxnSp>
      <p:cxnSp>
        <p:nvCxnSpPr>
          <p:cNvPr id="11" name="Google Shape;31;p2"/>
          <p:cNvCxnSpPr/>
          <p:nvPr/>
        </p:nvCxnSpPr>
        <p:spPr>
          <a:xfrm flipH="1">
            <a:off x="4575600" y="4623840"/>
            <a:ext cx="4565880" cy="1440"/>
          </a:xfrm>
          <a:prstGeom prst="straightConnector1">
            <a:avLst/>
          </a:prstGeom>
          <a:ln w="9525">
            <a:solidFill>
              <a:srgbClr val="595959"/>
            </a:solidFill>
            <a:round/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/>
          </p:nvPr>
        </p:nvSpPr>
        <p:spPr>
          <a:xfrm>
            <a:off x="-11880" y="864000"/>
            <a:ext cx="4570560" cy="170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285840" indent="0">
              <a:lnSpc>
                <a:spcPct val="100000"/>
              </a:lnSpc>
              <a:buNone/>
            </a:pPr>
            <a:r>
              <a:rPr b="0" lang="en" sz="900" spc="-1" strike="noStrike">
                <a:solidFill>
                  <a:srgbClr val="000000"/>
                </a:solidFill>
                <a:latin typeface="Arial"/>
                <a:ea typeface="Arial"/>
              </a:rPr>
              <a:t>Met with Drhuva, learned more about the packet structure of the Lithium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" sz="900" spc="-1" strike="noStrike">
                <a:solidFill>
                  <a:srgbClr val="000000"/>
                </a:solidFill>
                <a:latin typeface="Arial"/>
                <a:ea typeface="Arial"/>
              </a:rPr>
              <a:t>Learned more about the state of the radio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" sz="900" spc="-1" strike="noStrike">
                <a:solidFill>
                  <a:srgbClr val="000000"/>
                </a:solidFill>
                <a:latin typeface="Arial"/>
                <a:ea typeface="Arial"/>
              </a:rPr>
              <a:t>Need to check the AX 25 framing on CDH packet 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Calibri,Sans-Serif"/>
              <a:buChar char="-"/>
            </a:pPr>
            <a:r>
              <a:rPr b="0" lang="en" sz="900" spc="-1" strike="noStrike">
                <a:solidFill>
                  <a:srgbClr val="000000"/>
                </a:solidFill>
                <a:latin typeface="Arial"/>
                <a:ea typeface="Arial"/>
              </a:rPr>
              <a:t>Attempted MCT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" sz="900" spc="-1" strike="noStrike">
                <a:solidFill>
                  <a:srgbClr val="000000"/>
                </a:solidFill>
                <a:latin typeface="Arial"/>
                <a:ea typeface="Arial"/>
              </a:rPr>
              <a:t>Using the manual and a multimeter found the pins we are concerned about 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" sz="900" spc="-1" strike="noStrike">
                <a:solidFill>
                  <a:srgbClr val="000000"/>
                </a:solidFill>
                <a:latin typeface="Arial"/>
                <a:ea typeface="Arial"/>
              </a:rPr>
              <a:t>More hydra development is needed, commands are missing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0" y="864000"/>
            <a:ext cx="4570560" cy="170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●"/>
            </a:pPr>
            <a:r>
              <a:rPr b="0" lang="en" sz="1400" spc="-1" strike="noStrike">
                <a:solidFill>
                  <a:srgbClr val="000000"/>
                </a:solidFill>
                <a:latin typeface="Arial"/>
                <a:ea typeface="Arial"/>
              </a:rPr>
              <a:t>Palo assessing machines in the lab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0">
              <a:lnSpc>
                <a:spcPct val="100000"/>
              </a:lnSpc>
              <a:buNone/>
            </a:pPr>
            <a:r>
              <a:rPr b="0" lang="en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572000" y="2845800"/>
            <a:ext cx="4570560" cy="170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spcBef>
                <a:spcPts val="972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-4320" y="2845800"/>
            <a:ext cx="4570560" cy="184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Calibri,Sans-Serif"/>
              <a:buChar char="-"/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"/>
              </a:rPr>
              <a:t>Meet with Saanika, learn about Hydra and what we need for our COMMs testing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Calibri,Sans-Serif"/>
              <a:buChar char="-"/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"/>
              </a:rPr>
              <a:t>Following road map of test: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"/>
              </a:rPr>
              <a:t>Hydra -&gt; Li2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"/>
              </a:rPr>
              <a:t>Hydra →CDH→Li2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title"/>
          </p:nvPr>
        </p:nvSpPr>
        <p:spPr>
          <a:xfrm>
            <a:off x="6306120" y="-11880"/>
            <a:ext cx="2265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Arial"/>
                <a:ea typeface="Arial"/>
              </a:rPr>
              <a:t>Justin Le 9/18/2026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3" name="Table 3"/>
          <p:cNvGraphicFramePr/>
          <p:nvPr/>
        </p:nvGraphicFramePr>
        <p:xfrm>
          <a:off x="4604400" y="2577600"/>
          <a:ext cx="4538160" cy="2039760"/>
        </p:xfrm>
        <a:graphic>
          <a:graphicData uri="http://schemas.openxmlformats.org/drawingml/2006/table">
            <a:tbl>
              <a:tblPr/>
              <a:tblGrid>
                <a:gridCol w="1886760"/>
                <a:gridCol w="887400"/>
                <a:gridCol w="847080"/>
                <a:gridCol w="917280"/>
              </a:tblGrid>
              <a:tr h="445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Upcoming Deliverables​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Planned​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Revised​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Remaining​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4230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" sz="1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 run MCT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9/21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10/5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8hrs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</a:tr>
              <a:tr h="364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Re run SCT 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9/30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10/20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30hrs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</a:tr>
              <a:tr h="391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Ground Station PC test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9/23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10/23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26hrs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</a:tr>
              <a:tr h="415440">
                <a:tc>
                  <a:txBody>
                    <a:bodyPr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</a:tr>
            </a:tbl>
          </a:graphicData>
        </a:graphic>
      </p:graphicFrame>
      <p:sp>
        <p:nvSpPr>
          <p:cNvPr id="24" name="Google Shape;51;p4"/>
          <p:cNvSpPr/>
          <p:nvPr/>
        </p:nvSpPr>
        <p:spPr>
          <a:xfrm>
            <a:off x="0" y="11880"/>
            <a:ext cx="2653560" cy="57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</a:pPr>
            <a:r>
              <a:rPr b="0" lang="en-US" sz="2300" spc="-1" strike="noStrike">
                <a:solidFill>
                  <a:srgbClr val="000000"/>
                </a:solidFill>
                <a:latin typeface="Arial"/>
                <a:ea typeface="Arial"/>
              </a:rPr>
              <a:t>COMMs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3378106403FF4F9FEFFD8DB19B1327" ma:contentTypeVersion="14" ma:contentTypeDescription="Create a new document." ma:contentTypeScope="" ma:versionID="480730001f801aca38e5123422cc6ec3">
  <xsd:schema xmlns:xsd="http://www.w3.org/2001/XMLSchema" xmlns:xs="http://www.w3.org/2001/XMLSchema" xmlns:p="http://schemas.microsoft.com/office/2006/metadata/properties" xmlns:ns2="c780a065-0b04-4112-95af-a97bb2421eb1" xmlns:ns3="401457dc-c9f2-44f5-9435-e99f1bfdd774" targetNamespace="http://schemas.microsoft.com/office/2006/metadata/properties" ma:root="true" ma:fieldsID="babbaaf8a2e415dc01b2dad9fedea8bc" ns2:_="" ns3:_="">
    <xsd:import namespace="c780a065-0b04-4112-95af-a97bb2421eb1"/>
    <xsd:import namespace="401457dc-c9f2-44f5-9435-e99f1bfdd774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780a065-0b04-4112-95af-a97bb2421eb1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c24a34a3-7b04-4da0-866a-d3e336a7dfab}" ma:internalName="TaxCatchAll" ma:showField="CatchAllData" ma:web="c780a065-0b04-4112-95af-a97bb2421eb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1457dc-c9f2-44f5-9435-e99f1bfdd77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description="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52802cc5-2881-4dd7-9d75-38905e9cf7f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c780a065-0b04-4112-95af-a97bb2421eb1" xsi:nil="true"/>
    <lcf76f155ced4ddcb4097134ff3c332f xmlns="401457dc-c9f2-44f5-9435-e99f1bfdd774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D81A9056-462F-4995-AA25-B9A4ACB4873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780a065-0b04-4112-95af-a97bb2421eb1"/>
    <ds:schemaRef ds:uri="401457dc-c9f2-44f5-9435-e99f1bfdd77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C5BD26B-5702-46DE-A81F-CE1B9C368B3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C8DACF8-5979-4DD0-BB72-22EA4D021032}">
  <ds:schemaRefs>
    <ds:schemaRef ds:uri="http://schemas.microsoft.com/office/2006/metadata/properties"/>
    <ds:schemaRef ds:uri="http://schemas.microsoft.com/office/infopath/2007/PartnerControls"/>
    <ds:schemaRef ds:uri="c780a065-0b04-4112-95af-a97bb2421eb1"/>
    <ds:schemaRef ds:uri="401457dc-c9f2-44f5-9435-e99f1bfdd774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</TotalTime>
  <Application>LibreOffice/24.2.7.2$Linux_X86_64 LibreOffice_project/420$Build-2</Application>
  <AppVersion>15.0000</AppVersion>
  <Words>180</Words>
  <Paragraphs>35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Scott Palo</dc:creator>
  <dc:description/>
  <dc:language>en-US</dc:language>
  <cp:lastModifiedBy/>
  <cp:lastPrinted>2026-09-18T18:50:10Z</cp:lastPrinted>
  <dcterms:modified xsi:type="dcterms:W3CDTF">2026-09-25T17:32:09Z</dcterms:modified>
  <cp:revision>742</cp:revision>
  <dc:subject/>
  <dc:title>PM: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0x010100023378106403FF4F9FEFFD8DB19B1327</vt:lpwstr>
  </property>
  <property fmtid="{D5CDD505-2E9C-101B-9397-08002B2CF9AE}" pid="3" name="MediaServiceImageTags">
    <vt:lpwstr/>
  </property>
  <property fmtid="{D5CDD505-2E9C-101B-9397-08002B2CF9AE}" pid="4" name="Notes">
    <vt:i4>1</vt:i4>
  </property>
  <property fmtid="{D5CDD505-2E9C-101B-9397-08002B2CF9AE}" pid="5" name="Order">
    <vt:r8>5300</vt:r8>
  </property>
  <property fmtid="{D5CDD505-2E9C-101B-9397-08002B2CF9AE}" pid="6" name="PresentationFormat">
    <vt:lpwstr>On-screen Show (16:9)</vt:lpwstr>
  </property>
  <property fmtid="{D5CDD505-2E9C-101B-9397-08002B2CF9AE}" pid="7" name="Slides">
    <vt:i4>1</vt:i4>
  </property>
</Properties>
</file>