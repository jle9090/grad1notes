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  <a:endParaRPr lang="en-US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5900" indent="-2159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  <a:endParaRPr lang="en-US" sz="2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6AC63BDB-8897-44C1-B00C-2A9DD42156EC}" type="slidenum">
              <a:rPr lang="en-US" sz="1400" b="0" strike="noStrike" spc="-1">
                <a:solidFill>
                  <a:srgbClr val="000000"/>
                </a:solidFill>
                <a:latin typeface="Times New Roman" panose="02020603050405020304"/>
              </a:rPr>
            </a:fld>
            <a:endParaRPr lang="en-US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2159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Notes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Accomplishments:  These should be high level and focus on what you accomplished in the past week.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Plans for the Week: Focus on the tasks you will be working on this week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Issue Impeding Progress:  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List any items that are blocking your tasks.  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Specifically focus on what you need from others.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You don’t need to list items such as other classes where others cannot help resolve the issue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1450" indent="-171450">
              <a:lnSpc>
                <a:spcPct val="100000"/>
              </a:lnSpc>
              <a:buClr>
                <a:srgbClr val="000000"/>
              </a:buClr>
              <a:buFont typeface="Wingdings" panose="05000000000000000000" pitchFamily="2" charset="2"/>
              <a:buChar char="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Upcoming deliverables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In this section you should provide a longer term (4 week) forward looking view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What are the key items on your schedule that need to be completed in the next month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Color Code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Green – overall on track and deliverables on track for upcoming deliverables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Yellow – Concerns about current status and about the ability to deliver current deliverable on time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628650" lvl="1" indent="-171450">
              <a:lnSpc>
                <a:spcPct val="100000"/>
              </a:lnSpc>
              <a:buClr>
                <a:srgbClr val="000000"/>
              </a:buClr>
              <a:buFont typeface="Wingdings 2" charset="2"/>
              <a:buChar char=""/>
              <a:tabLst>
                <a:tab pos="0" algn="l"/>
              </a:tabLst>
            </a:pPr>
            <a:r>
              <a:rPr lang="en-US" sz="1100" b="0" strike="noStrike" spc="-1">
                <a:solidFill>
                  <a:srgbClr val="000000"/>
                </a:solidFill>
                <a:latin typeface="Arial" panose="020B0604020202020204"/>
              </a:rPr>
              <a:t>Red – “I need help”  things are falling apart and deliverables have missed the planned deadline.</a:t>
            </a: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1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1"/>
          <p:cNvSpPr/>
          <p:nvPr/>
        </p:nvSpPr>
        <p:spPr>
          <a:xfrm>
            <a:off x="4588560" y="2575800"/>
            <a:ext cx="4570560" cy="278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5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Deliverables Tracking</a:t>
            </a:r>
            <a:endParaRPr lang="en-US" sz="15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" name="Google Shape;7;p1"/>
          <p:cNvSpPr/>
          <p:nvPr/>
        </p:nvSpPr>
        <p:spPr>
          <a:xfrm>
            <a:off x="0" y="2566080"/>
            <a:ext cx="4570560" cy="278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5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Plan for the Week</a:t>
            </a:r>
            <a:r>
              <a:rPr lang="en-GB" sz="1400" b="1" strike="noStrike" spc="-1">
                <a:solidFill>
                  <a:srgbClr val="000000"/>
                </a:solidFill>
                <a:latin typeface="Arial" panose="020B0604020202020204"/>
                <a:ea typeface="Calibri"/>
              </a:rPr>
              <a:t>	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3" name="Google Shape;8;p1"/>
          <p:cNvCxnSpPr/>
          <p:nvPr/>
        </p:nvCxnSpPr>
        <p:spPr>
          <a:xfrm>
            <a:off x="0" y="2565720"/>
            <a:ext cx="9145440" cy="1440"/>
          </a:xfrm>
          <a:prstGeom prst="straightConnector1">
            <a:avLst/>
          </a:prstGeom>
          <a:ln w="28575">
            <a:solidFill>
              <a:srgbClr val="7F7F7F"/>
            </a:solidFill>
            <a:round/>
          </a:ln>
        </p:spPr>
      </p:cxnSp>
      <p:sp>
        <p:nvSpPr>
          <p:cNvPr id="4" name="Google Shape;9;p1"/>
          <p:cNvSpPr/>
          <p:nvPr/>
        </p:nvSpPr>
        <p:spPr>
          <a:xfrm>
            <a:off x="4572000" y="561960"/>
            <a:ext cx="4570560" cy="278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5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Issues Impeding Progress</a:t>
            </a:r>
            <a:r>
              <a:rPr lang="en-GB" sz="1400" b="1" strike="noStrike" spc="-1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Google Shape;10;p1"/>
          <p:cNvSpPr/>
          <p:nvPr/>
        </p:nvSpPr>
        <p:spPr>
          <a:xfrm>
            <a:off x="0" y="561960"/>
            <a:ext cx="4570560" cy="278280"/>
          </a:xfrm>
          <a:prstGeom prst="rect">
            <a:avLst/>
          </a:prstGeom>
          <a:gradFill rotWithShape="0">
            <a:gsLst>
              <a:gs pos="0">
                <a:srgbClr val="F2F2F2"/>
              </a:gs>
              <a:gs pos="67000">
                <a:srgbClr val="F2F2F2"/>
              </a:gs>
              <a:gs pos="100000">
                <a:srgbClr val="D8D8D8"/>
              </a:gs>
            </a:gsLst>
            <a:lin ang="5400000"/>
          </a:gradFill>
          <a:ln w="9525">
            <a:solidFill>
              <a:srgbClr val="EEEEEE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68400" tIns="34200" rIns="68400" bIns="3420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500" b="1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Accomplishments</a:t>
            </a:r>
            <a:r>
              <a:rPr lang="en-GB" sz="1400" b="1" strike="noStrike" spc="-1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6" name="Google Shape;11;p1"/>
          <p:cNvCxnSpPr/>
          <p:nvPr/>
        </p:nvCxnSpPr>
        <p:spPr>
          <a:xfrm flipV="1">
            <a:off x="4572000" y="561600"/>
            <a:ext cx="10800" cy="4066560"/>
          </a:xfrm>
          <a:prstGeom prst="straightConnector1">
            <a:avLst/>
          </a:prstGeom>
          <a:ln w="28575">
            <a:solidFill>
              <a:srgbClr val="7F7F7F"/>
            </a:solidFill>
            <a:round/>
          </a:ln>
        </p:spPr>
      </p:cxnSp>
      <p:sp>
        <p:nvSpPr>
          <p:cNvPr id="7" name="Google Shape;12;p1"/>
          <p:cNvSpPr/>
          <p:nvPr/>
        </p:nvSpPr>
        <p:spPr>
          <a:xfrm>
            <a:off x="8027280" y="4749120"/>
            <a:ext cx="1203120" cy="33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Spring 2025</a:t>
            </a:r>
            <a:endParaRPr lang="en-US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Google Shape;12;p1"/>
          <p:cNvSpPr/>
          <p:nvPr/>
        </p:nvSpPr>
        <p:spPr>
          <a:xfrm>
            <a:off x="3893400" y="4749120"/>
            <a:ext cx="2531520" cy="33588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GB" sz="12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Graduate Projects</a:t>
            </a:r>
            <a:endParaRPr lang="en-US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9" name="Google Shape;26;p2"/>
          <p:cNvPicPr/>
          <p:nvPr/>
        </p:nvPicPr>
        <p:blipFill>
          <a:blip r:embed="rId2"/>
          <a:stretch>
            <a:fillRect/>
          </a:stretch>
        </p:blipFill>
        <p:spPr>
          <a:xfrm>
            <a:off x="-11880" y="4593600"/>
            <a:ext cx="2139840" cy="466560"/>
          </a:xfrm>
          <a:prstGeom prst="rect">
            <a:avLst/>
          </a:prstGeom>
          <a:ln w="0">
            <a:noFill/>
          </a:ln>
        </p:spPr>
      </p:pic>
      <p:sp>
        <p:nvSpPr>
          <p:cNvPr id="10" name="Google Shape;29;p2"/>
          <p:cNvSpPr/>
          <p:nvPr/>
        </p:nvSpPr>
        <p:spPr>
          <a:xfrm>
            <a:off x="8638560" y="52200"/>
            <a:ext cx="447840" cy="444240"/>
          </a:xfrm>
          <a:prstGeom prst="ellipse">
            <a:avLst/>
          </a:prstGeom>
          <a:solidFill>
            <a:srgbClr val="70AD47"/>
          </a:solidFill>
          <a:ln w="9525">
            <a:solidFill>
              <a:srgbClr val="44546A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ctr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cxnSp>
        <p:nvCxnSpPr>
          <p:cNvPr id="11" name="Google Shape;30;p2"/>
          <p:cNvCxnSpPr/>
          <p:nvPr/>
        </p:nvCxnSpPr>
        <p:spPr>
          <a:xfrm flipH="1">
            <a:off x="7560" y="4623840"/>
            <a:ext cx="4565880" cy="144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  <p:cxnSp>
        <p:nvCxnSpPr>
          <p:cNvPr id="12" name="Google Shape;31;p2"/>
          <p:cNvCxnSpPr/>
          <p:nvPr/>
        </p:nvCxnSpPr>
        <p:spPr>
          <a:xfrm flipH="1">
            <a:off x="4575600" y="4623840"/>
            <a:ext cx="4565880" cy="1440"/>
          </a:xfrm>
          <a:prstGeom prst="straightConnector1">
            <a:avLst/>
          </a:prstGeom>
          <a:ln w="9525">
            <a:solidFill>
              <a:srgbClr val="595959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/>
          </p:nvPr>
        </p:nvSpPr>
        <p:spPr>
          <a:xfrm>
            <a:off x="-11880" y="864000"/>
            <a:ext cx="4570560" cy="170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5715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Midsemester report</a:t>
            </a:r>
            <a:endParaRPr lang="en-US" altLang="en-GB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pPr marL="5715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Read through SCT1 procedures</a:t>
            </a:r>
            <a:endParaRPr lang="en-US" altLang="en-GB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pPr marL="5715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Updated GNU on personal computer from MAXWELL</a:t>
            </a:r>
            <a:endParaRPr lang="en-US" altLang="en-GB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pPr marL="5715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Practice runs of SCT1</a:t>
            </a:r>
            <a:endParaRPr lang="en-US" altLang="en-GB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  <a:p>
            <a:pPr marL="102870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3 commands are missing compared to procedure</a:t>
            </a:r>
            <a:endParaRPr lang="en-US" altLang="en-GB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0" y="864000"/>
            <a:ext cx="4570560" cy="170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7429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3 SCT commands are missing on Hydra end</a:t>
            </a:r>
            <a:endParaRPr lang="en-US" altLang="en-GB" sz="1400" b="0" strike="noStrike" spc="-1">
              <a:solidFill>
                <a:srgbClr val="00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572000" y="2845800"/>
            <a:ext cx="4570560" cy="1700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spcBef>
                <a:spcPts val="970"/>
              </a:spcBef>
              <a:buNone/>
            </a:pPr>
            <a:endParaRPr lang="en-US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-4320" y="2845800"/>
            <a:ext cx="4570560" cy="184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175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SCT 2 procedure write ups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3175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Poking around GNU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914400" lvl="1" indent="-3175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what needs to be modified for swarm ex?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457200" indent="-317500">
              <a:lnSpc>
                <a:spcPct val="100000"/>
              </a:lnSpc>
              <a:buClr>
                <a:srgbClr val="000000"/>
              </a:buClr>
              <a:buFont typeface="Calibri,Sans-Serif"/>
              <a:buChar char="-"/>
            </a:pPr>
            <a:r>
              <a:rPr lang="en-US" sz="1400" b="0" strike="noStrike" spc="-1">
                <a:solidFill>
                  <a:srgbClr val="000000"/>
                </a:solidFill>
                <a:latin typeface="Arial" panose="020B0604020202020204"/>
              </a:rPr>
              <a:t>SCT 1 full run through when the three commands are developed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title"/>
          </p:nvPr>
        </p:nvSpPr>
        <p:spPr>
          <a:xfrm>
            <a:off x="6306120" y="-11880"/>
            <a:ext cx="2265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Justin Le </a:t>
            </a: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10</a:t>
            </a:r>
            <a:r>
              <a:rPr 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/</a:t>
            </a:r>
            <a:r>
              <a:rPr lang="en-US" alt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5</a:t>
            </a:r>
            <a:r>
              <a:rPr lang="en-GB" sz="14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/2026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graphicFrame>
        <p:nvGraphicFramePr>
          <p:cNvPr id="23" name="Table 3"/>
          <p:cNvGraphicFramePr/>
          <p:nvPr/>
        </p:nvGraphicFramePr>
        <p:xfrm>
          <a:off x="4604400" y="2577600"/>
          <a:ext cx="4538520" cy="2040120"/>
        </p:xfrm>
        <a:graphic>
          <a:graphicData uri="http://schemas.openxmlformats.org/drawingml/2006/table">
            <a:tbl>
              <a:tblPr/>
              <a:tblGrid>
                <a:gridCol w="1886760"/>
                <a:gridCol w="887400"/>
                <a:gridCol w="847080"/>
                <a:gridCol w="917280"/>
              </a:tblGrid>
              <a:tr h="4453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Upcoming Deliverables​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Planned​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Revised​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strike="noStrike" spc="-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Remaining​</a:t>
                      </a:r>
                      <a:endParaRPr lang="en-US" sz="1100" b="0" strike="noStrike" spc="-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42300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 run MCT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9/21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10/5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0hr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36468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Re run SCT 1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9/30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10/20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20hrs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39168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Ground Station PC test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9/23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10/23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strike="noStrike" spc="-1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22hrs</a:t>
                      </a:r>
                      <a:endParaRPr lang="en-US" sz="10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  <a:tr h="415440"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t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endParaRPr lang="en-US" sz="1800" b="0" strike="noStrike" spc="-1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lnL w="13680">
                      <a:solidFill>
                        <a:srgbClr val="FFFFFF"/>
                      </a:solidFill>
                      <a:prstDash val="solid"/>
                    </a:lnL>
                    <a:lnR w="13680">
                      <a:solidFill>
                        <a:srgbClr val="FFFFFF"/>
                      </a:solidFill>
                      <a:prstDash val="solid"/>
                    </a:lnR>
                    <a:lnT w="13680">
                      <a:solidFill>
                        <a:srgbClr val="FFFFFF"/>
                      </a:solidFill>
                      <a:prstDash val="solid"/>
                    </a:lnT>
                    <a:lnB w="13680">
                      <a:solidFill>
                        <a:srgbClr val="FFFFFF"/>
                      </a:solidFill>
                      <a:prstDash val="solid"/>
                    </a:lnB>
                    <a:solidFill>
                      <a:srgbClr val="93C47D"/>
                    </a:solidFill>
                  </a:tcPr>
                </a:tc>
              </a:tr>
            </a:tbl>
          </a:graphicData>
        </a:graphic>
      </p:graphicFrame>
      <p:sp>
        <p:nvSpPr>
          <p:cNvPr id="24" name="Google Shape;51;p4"/>
          <p:cNvSpPr/>
          <p:nvPr/>
        </p:nvSpPr>
        <p:spPr>
          <a:xfrm>
            <a:off x="0" y="11880"/>
            <a:ext cx="2653560" cy="57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91440" rIns="90000" bIns="91440" anchor="t">
            <a:noAutofit/>
          </a:bodyPr>
          <a:p>
            <a:pPr>
              <a:lnSpc>
                <a:spcPct val="100000"/>
              </a:lnSpc>
            </a:pPr>
            <a:r>
              <a:rPr lang="en-US" sz="2300" b="0" strike="noStrike" spc="-1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COMMs</a:t>
            </a:r>
            <a:endParaRPr lang="en-US" sz="23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WPS Presentation</Application>
  <PresentationFormat/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Trebuchet MS</vt:lpstr>
      <vt:lpstr>Times New Roman</vt:lpstr>
      <vt:lpstr>Calibri,Sans-Serif</vt:lpstr>
      <vt:lpstr>Comfortaa Light</vt:lpstr>
      <vt:lpstr>OpenSymbol</vt:lpstr>
      <vt:lpstr>Wingdings 2</vt:lpstr>
      <vt:lpstr>Microsoft YaHei</vt:lpstr>
      <vt:lpstr>Droid Sans Fallback</vt:lpstr>
      <vt:lpstr>Arial Unicode MS</vt:lpstr>
      <vt:lpstr>Amiri</vt:lpstr>
      <vt:lpstr>Simple Light</vt:lpstr>
      <vt:lpstr>Justin Le 10/5/2026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PM:</dc:title>
  <dc:creator>Scott Palo</dc:creator>
  <cp:lastModifiedBy>justin-le</cp:lastModifiedBy>
  <cp:revision>750</cp:revision>
  <cp:lastPrinted>2026-10-17T02:23:47Z</cp:lastPrinted>
  <dcterms:created xsi:type="dcterms:W3CDTF">2026-10-17T02:23:47Z</dcterms:created>
  <dcterms:modified xsi:type="dcterms:W3CDTF">2026-10-17T02:23:47Z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0x010100023378106403FF4F9FEFFD8DB19B1327</vt:lpwstr>
  </property>
  <property fmtid="{D5CDD505-2E9C-101B-9397-08002B2CF9AE}" pid="3" name="MediaServiceImageTags">
    <vt:lpwstr/>
  </property>
  <property fmtid="{D5CDD505-2E9C-101B-9397-08002B2CF9AE}" pid="4" name="Notes">
    <vt:i4>1</vt:i4>
  </property>
  <property fmtid="{D5CDD505-2E9C-101B-9397-08002B2CF9AE}" pid="5" name="Order">
    <vt:r8>5300</vt:r8>
  </property>
  <property fmtid="{D5CDD505-2E9C-101B-9397-08002B2CF9AE}" pid="6" name="PresentationFormat">
    <vt:lpwstr>On-screen Show (16:9)</vt:lpwstr>
  </property>
  <property fmtid="{D5CDD505-2E9C-101B-9397-08002B2CF9AE}" pid="7" name="Slides">
    <vt:i4>1</vt:i4>
  </property>
  <property fmtid="{D5CDD505-2E9C-101B-9397-08002B2CF9AE}" pid="8" name="ICV">
    <vt:lpwstr/>
  </property>
  <property fmtid="{D5CDD505-2E9C-101B-9397-08002B2CF9AE}" pid="9" name="KSOProductBuildVer">
    <vt:lpwstr>1033-11.1.0.11733</vt:lpwstr>
  </property>
</Properties>
</file>