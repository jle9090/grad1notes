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9.xml"/>
  <Override ContentType="application/vnd.openxmlformats-officedocument.presentationml.slideMaster+xml" PartName="/ppt/slideMasters/slideMaster18.xml"/>
  <Override ContentType="application/vnd.openxmlformats-officedocument.presentationml.slideMaster+xml" PartName="/ppt/slideMasters/slideMaster26.xml"/>
  <Override ContentType="application/vnd.openxmlformats-officedocument.presentationml.slideMaster+xml" PartName="/ppt/slideMasters/slideMaster13.xml"/>
  <Override ContentType="application/vnd.openxmlformats-officedocument.presentationml.slideMaster+xml" PartName="/ppt/slideMasters/slideMaster21.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5.xml"/>
  <Override ContentType="application/vnd.openxmlformats-officedocument.presentationml.slideMaster+xml" PartName="/ppt/slideMasters/slideMaster19.xml"/>
  <Override ContentType="application/vnd.openxmlformats-officedocument.presentationml.slideMaster+xml" PartName="/ppt/slideMasters/slideMaster12.xml"/>
  <Override ContentType="application/vnd.openxmlformats-officedocument.presentationml.slideMaster+xml" PartName="/ppt/slideMasters/slideMaster28.xml"/>
  <Override ContentType="application/vnd.openxmlformats-officedocument.presentationml.slideMaster+xml" PartName="/ppt/slideMasters/slideMaster16.xml"/>
  <Override ContentType="application/vnd.openxmlformats-officedocument.presentationml.slideMaster+xml" PartName="/ppt/slideMasters/slideMaster4.xml"/>
  <Override ContentType="application/vnd.openxmlformats-officedocument.presentationml.slideMaster+xml" PartName="/ppt/slideMasters/slideMaster20.xml"/>
  <Override ContentType="application/vnd.openxmlformats-officedocument.presentationml.slideMaster+xml" PartName="/ppt/slideMasters/slideMaster2.xml"/>
  <Override ContentType="application/vnd.openxmlformats-officedocument.presentationml.slideMaster+xml" PartName="/ppt/slideMasters/slideMaster24.xml"/>
  <Override ContentType="application/vnd.openxmlformats-officedocument.presentationml.slideMaster+xml" PartName="/ppt/slideMasters/slideMaster11.xml"/>
  <Override ContentType="application/vnd.openxmlformats-officedocument.presentationml.slideMaster+xml" PartName="/ppt/slideMasters/slideMaster10.xml"/>
  <Override ContentType="application/vnd.openxmlformats-officedocument.presentationml.slideMaster+xml" PartName="/ppt/slideMasters/slideMaster15.xml"/>
  <Override ContentType="application/vnd.openxmlformats-officedocument.presentationml.slideMaster+xml" PartName="/ppt/slideMasters/slideMaster23.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14.xml"/>
  <Override ContentType="application/vnd.openxmlformats-officedocument.presentationml.slideMaster+xml" PartName="/ppt/slideMasters/slideMaster17.xml"/>
  <Override ContentType="application/vnd.openxmlformats-officedocument.presentationml.slideMaster+xml" PartName="/ppt/slideMasters/slideMaster27.xml"/>
  <Override ContentType="application/vnd.openxmlformats-officedocument.presentationml.slideMaster+xml" PartName="/ppt/slideMasters/slideMaster22.xml"/>
  <Override ContentType="application/vnd.openxmlformats-officedocument.presentationml.slideMaster+xml" PartName="/ppt/slideMasters/slideMaster6.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0.xml"/>
  <Override ContentType="application/vnd.openxmlformats-officedocument.theme+xml" PartName="/ppt/theme/theme17.xml"/>
  <Override ContentType="application/vnd.openxmlformats-officedocument.theme+xml" PartName="/ppt/theme/theme11.xml"/>
  <Override ContentType="application/vnd.openxmlformats-officedocument.theme+xml" PartName="/ppt/theme/theme24.xml"/>
  <Override ContentType="application/vnd.openxmlformats-officedocument.theme+xml" PartName="/ppt/theme/theme5.xml"/>
  <Override ContentType="application/vnd.openxmlformats-officedocument.theme+xml" PartName="/ppt/theme/theme26.xml"/>
  <Override ContentType="application/vnd.openxmlformats-officedocument.theme+xml" PartName="/ppt/theme/theme7.xml"/>
  <Override ContentType="application/vnd.openxmlformats-officedocument.theme+xml" PartName="/ppt/theme/theme4.xml"/>
  <Override ContentType="application/vnd.openxmlformats-officedocument.theme+xml" PartName="/ppt/theme/theme18.xml"/>
  <Override ContentType="application/vnd.openxmlformats-officedocument.theme+xml" PartName="/ppt/theme/theme23.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27.xml"/>
  <Override ContentType="application/vnd.openxmlformats-officedocument.theme+xml" PartName="/ppt/theme/theme14.xml"/>
  <Override ContentType="application/vnd.openxmlformats-officedocument.theme+xml" PartName="/ppt/theme/theme19.xml"/>
  <Override ContentType="application/vnd.openxmlformats-officedocument.theme+xml" PartName="/ppt/theme/theme22.xml"/>
  <Override ContentType="application/vnd.openxmlformats-officedocument.theme+xml" PartName="/ppt/theme/theme3.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28.xml"/>
  <Override ContentType="application/vnd.openxmlformats-officedocument.theme+xml" PartName="/ppt/theme/theme21.xml"/>
  <Override ContentType="application/vnd.openxmlformats-officedocument.theme+xml" PartName="/ppt/theme/theme2.xml"/>
  <Override ContentType="application/vnd.openxmlformats-officedocument.theme+xml" PartName="/ppt/theme/theme29.xml"/>
  <Override ContentType="application/vnd.openxmlformats-officedocument.theme+xml" PartName="/ppt/theme/theme16.xml"/>
  <Override ContentType="application/vnd.openxmlformats-officedocument.theme+xml" PartName="/ppt/theme/theme25.xml"/>
  <Override ContentType="application/vnd.openxmlformats-officedocument.theme+xml" PartName="/ppt/theme/theme1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2" r:id="rId6"/>
    <p:sldMasterId id="2147483654" r:id="rId7"/>
    <p:sldMasterId id="2147483656" r:id="rId8"/>
    <p:sldMasterId id="2147483658" r:id="rId9"/>
    <p:sldMasterId id="2147483660" r:id="rId10"/>
    <p:sldMasterId id="2147483662" r:id="rId11"/>
    <p:sldMasterId id="2147483664" r:id="rId12"/>
    <p:sldMasterId id="2147483666" r:id="rId13"/>
    <p:sldMasterId id="2147483668" r:id="rId14"/>
    <p:sldMasterId id="2147483670" r:id="rId15"/>
    <p:sldMasterId id="2147483672" r:id="rId16"/>
    <p:sldMasterId id="2147483674" r:id="rId17"/>
    <p:sldMasterId id="2147483676" r:id="rId18"/>
    <p:sldMasterId id="2147483678" r:id="rId19"/>
    <p:sldMasterId id="2147483680" r:id="rId20"/>
    <p:sldMasterId id="2147483682" r:id="rId21"/>
    <p:sldMasterId id="2147483684" r:id="rId22"/>
    <p:sldMasterId id="2147483686" r:id="rId23"/>
    <p:sldMasterId id="2147483688" r:id="rId24"/>
    <p:sldMasterId id="2147483690" r:id="rId25"/>
    <p:sldMasterId id="2147483692" r:id="rId26"/>
    <p:sldMasterId id="2147483694" r:id="rId27"/>
    <p:sldMasterId id="2147483696" r:id="rId28"/>
    <p:sldMasterId id="2147483698" r:id="rId29"/>
    <p:sldMasterId id="2147483700" r:id="rId30"/>
    <p:sldMasterId id="2147483702" r:id="rId31"/>
  </p:sldMasterIdLst>
  <p:notesMasterIdLst>
    <p:notesMasterId r:id="rId32"/>
  </p:notesMasterIdLst>
  <p:sldIdLst>
    <p:sldId id="256" r:id="rId33"/>
    <p:sldId id="257" r:id="rId34"/>
    <p:sldId id="258" r:id="rId35"/>
    <p:sldId id="259" r:id="rId36"/>
    <p:sldId id="260" r:id="rId37"/>
    <p:sldId id="261" r:id="rId38"/>
    <p:sldId id="262" r:id="rId39"/>
    <p:sldId id="263" r:id="rId40"/>
    <p:sldId id="264" r:id="rId41"/>
    <p:sldId id="265" r:id="rId42"/>
    <p:sldId id="266" r:id="rId43"/>
    <p:sldId id="267" r:id="rId44"/>
    <p:sldId id="268" r:id="rId45"/>
    <p:sldId id="269" r:id="rId46"/>
    <p:sldId id="270" r:id="rId47"/>
    <p:sldId id="271" r:id="rId48"/>
    <p:sldId id="272" r:id="rId49"/>
  </p:sldIdLst>
  <p:sldSz cy="5143500" cx="9144000"/>
  <p:notesSz cx="6858000" cy="9144000"/>
  <p:embeddedFontLst>
    <p:embeddedFont>
      <p:font typeface="Urbanist Medium"/>
      <p:regular r:id="rId50"/>
      <p:bold r:id="rId51"/>
      <p:italic r:id="rId52"/>
      <p:boldItalic r:id="rId53"/>
    </p:embeddedFont>
    <p:embeddedFont>
      <p:font typeface="Urbanist SemiBold"/>
      <p:regular r:id="rId54"/>
      <p:bold r:id="rId55"/>
      <p:italic r:id="rId56"/>
      <p:boldItalic r:id="rId57"/>
    </p:embeddedFont>
    <p:embeddedFont>
      <p:font typeface="Urbanist"/>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2" roundtripDataSignature="AMtx7miaprMgKmxCb51xeibH/lghAXYa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6CA7DC-4FE8-48BA-B72C-03DD2859EF67}">
  <a:tblStyle styleId="{F86CA7DC-4FE8-48BA-B72C-03DD2859EF6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8.xml"/><Relationship Id="rId42" Type="http://schemas.openxmlformats.org/officeDocument/2006/relationships/slide" Target="slides/slide10.xml"/><Relationship Id="rId41" Type="http://schemas.openxmlformats.org/officeDocument/2006/relationships/slide" Target="slides/slide9.xml"/><Relationship Id="rId44" Type="http://schemas.openxmlformats.org/officeDocument/2006/relationships/slide" Target="slides/slide12.xml"/><Relationship Id="rId43" Type="http://schemas.openxmlformats.org/officeDocument/2006/relationships/slide" Target="slides/slide11.xml"/><Relationship Id="rId46" Type="http://schemas.openxmlformats.org/officeDocument/2006/relationships/slide" Target="slides/slide14.xml"/><Relationship Id="rId45" Type="http://schemas.openxmlformats.org/officeDocument/2006/relationships/slide" Target="slides/slide13.xml"/><Relationship Id="rId1" Type="http://schemas.openxmlformats.org/officeDocument/2006/relationships/theme" Target="theme/theme2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slide" Target="slides/slide16.xml"/><Relationship Id="rId47" Type="http://schemas.openxmlformats.org/officeDocument/2006/relationships/slide" Target="slides/slide15.xml"/><Relationship Id="rId49" Type="http://schemas.openxmlformats.org/officeDocument/2006/relationships/slide" Target="slides/slide17.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Master" Target="slideMasters/slideMaster28.xml"/><Relationship Id="rId30" Type="http://schemas.openxmlformats.org/officeDocument/2006/relationships/slideMaster" Target="slideMasters/slideMaster27.xml"/><Relationship Id="rId33" Type="http://schemas.openxmlformats.org/officeDocument/2006/relationships/slide" Target="slides/slide1.xml"/><Relationship Id="rId32" Type="http://schemas.openxmlformats.org/officeDocument/2006/relationships/notesMaster" Target="notesMasters/notesMaster1.xml"/><Relationship Id="rId35" Type="http://schemas.openxmlformats.org/officeDocument/2006/relationships/slide" Target="slides/slide3.xml"/><Relationship Id="rId34" Type="http://schemas.openxmlformats.org/officeDocument/2006/relationships/slide" Target="slides/slide2.xml"/><Relationship Id="rId37" Type="http://schemas.openxmlformats.org/officeDocument/2006/relationships/slide" Target="slides/slide5.xml"/><Relationship Id="rId36" Type="http://schemas.openxmlformats.org/officeDocument/2006/relationships/slide" Target="slides/slide4.xml"/><Relationship Id="rId39" Type="http://schemas.openxmlformats.org/officeDocument/2006/relationships/slide" Target="slides/slide7.xml"/><Relationship Id="rId38" Type="http://schemas.openxmlformats.org/officeDocument/2006/relationships/slide" Target="slides/slide6.xml"/><Relationship Id="rId62" Type="http://customschemas.google.com/relationships/presentationmetadata" Target="metadata"/><Relationship Id="rId61" Type="http://schemas.openxmlformats.org/officeDocument/2006/relationships/font" Target="fonts/Urbanist-boldItalic.fntdata"/><Relationship Id="rId20" Type="http://schemas.openxmlformats.org/officeDocument/2006/relationships/slideMaster" Target="slideMasters/slideMaster17.xml"/><Relationship Id="rId22" Type="http://schemas.openxmlformats.org/officeDocument/2006/relationships/slideMaster" Target="slideMasters/slideMaster19.xml"/><Relationship Id="rId21" Type="http://schemas.openxmlformats.org/officeDocument/2006/relationships/slideMaster" Target="slideMasters/slideMaster18.xml"/><Relationship Id="rId24" Type="http://schemas.openxmlformats.org/officeDocument/2006/relationships/slideMaster" Target="slideMasters/slideMaster21.xml"/><Relationship Id="rId23" Type="http://schemas.openxmlformats.org/officeDocument/2006/relationships/slideMaster" Target="slideMasters/slideMaster20.xml"/><Relationship Id="rId60" Type="http://schemas.openxmlformats.org/officeDocument/2006/relationships/font" Target="fonts/Urbanist-italic.fntdata"/><Relationship Id="rId26" Type="http://schemas.openxmlformats.org/officeDocument/2006/relationships/slideMaster" Target="slideMasters/slideMaster23.xml"/><Relationship Id="rId25" Type="http://schemas.openxmlformats.org/officeDocument/2006/relationships/slideMaster" Target="slideMasters/slideMaster22.xml"/><Relationship Id="rId28" Type="http://schemas.openxmlformats.org/officeDocument/2006/relationships/slideMaster" Target="slideMasters/slideMaster25.xml"/><Relationship Id="rId27" Type="http://schemas.openxmlformats.org/officeDocument/2006/relationships/slideMaster" Target="slideMasters/slideMaster24.xml"/><Relationship Id="rId29" Type="http://schemas.openxmlformats.org/officeDocument/2006/relationships/slideMaster" Target="slideMasters/slideMaster26.xml"/><Relationship Id="rId51" Type="http://schemas.openxmlformats.org/officeDocument/2006/relationships/font" Target="fonts/UrbanistMedium-bold.fntdata"/><Relationship Id="rId50" Type="http://schemas.openxmlformats.org/officeDocument/2006/relationships/font" Target="fonts/UrbanistMedium-regular.fntdata"/><Relationship Id="rId53" Type="http://schemas.openxmlformats.org/officeDocument/2006/relationships/font" Target="fonts/UrbanistMedium-boldItalic.fntdata"/><Relationship Id="rId52" Type="http://schemas.openxmlformats.org/officeDocument/2006/relationships/font" Target="fonts/UrbanistMedium-italic.fntdata"/><Relationship Id="rId11" Type="http://schemas.openxmlformats.org/officeDocument/2006/relationships/slideMaster" Target="slideMasters/slideMaster8.xml"/><Relationship Id="rId55" Type="http://schemas.openxmlformats.org/officeDocument/2006/relationships/font" Target="fonts/UrbanistSemiBold-bold.fntdata"/><Relationship Id="rId10" Type="http://schemas.openxmlformats.org/officeDocument/2006/relationships/slideMaster" Target="slideMasters/slideMaster7.xml"/><Relationship Id="rId54" Type="http://schemas.openxmlformats.org/officeDocument/2006/relationships/font" Target="fonts/UrbanistSemiBold-regular.fntdata"/><Relationship Id="rId13" Type="http://schemas.openxmlformats.org/officeDocument/2006/relationships/slideMaster" Target="slideMasters/slideMaster10.xml"/><Relationship Id="rId57" Type="http://schemas.openxmlformats.org/officeDocument/2006/relationships/font" Target="fonts/UrbanistSemiBold-boldItalic.fntdata"/><Relationship Id="rId12" Type="http://schemas.openxmlformats.org/officeDocument/2006/relationships/slideMaster" Target="slideMasters/slideMaster9.xml"/><Relationship Id="rId56" Type="http://schemas.openxmlformats.org/officeDocument/2006/relationships/font" Target="fonts/UrbanistSemiBold-italic.fntdata"/><Relationship Id="rId15" Type="http://schemas.openxmlformats.org/officeDocument/2006/relationships/slideMaster" Target="slideMasters/slideMaster12.xml"/><Relationship Id="rId59" Type="http://schemas.openxmlformats.org/officeDocument/2006/relationships/font" Target="fonts/Urbanist-bold.fntdata"/><Relationship Id="rId14" Type="http://schemas.openxmlformats.org/officeDocument/2006/relationships/slideMaster" Target="slideMasters/slideMaster11.xml"/><Relationship Id="rId58" Type="http://schemas.openxmlformats.org/officeDocument/2006/relationships/font" Target="fonts/Urbanist-regular.fntdata"/><Relationship Id="rId17" Type="http://schemas.openxmlformats.org/officeDocument/2006/relationships/slideMaster" Target="slideMasters/slideMaster14.xml"/><Relationship Id="rId16" Type="http://schemas.openxmlformats.org/officeDocument/2006/relationships/slideMaster" Target="slideMasters/slideMaster13.xml"/><Relationship Id="rId19" Type="http://schemas.openxmlformats.org/officeDocument/2006/relationships/slideMaster" Target="slideMasters/slideMaster16.xml"/><Relationship Id="rId18" Type="http://schemas.openxmlformats.org/officeDocument/2006/relationships/slideMaster" Target="slideMasters/slideMaster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6.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1: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I'm Justin Le, the COMMs lead for SWARM-EX this semester. This review covers my original plan, how the tests build on each other, what I've done so far, my schedule for the rest of the semester, the impact on the team, and the risks I'm tracking.</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Most of my work is aimed at getting SCT and CET ready for the SWARM-EX Pre-Integration Review in early 2027.</a:t>
            </a:r>
            <a:endParaRPr b="0" sz="2000"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2: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At the start of the semester my plan had three parts. As COMMs lead I'd manage and track COMMs work and monitor the ground station bring-up. On the technical side I'd work toward SCT-2, with the Lithium-2 radio and the software defined radio in the loop, by re-running MCT, re-running SCT-1 and then running SCT-2. I'd also set up the ground station PC as two machines, one Windows machine for Hydra and one Ubuntu 16 machine for GNU Radio, and verify that setup in the ground station chain.</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The milestones from my first quad chart were re-running MCT by 9/21, testing the GS PC by 9/23, re-running SCT-1 by 9/30 and running SCT-2 by 10/31, with SCT-3 and CET as stretch goals.</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My personal goals were to get comfortable developing in Hydra, understand the packet chain end to end, build embedded debugging skills, and get better at scoping and tracking work for a team.</a:t>
            </a:r>
            <a:endParaRPr b="0" sz="2000"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3: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Each test adds to the one before it. MCT sends commands from Hydra through CDH to the Li-2 over UART. SCT-1 hardwires CDH and Hydra. SCT-2 adds the Li-2 and the SDR, with the signal decoded through GNU Radio into Hydra. SCT-3 adds the antennas over a short range, and SCT-4 is the same setup over a long range.</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All of it works toward CET and DITL. The next five slides show each test setup.</a:t>
            </a:r>
            <a:endParaRPr b="0" sz="2000"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4: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4: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In MCT, Hydra on the ground side sends commands to CDH over a hardwired link, CDH passes them to the Li-2, and the acknowledgments come back to Hydra.</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A logic analyzer on the UART lines between CDH and the Li-2 checks the no-op, transmit and reset commands.</a:t>
            </a:r>
            <a:endParaRPr b="0" sz="2000"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5: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5: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SCT-1 checks the hardwired link between CDH and Hydra, without wireless communication as a factor. The point is that CDH correctly reads the command bytes coming from Hydra, and Hydra correctly reads the telemetry bytes coming back from CDH.</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Hydra sends a command requesting a housekeeping packet, the CDH terminal confirms the command arrived, and then the packet shows up in Hydra telemetry.</a:t>
            </a:r>
            <a:endParaRPr b="0" sz="2000"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6: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6: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SCT-2 runs the whole chain with only the antenna out of the loop. A message goes through Hydra, GNU Radio and the SDR on the ground side, over a hardlined RF connection to the Li-2, and on to CDH, with the CDH terminal confirming the command was received.</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The point is to show a message can be sent in both directions through the hardware and software.</a:t>
            </a:r>
            <a:endParaRPr b="0" sz="2000"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7: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SCT-3 adds the antennas over a short range. The flatsat goes to the parking garage across from the DLC, and the SWARM-EX Hydra and GNU Radio instances run in the COSGC Ground Station, with the ground antenna talking to the flatsat antenna over the air.</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The point is to verify antenna and ground station performance and that we can close the link.</a:t>
            </a:r>
            <a:endParaRPr b="0" sz="2000"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8: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8: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SCT-4 is the same setup as SCT-3. The only difference is a longer distance between the flatsat and the ground station, to check antenna and ground station performance and that the link still closes over a longer range.</a:t>
            </a:r>
            <a:endParaRPr b="0" sz="2000"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9: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 name="Google Shape;222;p9: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The plan changed early on. At the start of the semester I was developing the GS PC architecture that would be implemented. Rick proposed a two-PC setup, and I proposed the 443 white tower running Hydra plus a ground station laptop running GNU Radio.</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Now Scott Palo and Nicholas Rainville lead GS PC development and bring-up, and my role is verifying it in the comms chain once it works. That's blocked on their development for now, and we won't have ground station licensing for a while.</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The waterfall excerpt shows the change. The MCT rows are complete, and the GS PC setup rows are struck through since they're no longer mine.</a:t>
            </a:r>
            <a:endParaRPr b="0" sz="2000"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0: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0: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lang="en-US" sz="2000"/>
              <a:t>Moving onto technical accomplishments, </a:t>
            </a:r>
            <a:r>
              <a:rPr b="0" lang="en-US" sz="2000" strike="noStrike">
                <a:solidFill>
                  <a:srgbClr val="000000"/>
                </a:solidFill>
                <a:latin typeface="Arial"/>
                <a:ea typeface="Arial"/>
                <a:cs typeface="Arial"/>
                <a:sym typeface="Arial"/>
              </a:rPr>
              <a:t>MCT is my main technical result so far. I worked bottom up, one interface at a time. First I added the Li-2 commands, states and an opcode dictionary to Hydra. Then I hardwired Hydra straight to the Li-2 and confirmed no-op, transmit and reset on the logic analyzer. That step took longer than planned because of documentation gaps and getting familiar with the hardware. Last, I put the CDH board in the loop, and the commands were sent and acknowledged properly.</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The result is that commands are acknowledged through Hydra, CDH and the Li-2. The photo is the bench setup I used.</a:t>
            </a:r>
            <a:endParaRPr b="0" sz="2000"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1: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11: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These are the logic analyzer captures from MCT. In each one, the top trace is the command going to the Li-2 and the bottom trace is the Li-2's reply.</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The transmit command carries a 6-byte payload, and the no-op and reset commands have none. Every reply ends in 0x0A 0x0A, the Li-2's acknowledgment, so all three commands were received and acknowledged.</a:t>
            </a:r>
            <a:endParaRPr b="0" sz="2000"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2: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12: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For the ground station PC, I created a status doc on the STIG GS PC. It covers the current setup, why it was built that way, the issues, who's involved, the options and the open questions, and it became the shared picture for Palo and the MAXWELL and SWARM-EX COMMs teams.</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The diagram shows the setup: an Ubuntu 24 host running KVM, with a Windows 11 VM for Hydra, an Ubuntu 16 VM for GNU Radio, and the USRP b200mini passed through to the GNU Radio VM. At the start of the semester the VMs couldn't talk to each other, there were VPN problems, and our GNU Radio file couldn't run natively on Ubuntu 24. GNU Radio would break when updating, likely because of how the Lithium framer changed going to Ubuntu 24. Recently Rainville and Palo got the VMs communicating.</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Once the PC is ready, I'll verify it bottom up: USRP to GNU Radio, then GNU Radio to Hydra, then the whole ground side with the station hardware.</a:t>
            </a:r>
            <a:endParaRPr b="0" sz="2000"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3: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9" name="Google Shape;269;p13: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As lead, I onboarded Edin, Elsa, Atharv and Ian. Elsa is working on satellite tracking and Edin on ground station bring-up. I gave Atharv the SWARM-EX and ground station block diagrams, and gave Ian the SCT documents for the SCT procedures.</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I track action items from the whole team along with ongoing issues, put together weekly quad charts for COMMs as a whole and a Gantt chart, and manage blockers, dependencies and rescheduling.</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I coordinate with Skye on MAXWELL, Alex Burns as the former MAXWELL COMMs lead, Dhruva as the former SWARM-EX COMMs lead, and Scott Gennari at LASP.</a:t>
            </a:r>
            <a:endParaRPr b="0" sz="2000"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4: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14: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SCT-1 runs 10/16 to 10/22: bench setup on 10/16, a practice run on 10/19, the full run 10/20 to 10/21, and troubleshooting on 10/22.</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GS PC verification is planned for 10/30 to 11/6, once Palo and Rainville have it working. In the meantime I'll update GNU Radio and check its state for SCT-2.</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SCT-2 runs 10/23 to 12/3: the procedure review on 10/23, Hydra development 10/27 to 11/2, a practice run on 11/13 and the full run 11/17 to 11/20. The weeks of 12/7 and 12/14 are for the end-of-semester review, the transition document and the final report.</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Compared to the original plan, MCT finished on 10/8 instead of 9/21, the GS PC test moved from 9/23 to 10/30 through 11/6, SCT-1 moved from 9/30 to 10/20, and SCT-2 moved from 10/31 to 11/17 through 11/20.</a:t>
            </a:r>
            <a:endParaRPr b="0" sz="2000"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5: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15: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The state of comms between the Li-2 and CDH was unclear. Earlier semesters ran MCT and SCT but never reached SCT-2, so re-verifying MCT and SCT gives us a clear starting point for SCT-2.</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The ground station PC has been a long-running pain point for COMMs. The STIG doc turned it into an issue list with clear owners, and Palo and Rainville bringing it up is needed for MAXWELL's February launch.</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As COMMs lead I manage the tasks COMMs needs for SWARM-EX, track the team's work week to week, and route blockers to the right person, whether that's CDH, Palo, LASP or MAXWELL.</a:t>
            </a:r>
            <a:endParaRPr b="0" sz="2000"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6: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16: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These are the risks I'm tracking, rated by consequence and likelihood before and after mitigation. Before mitigation, delays in ground station bring-up are in the red and the rest are in the yellow. After mitigation, all five are in the yellow.</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One, SCT-1 is delayed, which delays SCT-2, so I'm prepping SCT-2 in parallel, with procedure reviews and GNU Radio development, while SCT-1 finishes. Two, SCT-2 may need more development than planned, so I'll scope the Hydra work at the 10/23 procedure review and reuse the MCT and SCT-1 work.</a:t>
            </a:r>
            <a:endParaRPr b="0" sz="2000" strike="noStrike">
              <a:solidFill>
                <a:srgbClr val="000000"/>
              </a:solidFill>
              <a:latin typeface="Arial"/>
              <a:ea typeface="Arial"/>
              <a:cs typeface="Arial"/>
              <a:sym typeface="Arial"/>
            </a:endParaRPr>
          </a:p>
          <a:p>
            <a:pPr indent="0" lvl="0" marL="216000" rtl="0" algn="l">
              <a:lnSpc>
                <a:spcPct val="100000"/>
              </a:lnSpc>
              <a:spcBef>
                <a:spcPts val="601"/>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Three, the motor interface might not get resolved or bypassed. Elsa is looking into working with Palo and getting help from LASP. Four, ground station bring-up could slip, so we can run verification in the chain with the interim laptop setup from MAXWELL. Five, verifying the GS PC at COSGC could run into issues, so I'll verify bottom up with the interim laptop as a fallback.</a:t>
            </a:r>
            <a:endParaRPr b="0" sz="2000"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7:notes"/>
          <p:cNvSpPr/>
          <p:nvPr>
            <p:ph idx="2" type="sldImg"/>
          </p:nvPr>
        </p:nvSpPr>
        <p:spPr>
          <a:xfrm>
            <a:off x="381240" y="685800"/>
            <a:ext cx="6092640" cy="34257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17:notes"/>
          <p:cNvSpPr txBox="1"/>
          <p:nvPr>
            <p:ph idx="1" type="body"/>
          </p:nvPr>
        </p:nvSpPr>
        <p:spPr>
          <a:xfrm>
            <a:off x="685800" y="4343400"/>
            <a:ext cx="5483160" cy="4111560"/>
          </a:xfrm>
          <a:prstGeom prst="rect">
            <a:avLst/>
          </a:prstGeom>
          <a:noFill/>
          <a:ln>
            <a:noFill/>
          </a:ln>
        </p:spPr>
        <p:txBody>
          <a:bodyPr anchorCtr="0" anchor="t" bIns="91425" lIns="91425" spcFirstLastPara="1" rIns="91425" wrap="square" tIns="91425">
            <a:noAutofit/>
          </a:bodyPr>
          <a:lstStyle/>
          <a:p>
            <a:pPr indent="0" lvl="0" marL="216000" rtl="0" algn="l">
              <a:lnSpc>
                <a:spcPct val="100000"/>
              </a:lnSpc>
              <a:spcBef>
                <a:spcPts val="0"/>
              </a:spcBef>
              <a:spcAft>
                <a:spcPts val="0"/>
              </a:spcAft>
              <a:buClr>
                <a:srgbClr val="000000"/>
              </a:buClr>
              <a:buSzPts val="2000"/>
              <a:buFont typeface="Arial"/>
              <a:buNone/>
            </a:pPr>
            <a:r>
              <a:rPr b="0" lang="en-US" sz="2000" strike="noStrike">
                <a:solidFill>
                  <a:srgbClr val="000000"/>
                </a:solidFill>
                <a:latin typeface="Arial"/>
                <a:ea typeface="Arial"/>
                <a:cs typeface="Arial"/>
                <a:sym typeface="Arial"/>
              </a:rPr>
              <a:t>That's my mid-semester review. Thanks for watching.</a:t>
            </a:r>
            <a:endParaRPr b="0" sz="2000"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4" type="blank">
  <p:cSld name="BLANK">
    <p:spTree>
      <p:nvGrpSpPr>
        <p:cNvPr id="17" name="Shape 1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7_1_1_1_1_1_1_1_1_1_1_1_1_1_1_1_1_1" type="blank">
  <p:cSld name="BLANK">
    <p:spTree>
      <p:nvGrpSpPr>
        <p:cNvPr id="25"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_1_1_1_1_2" type="blank">
  <p:cSld name="BLANK">
    <p:spTree>
      <p:nvGrpSpPr>
        <p:cNvPr id="35" name="Shape 35"/>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_1_1_1_1_1_1_2" type="blank">
  <p:cSld name="BLANK">
    <p:spTree>
      <p:nvGrpSpPr>
        <p:cNvPr id="40"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 type="blank">
  <p:cSld name="BLANK">
    <p:spTree>
      <p:nvGrpSpPr>
        <p:cNvPr id="48" name="Shape 4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_1" type="blank">
  <p:cSld name="BLANK">
    <p:spTree>
      <p:nvGrpSpPr>
        <p:cNvPr id="53" name="Shape 5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ype="blank">
  <p:cSld name="BLANK">
    <p:spTree>
      <p:nvGrpSpPr>
        <p:cNvPr id="59" name="Shape 5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2" type="blank">
  <p:cSld name="BLANK">
    <p:spTree>
      <p:nvGrpSpPr>
        <p:cNvPr id="73" name="Shape 73"/>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4" type="blank">
  <p:cSld name="BLANK">
    <p:spTree>
      <p:nvGrpSpPr>
        <p:cNvPr id="78" name="Shape 7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5" type="blank">
  <p:cSld name="BLANK">
    <p:spTree>
      <p:nvGrpSpPr>
        <p:cNvPr id="83" name="Shape 83"/>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spTree>
      <p:nvGrpSpPr>
        <p:cNvPr id="85" name="Shape 8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2" type="blank">
  <p:cSld name="BLANK">
    <p:spTree>
      <p:nvGrpSpPr>
        <p:cNvPr id="90" name="Shape 9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blank">
  <p:cSld name="BLANK">
    <p:spTree>
      <p:nvGrpSpPr>
        <p:cNvPr id="92" name="Shape 9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blank">
  <p:cSld name="BLANK">
    <p:spTree>
      <p:nvGrpSpPr>
        <p:cNvPr id="94" name="Shape 94"/>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blank">
  <p:cSld name="BLANK">
    <p:spTree>
      <p:nvGrpSpPr>
        <p:cNvPr id="96" name="Shape 96"/>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blank">
  <p:cSld name="BLANK">
    <p:spTree>
      <p:nvGrpSpPr>
        <p:cNvPr id="98" name="Shape 98"/>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type="blank">
  <p:cSld name="BLANK">
    <p:spTree>
      <p:nvGrpSpPr>
        <p:cNvPr id="100" name="Shape 100"/>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type="blank">
  <p:cSld name="BLANK">
    <p:spTree>
      <p:nvGrpSpPr>
        <p:cNvPr id="102" name="Shape 102"/>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type="blank">
  <p:cSld name="BLANK">
    <p:spTree>
      <p:nvGrpSpPr>
        <p:cNvPr id="104" name="Shape 104"/>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type="blank">
  <p:cSld name="BLANK">
    <p:spTree>
      <p:nvGrpSpPr>
        <p:cNvPr id="106" name="Shape 106"/>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type="blank">
  <p:cSld name="BLANK">
    <p:spTree>
      <p:nvGrpSpPr>
        <p:cNvPr id="108" name="Shape 108"/>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0" name="Shape 110"/>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 type="blank">
  <p:cSld name="BLANK">
    <p:spTree>
      <p:nvGrpSpPr>
        <p:cNvPr id="115" name="Shape 115"/>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type="blank">
  <p:cSld name="BLANK">
    <p:spTree>
      <p:nvGrpSpPr>
        <p:cNvPr id="117" name="Shape 117"/>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type="blank">
  <p:cSld name="BLANK">
    <p:spTree>
      <p:nvGrpSpPr>
        <p:cNvPr id="119" name="Shape 119"/>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type="blank">
  <p:cSld name="BLANK">
    <p:spTree>
      <p:nvGrpSpPr>
        <p:cNvPr id="121" name="Shape 121"/>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type="blank">
  <p:cSld name="BLANK">
    <p:spTree>
      <p:nvGrpSpPr>
        <p:cNvPr id="123" name="Shape 123"/>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type="blank">
  <p:cSld name="BLANK">
    <p:spTree>
      <p:nvGrpSpPr>
        <p:cNvPr id="125" name="Shape 12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theme" Target="../theme/theme2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theme" Target="../theme/theme9.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27.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10.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12.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1.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24.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22.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19.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28.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1.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16.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3.xml"/></Relationships>
</file>

<file path=ppt/slideMasters/_rels/slideMaster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7.xml"/></Relationships>
</file>

<file path=ppt/slideMasters/_rels/slideMaster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6.xml"/></Relationships>
</file>

<file path=ppt/slideMasters/_rels/slideMaster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18.xml"/></Relationships>
</file>

<file path=ppt/slideMasters/_rels/slideMaster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theme" Target="../theme/theme4.xml"/></Relationships>
</file>

<file path=ppt/slideMasters/_rels/slideMaster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theme" Target="../theme/theme13.xml"/></Relationships>
</file>

<file path=ppt/slideMasters/_rels/slideMaster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theme" Target="../theme/theme17.xml"/></Relationships>
</file>

<file path=ppt/slideMasters/_rels/slideMaster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theme" Target="../theme/theme29.xml"/></Relationships>
</file>

<file path=ppt/slideMasters/_rels/slideMaster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theme" Target="../theme/theme15.xml"/></Relationships>
</file>

<file path=ppt/slideMasters/_rels/slideMaster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theme" Target="../theme/theme14.xml"/></Relationships>
</file>

<file path=ppt/slideMasters/_rels/slideMaster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theme" Target="../theme/theme8.xml"/></Relationships>
</file>

<file path=ppt/slideMasters/_rels/slideMaster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theme" Target="../theme/theme23.xml"/></Relationships>
</file>

<file path=ppt/slideMasters/_rels/slideMaster2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theme" Target="../theme/theme2.xml"/></Relationships>
</file>

<file path=ppt/slideMasters/_rels/slideMaster2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theme" Target="../theme/theme25.xml"/></Relationships>
</file>

<file path=ppt/slideMasters/_rels/slideMaster2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theme" Target="../theme/theme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 name="Shape 9"/>
        <p:cNvGrpSpPr/>
        <p:nvPr/>
      </p:nvGrpSpPr>
      <p:grpSpPr>
        <a:xfrm>
          <a:off x="0" y="0"/>
          <a:ext cx="0" cy="0"/>
          <a:chOff x="0" y="0"/>
          <a:chExt cx="0" cy="0"/>
        </a:xfrm>
      </p:grpSpPr>
      <p:pic>
        <p:nvPicPr>
          <p:cNvPr id="10" name="Google Shape;10;p18"/>
          <p:cNvPicPr preferRelativeResize="0"/>
          <p:nvPr/>
        </p:nvPicPr>
        <p:blipFill rotWithShape="1">
          <a:blip r:embed="rId1">
            <a:alphaModFix amt="50000"/>
          </a:blip>
          <a:srcRect b="8145" l="3134" r="7833" t="16764"/>
          <a:stretch/>
        </p:blipFill>
        <p:spPr>
          <a:xfrm flipH="1" rot="10800000">
            <a:off x="0" y="-360"/>
            <a:ext cx="9158400" cy="5151240"/>
          </a:xfrm>
          <a:prstGeom prst="rect">
            <a:avLst/>
          </a:prstGeom>
          <a:noFill/>
          <a:ln>
            <a:noFill/>
          </a:ln>
        </p:spPr>
      </p:pic>
      <p:sp>
        <p:nvSpPr>
          <p:cNvPr id="11" name="Google Shape;11;p18"/>
          <p:cNvSpPr/>
          <p:nvPr/>
        </p:nvSpPr>
        <p:spPr>
          <a:xfrm flipH="1" rot="10800000">
            <a:off x="-360" y="4680000"/>
            <a:ext cx="9146520" cy="463680"/>
          </a:xfrm>
          <a:prstGeom prst="rect">
            <a:avLst/>
          </a:prstGeom>
          <a:solidFill>
            <a:schemeClr val="dk1"/>
          </a:solid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2" name="Google Shape;12;p18"/>
          <p:cNvSpPr/>
          <p:nvPr/>
        </p:nvSpPr>
        <p:spPr>
          <a:xfrm>
            <a:off x="228600" y="4837680"/>
            <a:ext cx="45720" cy="45720"/>
          </a:xfrm>
          <a:prstGeom prst="ellipse">
            <a:avLst/>
          </a:prstGeom>
          <a:solidFill>
            <a:schemeClr val="lt1"/>
          </a:solidFill>
          <a:ln>
            <a:noFill/>
          </a:ln>
        </p:spPr>
        <p:txBody>
          <a:bodyPr anchorCtr="0" anchor="ctr" bIns="16200" lIns="90000" spcFirstLastPara="1" rIns="90000" wrap="square" tIns="162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 name="Google Shape;13;p18"/>
          <p:cNvSpPr/>
          <p:nvPr/>
        </p:nvSpPr>
        <p:spPr>
          <a:xfrm>
            <a:off x="4618800" y="4839120"/>
            <a:ext cx="42840" cy="42840"/>
          </a:xfrm>
          <a:prstGeom prst="rect">
            <a:avLst/>
          </a:prstGeom>
          <a:solidFill>
            <a:schemeClr val="lt1"/>
          </a:solidFill>
          <a:ln>
            <a:noFill/>
          </a:ln>
        </p:spPr>
        <p:txBody>
          <a:bodyPr anchorCtr="0" anchor="ctr" bIns="21600" lIns="90000" spcFirstLastPara="1" rIns="90000" wrap="square" tIns="216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14" name="Google Shape;14;p18"/>
          <p:cNvCxnSpPr/>
          <p:nvPr/>
        </p:nvCxnSpPr>
        <p:spPr>
          <a:xfrm>
            <a:off x="238680" y="4683240"/>
            <a:ext cx="8679960" cy="3240"/>
          </a:xfrm>
          <a:prstGeom prst="straightConnector1">
            <a:avLst/>
          </a:prstGeom>
          <a:noFill/>
          <a:ln cap="flat" cmpd="sng" w="9525">
            <a:solidFill>
              <a:srgbClr val="434343"/>
            </a:solidFill>
            <a:prstDash val="solid"/>
            <a:round/>
            <a:headEnd len="sm" w="sm" type="none"/>
            <a:tailEnd len="sm" w="sm" type="none"/>
          </a:ln>
        </p:spPr>
      </p:cxnSp>
      <p:sp>
        <p:nvSpPr>
          <p:cNvPr id="15" name="Google Shape;15;p18"/>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6" name="Google Shape;16;p18"/>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8" name="Shape 18"/>
        <p:cNvGrpSpPr/>
        <p:nvPr/>
      </p:nvGrpSpPr>
      <p:grpSpPr>
        <a:xfrm>
          <a:off x="0" y="0"/>
          <a:ext cx="0" cy="0"/>
          <a:chOff x="0" y="0"/>
          <a:chExt cx="0" cy="0"/>
        </a:xfrm>
      </p:grpSpPr>
      <p:pic>
        <p:nvPicPr>
          <p:cNvPr id="19" name="Google Shape;19;p20"/>
          <p:cNvPicPr preferRelativeResize="0"/>
          <p:nvPr/>
        </p:nvPicPr>
        <p:blipFill rotWithShape="1">
          <a:blip r:embed="rId1">
            <a:alphaModFix/>
          </a:blip>
          <a:srcRect b="14586" l="0" r="15467" t="0"/>
          <a:stretch/>
        </p:blipFill>
        <p:spPr>
          <a:xfrm flipH="1">
            <a:off x="4575240" y="2061000"/>
            <a:ext cx="4568760" cy="3079080"/>
          </a:xfrm>
          <a:prstGeom prst="rect">
            <a:avLst/>
          </a:prstGeom>
          <a:noFill/>
          <a:ln>
            <a:noFill/>
          </a:ln>
        </p:spPr>
      </p:pic>
      <p:cxnSp>
        <p:nvCxnSpPr>
          <p:cNvPr id="20" name="Google Shape;20;p20"/>
          <p:cNvCxnSpPr/>
          <p:nvPr/>
        </p:nvCxnSpPr>
        <p:spPr>
          <a:xfrm>
            <a:off x="238680" y="4683240"/>
            <a:ext cx="8679960" cy="3240"/>
          </a:xfrm>
          <a:prstGeom prst="straightConnector1">
            <a:avLst/>
          </a:prstGeom>
          <a:noFill/>
          <a:ln cap="flat" cmpd="sng" w="9525">
            <a:solidFill>
              <a:srgbClr val="434343"/>
            </a:solidFill>
            <a:prstDash val="solid"/>
            <a:round/>
            <a:headEnd len="sm" w="sm" type="none"/>
            <a:tailEnd len="sm" w="sm" type="none"/>
          </a:ln>
        </p:spPr>
      </p:cxnSp>
      <p:sp>
        <p:nvSpPr>
          <p:cNvPr id="21" name="Google Shape;21;p20"/>
          <p:cNvSpPr/>
          <p:nvPr/>
        </p:nvSpPr>
        <p:spPr>
          <a:xfrm>
            <a:off x="228600" y="4837680"/>
            <a:ext cx="45720" cy="45720"/>
          </a:xfrm>
          <a:prstGeom prst="ellipse">
            <a:avLst/>
          </a:prstGeom>
          <a:solidFill>
            <a:schemeClr val="lt1"/>
          </a:solidFill>
          <a:ln>
            <a:noFill/>
          </a:ln>
        </p:spPr>
        <p:txBody>
          <a:bodyPr anchorCtr="0" anchor="ctr" bIns="16200" lIns="90000" spcFirstLastPara="1" rIns="90000" wrap="square" tIns="162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 name="Google Shape;22;p20"/>
          <p:cNvSpPr/>
          <p:nvPr/>
        </p:nvSpPr>
        <p:spPr>
          <a:xfrm>
            <a:off x="4618800" y="4839120"/>
            <a:ext cx="42840" cy="42840"/>
          </a:xfrm>
          <a:prstGeom prst="rect">
            <a:avLst/>
          </a:prstGeom>
          <a:solidFill>
            <a:schemeClr val="lt1"/>
          </a:solidFill>
          <a:ln>
            <a:noFill/>
          </a:ln>
        </p:spPr>
        <p:txBody>
          <a:bodyPr anchorCtr="0" anchor="ctr" bIns="21600" lIns="90000" spcFirstLastPara="1" rIns="90000" wrap="square" tIns="216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 name="Google Shape;23;p20"/>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4" name="Google Shape;24;p20"/>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5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6" name="Shape 26"/>
        <p:cNvGrpSpPr/>
        <p:nvPr/>
      </p:nvGrpSpPr>
      <p:grpSpPr>
        <a:xfrm>
          <a:off x="0" y="0"/>
          <a:ext cx="0" cy="0"/>
          <a:chOff x="0" y="0"/>
          <a:chExt cx="0" cy="0"/>
        </a:xfrm>
      </p:grpSpPr>
      <p:sp>
        <p:nvSpPr>
          <p:cNvPr id="27" name="Google Shape;27;p22"/>
          <p:cNvSpPr/>
          <p:nvPr/>
        </p:nvSpPr>
        <p:spPr>
          <a:xfrm>
            <a:off x="0" y="-360"/>
            <a:ext cx="9140760" cy="5140800"/>
          </a:xfrm>
          <a:prstGeom prst="roundRect">
            <a:avLst>
              <a:gd fmla="val 0" name="adj"/>
            </a:avLst>
          </a:prstGeom>
          <a:blipFill rotWithShape="1">
            <a:blip r:embed="rId1">
              <a:alphaModFix/>
            </a:blip>
            <a:stretch>
              <a:fillRect b="-1" l="0" r="0" t="-1"/>
            </a:stretch>
          </a:blipFill>
          <a:ln cap="flat" cmpd="sng" w="9525">
            <a:solidFill>
              <a:srgbClr val="434343"/>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28" name="Google Shape;28;p22"/>
          <p:cNvCxnSpPr/>
          <p:nvPr/>
        </p:nvCxnSpPr>
        <p:spPr>
          <a:xfrm>
            <a:off x="238680" y="4683240"/>
            <a:ext cx="8679960" cy="3240"/>
          </a:xfrm>
          <a:prstGeom prst="straightConnector1">
            <a:avLst/>
          </a:prstGeom>
          <a:noFill/>
          <a:ln cap="flat" cmpd="sng" w="9525">
            <a:solidFill>
              <a:srgbClr val="434343"/>
            </a:solidFill>
            <a:prstDash val="solid"/>
            <a:round/>
            <a:headEnd len="sm" w="sm" type="none"/>
            <a:tailEnd len="sm" w="sm" type="none"/>
          </a:ln>
        </p:spPr>
      </p:cxnSp>
      <p:cxnSp>
        <p:nvCxnSpPr>
          <p:cNvPr id="29" name="Google Shape;29;p22"/>
          <p:cNvCxnSpPr/>
          <p:nvPr/>
        </p:nvCxnSpPr>
        <p:spPr>
          <a:xfrm>
            <a:off x="4158720" y="226080"/>
            <a:ext cx="3240" cy="4460760"/>
          </a:xfrm>
          <a:prstGeom prst="straightConnector1">
            <a:avLst/>
          </a:prstGeom>
          <a:noFill/>
          <a:ln cap="flat" cmpd="sng" w="9525">
            <a:solidFill>
              <a:srgbClr val="434343"/>
            </a:solidFill>
            <a:prstDash val="solid"/>
            <a:round/>
            <a:headEnd len="sm" w="sm" type="none"/>
            <a:tailEnd len="sm" w="sm" type="none"/>
          </a:ln>
        </p:spPr>
      </p:cxnSp>
      <p:cxnSp>
        <p:nvCxnSpPr>
          <p:cNvPr id="30" name="Google Shape;30;p22"/>
          <p:cNvCxnSpPr/>
          <p:nvPr/>
        </p:nvCxnSpPr>
        <p:spPr>
          <a:xfrm>
            <a:off x="228600" y="226080"/>
            <a:ext cx="8690040" cy="3240"/>
          </a:xfrm>
          <a:prstGeom prst="straightConnector1">
            <a:avLst/>
          </a:prstGeom>
          <a:noFill/>
          <a:ln cap="flat" cmpd="sng" w="9525">
            <a:solidFill>
              <a:srgbClr val="434343"/>
            </a:solidFill>
            <a:prstDash val="solid"/>
            <a:round/>
            <a:headEnd len="sm" w="sm" type="none"/>
            <a:tailEnd len="sm" w="sm" type="none"/>
          </a:ln>
        </p:spPr>
      </p:cxnSp>
      <p:sp>
        <p:nvSpPr>
          <p:cNvPr id="31" name="Google Shape;31;p22"/>
          <p:cNvSpPr/>
          <p:nvPr/>
        </p:nvSpPr>
        <p:spPr>
          <a:xfrm>
            <a:off x="228600" y="4837680"/>
            <a:ext cx="45720" cy="45720"/>
          </a:xfrm>
          <a:prstGeom prst="ellipse">
            <a:avLst/>
          </a:prstGeom>
          <a:solidFill>
            <a:schemeClr val="lt1"/>
          </a:solidFill>
          <a:ln>
            <a:noFill/>
          </a:ln>
        </p:spPr>
        <p:txBody>
          <a:bodyPr anchorCtr="0" anchor="ctr" bIns="16200" lIns="90000" spcFirstLastPara="1" rIns="90000" wrap="square" tIns="162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 name="Google Shape;32;p22"/>
          <p:cNvSpPr/>
          <p:nvPr/>
        </p:nvSpPr>
        <p:spPr>
          <a:xfrm>
            <a:off x="4618800" y="4839120"/>
            <a:ext cx="42840" cy="42840"/>
          </a:xfrm>
          <a:prstGeom prst="rect">
            <a:avLst/>
          </a:prstGeom>
          <a:solidFill>
            <a:schemeClr val="lt1"/>
          </a:solidFill>
          <a:ln>
            <a:noFill/>
          </a:ln>
        </p:spPr>
        <p:txBody>
          <a:bodyPr anchorCtr="0" anchor="ctr" bIns="21600" lIns="90000" spcFirstLastPara="1" rIns="90000" wrap="square" tIns="216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 name="Google Shape;33;p22"/>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4" name="Google Shape;34;p22"/>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53"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6" name="Shape 36"/>
        <p:cNvGrpSpPr/>
        <p:nvPr/>
      </p:nvGrpSpPr>
      <p:grpSpPr>
        <a:xfrm>
          <a:off x="0" y="0"/>
          <a:ext cx="0" cy="0"/>
          <a:chOff x="0" y="0"/>
          <a:chExt cx="0" cy="0"/>
        </a:xfrm>
      </p:grpSpPr>
      <p:cxnSp>
        <p:nvCxnSpPr>
          <p:cNvPr id="37" name="Google Shape;37;p24"/>
          <p:cNvCxnSpPr/>
          <p:nvPr/>
        </p:nvCxnSpPr>
        <p:spPr>
          <a:xfrm>
            <a:off x="238680" y="4683240"/>
            <a:ext cx="8679960" cy="3240"/>
          </a:xfrm>
          <a:prstGeom prst="straightConnector1">
            <a:avLst/>
          </a:prstGeom>
          <a:noFill/>
          <a:ln cap="flat" cmpd="sng" w="9525">
            <a:solidFill>
              <a:srgbClr val="434343"/>
            </a:solidFill>
            <a:prstDash val="solid"/>
            <a:round/>
            <a:headEnd len="sm" w="sm" type="none"/>
            <a:tailEnd len="sm" w="sm" type="none"/>
          </a:ln>
        </p:spPr>
      </p:cxnSp>
      <p:sp>
        <p:nvSpPr>
          <p:cNvPr id="38" name="Google Shape;38;p24"/>
          <p:cNvSpPr/>
          <p:nvPr/>
        </p:nvSpPr>
        <p:spPr>
          <a:xfrm>
            <a:off x="228600" y="4837680"/>
            <a:ext cx="45720" cy="45720"/>
          </a:xfrm>
          <a:prstGeom prst="ellipse">
            <a:avLst/>
          </a:prstGeom>
          <a:solidFill>
            <a:schemeClr val="lt1"/>
          </a:solidFill>
          <a:ln>
            <a:noFill/>
          </a:ln>
        </p:spPr>
        <p:txBody>
          <a:bodyPr anchorCtr="0" anchor="ctr" bIns="16200" lIns="90000" spcFirstLastPara="1" rIns="90000" wrap="square" tIns="162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 name="Google Shape;39;p24"/>
          <p:cNvSpPr/>
          <p:nvPr/>
        </p:nvSpPr>
        <p:spPr>
          <a:xfrm>
            <a:off x="4618800" y="4839120"/>
            <a:ext cx="42840" cy="42840"/>
          </a:xfrm>
          <a:prstGeom prst="rect">
            <a:avLst/>
          </a:prstGeom>
          <a:solidFill>
            <a:schemeClr val="lt1"/>
          </a:solidFill>
          <a:ln>
            <a:noFill/>
          </a:ln>
        </p:spPr>
        <p:txBody>
          <a:bodyPr anchorCtr="0" anchor="ctr" bIns="21600" lIns="90000" spcFirstLastPara="1" rIns="90000" wrap="square" tIns="216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1" name="Shape 41"/>
        <p:cNvGrpSpPr/>
        <p:nvPr/>
      </p:nvGrpSpPr>
      <p:grpSpPr>
        <a:xfrm>
          <a:off x="0" y="0"/>
          <a:ext cx="0" cy="0"/>
          <a:chOff x="0" y="0"/>
          <a:chExt cx="0" cy="0"/>
        </a:xfrm>
      </p:grpSpPr>
      <p:cxnSp>
        <p:nvCxnSpPr>
          <p:cNvPr id="42" name="Google Shape;42;p26"/>
          <p:cNvCxnSpPr/>
          <p:nvPr/>
        </p:nvCxnSpPr>
        <p:spPr>
          <a:xfrm>
            <a:off x="238680" y="4683240"/>
            <a:ext cx="8679960" cy="3240"/>
          </a:xfrm>
          <a:prstGeom prst="straightConnector1">
            <a:avLst/>
          </a:prstGeom>
          <a:noFill/>
          <a:ln cap="flat" cmpd="sng" w="9525">
            <a:solidFill>
              <a:srgbClr val="434343"/>
            </a:solidFill>
            <a:prstDash val="solid"/>
            <a:round/>
            <a:headEnd len="sm" w="sm" type="none"/>
            <a:tailEnd len="sm" w="sm" type="none"/>
          </a:ln>
        </p:spPr>
      </p:cxnSp>
      <p:grpSp>
        <p:nvGrpSpPr>
          <p:cNvPr id="43" name="Google Shape;43;p26"/>
          <p:cNvGrpSpPr/>
          <p:nvPr/>
        </p:nvGrpSpPr>
        <p:grpSpPr>
          <a:xfrm>
            <a:off x="4828320" y="4172760"/>
            <a:ext cx="76680" cy="144720"/>
            <a:chOff x="4828320" y="4172760"/>
            <a:chExt cx="76680" cy="144720"/>
          </a:xfrm>
        </p:grpSpPr>
        <p:cxnSp>
          <p:nvCxnSpPr>
            <p:cNvPr id="44" name="Google Shape;44;p26"/>
            <p:cNvCxnSpPr/>
            <p:nvPr/>
          </p:nvCxnSpPr>
          <p:spPr>
            <a:xfrm flipH="1" rot="10800000">
              <a:off x="4828320" y="4242960"/>
              <a:ext cx="74520" cy="74520"/>
            </a:xfrm>
            <a:prstGeom prst="straightConnector1">
              <a:avLst/>
            </a:prstGeom>
            <a:noFill/>
            <a:ln cap="flat" cmpd="sng" w="9525">
              <a:solidFill>
                <a:srgbClr val="323232"/>
              </a:solidFill>
              <a:prstDash val="solid"/>
              <a:round/>
              <a:headEnd len="sm" w="sm" type="none"/>
              <a:tailEnd len="sm" w="sm" type="none"/>
            </a:ln>
          </p:spPr>
        </p:cxnSp>
        <p:cxnSp>
          <p:nvCxnSpPr>
            <p:cNvPr id="45" name="Google Shape;45;p26"/>
            <p:cNvCxnSpPr/>
            <p:nvPr/>
          </p:nvCxnSpPr>
          <p:spPr>
            <a:xfrm>
              <a:off x="4828320" y="4172760"/>
              <a:ext cx="76680" cy="77400"/>
            </a:xfrm>
            <a:prstGeom prst="straightConnector1">
              <a:avLst/>
            </a:prstGeom>
            <a:noFill/>
            <a:ln cap="flat" cmpd="sng" w="9525">
              <a:solidFill>
                <a:srgbClr val="323232"/>
              </a:solidFill>
              <a:prstDash val="solid"/>
              <a:round/>
              <a:headEnd len="sm" w="sm" type="none"/>
              <a:tailEnd len="sm" w="sm" type="none"/>
            </a:ln>
          </p:spPr>
        </p:cxnSp>
      </p:grpSp>
      <p:sp>
        <p:nvSpPr>
          <p:cNvPr id="46" name="Google Shape;46;p26"/>
          <p:cNvSpPr/>
          <p:nvPr/>
        </p:nvSpPr>
        <p:spPr>
          <a:xfrm>
            <a:off x="228600" y="4837680"/>
            <a:ext cx="45720" cy="45720"/>
          </a:xfrm>
          <a:prstGeom prst="ellipse">
            <a:avLst/>
          </a:prstGeom>
          <a:solidFill>
            <a:schemeClr val="lt1"/>
          </a:solidFill>
          <a:ln>
            <a:noFill/>
          </a:ln>
        </p:spPr>
        <p:txBody>
          <a:bodyPr anchorCtr="0" anchor="ctr" bIns="16200" lIns="90000" spcFirstLastPara="1" rIns="90000" wrap="square" tIns="162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 name="Google Shape;47;p26"/>
          <p:cNvSpPr/>
          <p:nvPr/>
        </p:nvSpPr>
        <p:spPr>
          <a:xfrm>
            <a:off x="4618800" y="4839120"/>
            <a:ext cx="42840" cy="42840"/>
          </a:xfrm>
          <a:prstGeom prst="rect">
            <a:avLst/>
          </a:prstGeom>
          <a:solidFill>
            <a:schemeClr val="lt1"/>
          </a:solidFill>
          <a:ln>
            <a:noFill/>
          </a:ln>
        </p:spPr>
        <p:txBody>
          <a:bodyPr anchorCtr="0" anchor="ctr" bIns="21600" lIns="90000" spcFirstLastPara="1" rIns="90000" wrap="square" tIns="216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9" name="Shape 49"/>
        <p:cNvGrpSpPr/>
        <p:nvPr/>
      </p:nvGrpSpPr>
      <p:grpSpPr>
        <a:xfrm>
          <a:off x="0" y="0"/>
          <a:ext cx="0" cy="0"/>
          <a:chOff x="0" y="0"/>
          <a:chExt cx="0" cy="0"/>
        </a:xfrm>
      </p:grpSpPr>
      <p:cxnSp>
        <p:nvCxnSpPr>
          <p:cNvPr id="50" name="Google Shape;50;p28"/>
          <p:cNvCxnSpPr/>
          <p:nvPr/>
        </p:nvCxnSpPr>
        <p:spPr>
          <a:xfrm>
            <a:off x="238680" y="4683240"/>
            <a:ext cx="8679960" cy="3240"/>
          </a:xfrm>
          <a:prstGeom prst="straightConnector1">
            <a:avLst/>
          </a:prstGeom>
          <a:noFill/>
          <a:ln cap="flat" cmpd="sng" w="9525">
            <a:solidFill>
              <a:srgbClr val="434343"/>
            </a:solidFill>
            <a:prstDash val="solid"/>
            <a:round/>
            <a:headEnd len="sm" w="sm" type="none"/>
            <a:tailEnd len="sm" w="sm" type="none"/>
          </a:ln>
        </p:spPr>
      </p:cxnSp>
      <p:sp>
        <p:nvSpPr>
          <p:cNvPr id="51" name="Google Shape;51;p28"/>
          <p:cNvSpPr/>
          <p:nvPr/>
        </p:nvSpPr>
        <p:spPr>
          <a:xfrm>
            <a:off x="228600" y="4837680"/>
            <a:ext cx="45720" cy="45720"/>
          </a:xfrm>
          <a:prstGeom prst="ellipse">
            <a:avLst/>
          </a:prstGeom>
          <a:solidFill>
            <a:schemeClr val="lt1"/>
          </a:solidFill>
          <a:ln>
            <a:noFill/>
          </a:ln>
        </p:spPr>
        <p:txBody>
          <a:bodyPr anchorCtr="0" anchor="ctr" bIns="16200" lIns="90000" spcFirstLastPara="1" rIns="90000" wrap="square" tIns="162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 name="Google Shape;52;p28"/>
          <p:cNvSpPr/>
          <p:nvPr/>
        </p:nvSpPr>
        <p:spPr>
          <a:xfrm>
            <a:off x="4618800" y="4839120"/>
            <a:ext cx="42840" cy="42840"/>
          </a:xfrm>
          <a:prstGeom prst="rect">
            <a:avLst/>
          </a:prstGeom>
          <a:solidFill>
            <a:schemeClr val="lt1"/>
          </a:solidFill>
          <a:ln>
            <a:noFill/>
          </a:ln>
        </p:spPr>
        <p:txBody>
          <a:bodyPr anchorCtr="0" anchor="ctr" bIns="21600" lIns="90000" spcFirstLastPara="1" rIns="90000" wrap="square" tIns="216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4" name="Shape 54"/>
        <p:cNvGrpSpPr/>
        <p:nvPr/>
      </p:nvGrpSpPr>
      <p:grpSpPr>
        <a:xfrm>
          <a:off x="0" y="0"/>
          <a:ext cx="0" cy="0"/>
          <a:chOff x="0" y="0"/>
          <a:chExt cx="0" cy="0"/>
        </a:xfrm>
      </p:grpSpPr>
      <p:cxnSp>
        <p:nvCxnSpPr>
          <p:cNvPr id="55" name="Google Shape;55;p30"/>
          <p:cNvCxnSpPr/>
          <p:nvPr/>
        </p:nvCxnSpPr>
        <p:spPr>
          <a:xfrm>
            <a:off x="228240" y="2061000"/>
            <a:ext cx="8690400" cy="3240"/>
          </a:xfrm>
          <a:prstGeom prst="straightConnector1">
            <a:avLst/>
          </a:prstGeom>
          <a:noFill/>
          <a:ln cap="flat" cmpd="sng" w="9525">
            <a:solidFill>
              <a:srgbClr val="323232"/>
            </a:solidFill>
            <a:prstDash val="solid"/>
            <a:round/>
            <a:headEnd len="sm" w="sm" type="none"/>
            <a:tailEnd len="sm" w="sm" type="none"/>
          </a:ln>
        </p:spPr>
      </p:cxnSp>
      <p:cxnSp>
        <p:nvCxnSpPr>
          <p:cNvPr id="56" name="Google Shape;56;p30"/>
          <p:cNvCxnSpPr/>
          <p:nvPr/>
        </p:nvCxnSpPr>
        <p:spPr>
          <a:xfrm>
            <a:off x="238680" y="4683240"/>
            <a:ext cx="8679960" cy="3240"/>
          </a:xfrm>
          <a:prstGeom prst="straightConnector1">
            <a:avLst/>
          </a:prstGeom>
          <a:noFill/>
          <a:ln cap="flat" cmpd="sng" w="9525">
            <a:solidFill>
              <a:srgbClr val="434343"/>
            </a:solidFill>
            <a:prstDash val="solid"/>
            <a:round/>
            <a:headEnd len="sm" w="sm" type="none"/>
            <a:tailEnd len="sm" w="sm" type="none"/>
          </a:ln>
        </p:spPr>
      </p:cxnSp>
      <p:sp>
        <p:nvSpPr>
          <p:cNvPr id="57" name="Google Shape;57;p30"/>
          <p:cNvSpPr/>
          <p:nvPr/>
        </p:nvSpPr>
        <p:spPr>
          <a:xfrm>
            <a:off x="228600" y="4837680"/>
            <a:ext cx="45720" cy="45720"/>
          </a:xfrm>
          <a:prstGeom prst="ellipse">
            <a:avLst/>
          </a:prstGeom>
          <a:solidFill>
            <a:schemeClr val="lt1"/>
          </a:solidFill>
          <a:ln>
            <a:noFill/>
          </a:ln>
        </p:spPr>
        <p:txBody>
          <a:bodyPr anchorCtr="0" anchor="ctr" bIns="16200" lIns="90000" spcFirstLastPara="1" rIns="90000" wrap="square" tIns="162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 name="Google Shape;58;p30"/>
          <p:cNvSpPr/>
          <p:nvPr/>
        </p:nvSpPr>
        <p:spPr>
          <a:xfrm>
            <a:off x="4618800" y="4839120"/>
            <a:ext cx="42840" cy="42840"/>
          </a:xfrm>
          <a:prstGeom prst="rect">
            <a:avLst/>
          </a:prstGeom>
          <a:solidFill>
            <a:schemeClr val="lt1"/>
          </a:solidFill>
          <a:ln>
            <a:noFill/>
          </a:ln>
        </p:spPr>
        <p:txBody>
          <a:bodyPr anchorCtr="0" anchor="ctr" bIns="21600" lIns="90000" spcFirstLastPara="1" rIns="90000" wrap="square" tIns="216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0" name="Shape 60"/>
        <p:cNvGrpSpPr/>
        <p:nvPr/>
      </p:nvGrpSpPr>
      <p:grpSpPr>
        <a:xfrm>
          <a:off x="0" y="0"/>
          <a:ext cx="0" cy="0"/>
          <a:chOff x="0" y="0"/>
          <a:chExt cx="0" cy="0"/>
        </a:xfrm>
      </p:grpSpPr>
      <p:cxnSp>
        <p:nvCxnSpPr>
          <p:cNvPr id="61" name="Google Shape;61;p32"/>
          <p:cNvCxnSpPr/>
          <p:nvPr/>
        </p:nvCxnSpPr>
        <p:spPr>
          <a:xfrm>
            <a:off x="238680" y="4683240"/>
            <a:ext cx="8679960" cy="3240"/>
          </a:xfrm>
          <a:prstGeom prst="straightConnector1">
            <a:avLst/>
          </a:prstGeom>
          <a:noFill/>
          <a:ln cap="flat" cmpd="sng" w="9525">
            <a:solidFill>
              <a:srgbClr val="434343"/>
            </a:solidFill>
            <a:prstDash val="solid"/>
            <a:round/>
            <a:headEnd len="sm" w="sm" type="none"/>
            <a:tailEnd len="sm" w="sm" type="none"/>
          </a:ln>
        </p:spPr>
      </p:cxnSp>
      <p:sp>
        <p:nvSpPr>
          <p:cNvPr id="62" name="Google Shape;62;p32"/>
          <p:cNvSpPr/>
          <p:nvPr/>
        </p:nvSpPr>
        <p:spPr>
          <a:xfrm>
            <a:off x="228600" y="1396080"/>
            <a:ext cx="2098080" cy="3050640"/>
          </a:xfrm>
          <a:prstGeom prst="roundRect">
            <a:avLst>
              <a:gd fmla="val 9631" name="adj"/>
            </a:avLst>
          </a:prstGeom>
          <a:solidFill>
            <a:schemeClr val="lt1"/>
          </a:solid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 name="Google Shape;63;p32"/>
          <p:cNvSpPr/>
          <p:nvPr/>
        </p:nvSpPr>
        <p:spPr>
          <a:xfrm>
            <a:off x="2423880" y="1396080"/>
            <a:ext cx="3195360" cy="3050640"/>
          </a:xfrm>
          <a:prstGeom prst="roundRect">
            <a:avLst>
              <a:gd fmla="val 6747" name="adj"/>
            </a:avLst>
          </a:prstGeom>
          <a:solidFill>
            <a:schemeClr val="lt2"/>
          </a:solid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4" name="Google Shape;64;p32"/>
          <p:cNvSpPr/>
          <p:nvPr/>
        </p:nvSpPr>
        <p:spPr>
          <a:xfrm>
            <a:off x="5716800" y="1396080"/>
            <a:ext cx="3195360" cy="1755000"/>
          </a:xfrm>
          <a:prstGeom prst="roundRect">
            <a:avLst>
              <a:gd fmla="val 9631" name="adj"/>
            </a:avLst>
          </a:prstGeom>
          <a:solidFill>
            <a:schemeClr val="lt2"/>
          </a:solid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65" name="Google Shape;65;p32"/>
          <p:cNvSpPr/>
          <p:nvPr/>
        </p:nvSpPr>
        <p:spPr>
          <a:xfrm>
            <a:off x="5716080" y="3231360"/>
            <a:ext cx="3195360" cy="1214280"/>
          </a:xfrm>
          <a:prstGeom prst="roundRect">
            <a:avLst>
              <a:gd fmla="val 13607" name="adj"/>
            </a:avLst>
          </a:prstGeom>
          <a:solidFill>
            <a:schemeClr val="lt2"/>
          </a:solid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cxnSp>
        <p:nvCxnSpPr>
          <p:cNvPr id="66" name="Google Shape;66;p32"/>
          <p:cNvCxnSpPr/>
          <p:nvPr/>
        </p:nvCxnSpPr>
        <p:spPr>
          <a:xfrm>
            <a:off x="2423520" y="2531160"/>
            <a:ext cx="3197520" cy="3240"/>
          </a:xfrm>
          <a:prstGeom prst="straightConnector1">
            <a:avLst/>
          </a:prstGeom>
          <a:noFill/>
          <a:ln cap="flat" cmpd="sng" w="9525">
            <a:solidFill>
              <a:srgbClr val="000000"/>
            </a:solidFill>
            <a:prstDash val="solid"/>
            <a:round/>
            <a:headEnd len="sm" w="sm" type="none"/>
            <a:tailEnd len="sm" w="sm" type="none"/>
          </a:ln>
        </p:spPr>
      </p:cxnSp>
      <p:cxnSp>
        <p:nvCxnSpPr>
          <p:cNvPr id="67" name="Google Shape;67;p32"/>
          <p:cNvCxnSpPr/>
          <p:nvPr/>
        </p:nvCxnSpPr>
        <p:spPr>
          <a:xfrm>
            <a:off x="2423520" y="3583440"/>
            <a:ext cx="3197520" cy="3240"/>
          </a:xfrm>
          <a:prstGeom prst="straightConnector1">
            <a:avLst/>
          </a:prstGeom>
          <a:noFill/>
          <a:ln cap="flat" cmpd="sng" w="9525">
            <a:solidFill>
              <a:srgbClr val="000000"/>
            </a:solidFill>
            <a:prstDash val="solid"/>
            <a:round/>
            <a:headEnd len="sm" w="sm" type="none"/>
            <a:tailEnd len="sm" w="sm" type="none"/>
          </a:ln>
        </p:spPr>
      </p:cxnSp>
      <p:sp>
        <p:nvSpPr>
          <p:cNvPr id="68" name="Google Shape;68;p32"/>
          <p:cNvSpPr/>
          <p:nvPr/>
        </p:nvSpPr>
        <p:spPr>
          <a:xfrm flipH="1">
            <a:off x="2597400" y="3993120"/>
            <a:ext cx="677880" cy="270360"/>
          </a:xfrm>
          <a:prstGeom prst="roundRect">
            <a:avLst>
              <a:gd fmla="val 50000" name="adj"/>
            </a:avLst>
          </a:prstGeom>
          <a:solidFill>
            <a:schemeClr val="accent3"/>
          </a:solid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 name="Google Shape;69;p32"/>
          <p:cNvSpPr/>
          <p:nvPr/>
        </p:nvSpPr>
        <p:spPr>
          <a:xfrm flipH="1">
            <a:off x="3651120" y="3993120"/>
            <a:ext cx="677880" cy="270360"/>
          </a:xfrm>
          <a:prstGeom prst="roundRect">
            <a:avLst>
              <a:gd fmla="val 50000" name="adj"/>
            </a:avLst>
          </a:prstGeom>
          <a:solidFill>
            <a:schemeClr val="accent3"/>
          </a:solid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 name="Google Shape;70;p32"/>
          <p:cNvSpPr/>
          <p:nvPr/>
        </p:nvSpPr>
        <p:spPr>
          <a:xfrm flipH="1">
            <a:off x="4599000" y="3993120"/>
            <a:ext cx="677880" cy="270360"/>
          </a:xfrm>
          <a:prstGeom prst="roundRect">
            <a:avLst>
              <a:gd fmla="val 50000" name="adj"/>
            </a:avLst>
          </a:prstGeom>
          <a:solidFill>
            <a:schemeClr val="accent3"/>
          </a:solid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 name="Google Shape;71;p32"/>
          <p:cNvSpPr/>
          <p:nvPr/>
        </p:nvSpPr>
        <p:spPr>
          <a:xfrm>
            <a:off x="228600" y="4837680"/>
            <a:ext cx="45720" cy="45720"/>
          </a:xfrm>
          <a:prstGeom prst="ellipse">
            <a:avLst/>
          </a:prstGeom>
          <a:solidFill>
            <a:schemeClr val="lt1"/>
          </a:solidFill>
          <a:ln>
            <a:noFill/>
          </a:ln>
        </p:spPr>
        <p:txBody>
          <a:bodyPr anchorCtr="0" anchor="ctr" bIns="16200" lIns="90000" spcFirstLastPara="1" rIns="90000" wrap="square" tIns="162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 name="Google Shape;72;p32"/>
          <p:cNvSpPr/>
          <p:nvPr/>
        </p:nvSpPr>
        <p:spPr>
          <a:xfrm>
            <a:off x="4618800" y="4839120"/>
            <a:ext cx="42840" cy="42840"/>
          </a:xfrm>
          <a:prstGeom prst="rect">
            <a:avLst/>
          </a:prstGeom>
          <a:solidFill>
            <a:schemeClr val="lt1"/>
          </a:solidFill>
          <a:ln>
            <a:noFill/>
          </a:ln>
        </p:spPr>
        <p:txBody>
          <a:bodyPr anchorCtr="0" anchor="ctr" bIns="21600" lIns="90000" spcFirstLastPara="1" rIns="90000" wrap="square" tIns="216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74" name="Shape 74"/>
        <p:cNvGrpSpPr/>
        <p:nvPr/>
      </p:nvGrpSpPr>
      <p:grpSpPr>
        <a:xfrm>
          <a:off x="0" y="0"/>
          <a:ext cx="0" cy="0"/>
          <a:chOff x="0" y="0"/>
          <a:chExt cx="0" cy="0"/>
        </a:xfrm>
      </p:grpSpPr>
      <p:cxnSp>
        <p:nvCxnSpPr>
          <p:cNvPr id="75" name="Google Shape;75;p34"/>
          <p:cNvCxnSpPr/>
          <p:nvPr/>
        </p:nvCxnSpPr>
        <p:spPr>
          <a:xfrm>
            <a:off x="238680" y="4683240"/>
            <a:ext cx="8679960" cy="3240"/>
          </a:xfrm>
          <a:prstGeom prst="straightConnector1">
            <a:avLst/>
          </a:prstGeom>
          <a:noFill/>
          <a:ln cap="flat" cmpd="sng" w="9525">
            <a:solidFill>
              <a:srgbClr val="434343"/>
            </a:solidFill>
            <a:prstDash val="solid"/>
            <a:round/>
            <a:headEnd len="sm" w="sm" type="none"/>
            <a:tailEnd len="sm" w="sm" type="none"/>
          </a:ln>
        </p:spPr>
      </p:cxnSp>
      <p:sp>
        <p:nvSpPr>
          <p:cNvPr id="76" name="Google Shape;76;p34"/>
          <p:cNvSpPr/>
          <p:nvPr/>
        </p:nvSpPr>
        <p:spPr>
          <a:xfrm>
            <a:off x="228600" y="4837680"/>
            <a:ext cx="45720" cy="45720"/>
          </a:xfrm>
          <a:prstGeom prst="ellipse">
            <a:avLst/>
          </a:prstGeom>
          <a:solidFill>
            <a:schemeClr val="lt1"/>
          </a:solidFill>
          <a:ln>
            <a:noFill/>
          </a:ln>
        </p:spPr>
        <p:txBody>
          <a:bodyPr anchorCtr="0" anchor="ctr" bIns="16200" lIns="90000" spcFirstLastPara="1" rIns="90000" wrap="square" tIns="162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 name="Google Shape;77;p34"/>
          <p:cNvSpPr/>
          <p:nvPr/>
        </p:nvSpPr>
        <p:spPr>
          <a:xfrm>
            <a:off x="4618800" y="4839120"/>
            <a:ext cx="42840" cy="42840"/>
          </a:xfrm>
          <a:prstGeom prst="rect">
            <a:avLst/>
          </a:prstGeom>
          <a:solidFill>
            <a:schemeClr val="lt1"/>
          </a:solidFill>
          <a:ln>
            <a:noFill/>
          </a:ln>
        </p:spPr>
        <p:txBody>
          <a:bodyPr anchorCtr="0" anchor="ctr" bIns="21600" lIns="90000" spcFirstLastPara="1" rIns="90000" wrap="square" tIns="216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79" name="Shape 79"/>
        <p:cNvGrpSpPr/>
        <p:nvPr/>
      </p:nvGrpSpPr>
      <p:grpSpPr>
        <a:xfrm>
          <a:off x="0" y="0"/>
          <a:ext cx="0" cy="0"/>
          <a:chOff x="0" y="0"/>
          <a:chExt cx="0" cy="0"/>
        </a:xfrm>
      </p:grpSpPr>
      <p:cxnSp>
        <p:nvCxnSpPr>
          <p:cNvPr id="80" name="Google Shape;80;p36"/>
          <p:cNvCxnSpPr/>
          <p:nvPr/>
        </p:nvCxnSpPr>
        <p:spPr>
          <a:xfrm>
            <a:off x="238680" y="4683240"/>
            <a:ext cx="8679960" cy="3240"/>
          </a:xfrm>
          <a:prstGeom prst="straightConnector1">
            <a:avLst/>
          </a:prstGeom>
          <a:noFill/>
          <a:ln cap="flat" cmpd="sng" w="9525">
            <a:solidFill>
              <a:srgbClr val="434343"/>
            </a:solidFill>
            <a:prstDash val="solid"/>
            <a:round/>
            <a:headEnd len="sm" w="sm" type="none"/>
            <a:tailEnd len="sm" w="sm" type="none"/>
          </a:ln>
        </p:spPr>
      </p:cxnSp>
      <p:sp>
        <p:nvSpPr>
          <p:cNvPr id="81" name="Google Shape;81;p36"/>
          <p:cNvSpPr/>
          <p:nvPr/>
        </p:nvSpPr>
        <p:spPr>
          <a:xfrm>
            <a:off x="228600" y="4837680"/>
            <a:ext cx="45720" cy="45720"/>
          </a:xfrm>
          <a:prstGeom prst="ellipse">
            <a:avLst/>
          </a:prstGeom>
          <a:solidFill>
            <a:schemeClr val="lt1"/>
          </a:solidFill>
          <a:ln>
            <a:noFill/>
          </a:ln>
        </p:spPr>
        <p:txBody>
          <a:bodyPr anchorCtr="0" anchor="ctr" bIns="16200" lIns="90000" spcFirstLastPara="1" rIns="90000" wrap="square" tIns="162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 name="Google Shape;82;p36"/>
          <p:cNvSpPr/>
          <p:nvPr/>
        </p:nvSpPr>
        <p:spPr>
          <a:xfrm>
            <a:off x="4618800" y="4839120"/>
            <a:ext cx="42840" cy="42840"/>
          </a:xfrm>
          <a:prstGeom prst="rect">
            <a:avLst/>
          </a:prstGeom>
          <a:solidFill>
            <a:schemeClr val="lt1"/>
          </a:solidFill>
          <a:ln>
            <a:noFill/>
          </a:ln>
        </p:spPr>
        <p:txBody>
          <a:bodyPr anchorCtr="0" anchor="ctr" bIns="21600" lIns="90000" spcFirstLastPara="1" rIns="90000" wrap="square" tIns="216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84" name="Shape 84"/>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86" name="Shape 86"/>
        <p:cNvGrpSpPr/>
        <p:nvPr/>
      </p:nvGrpSpPr>
      <p:grpSpPr>
        <a:xfrm>
          <a:off x="0" y="0"/>
          <a:ext cx="0" cy="0"/>
          <a:chOff x="0" y="0"/>
          <a:chExt cx="0" cy="0"/>
        </a:xfrm>
      </p:grpSpPr>
      <p:sp>
        <p:nvSpPr>
          <p:cNvPr id="87" name="Google Shape;87;p40"/>
          <p:cNvSpPr/>
          <p:nvPr/>
        </p:nvSpPr>
        <p:spPr>
          <a:xfrm>
            <a:off x="228600" y="4837680"/>
            <a:ext cx="45720" cy="45720"/>
          </a:xfrm>
          <a:prstGeom prst="ellipse">
            <a:avLst/>
          </a:prstGeom>
          <a:solidFill>
            <a:schemeClr val="lt1"/>
          </a:solidFill>
          <a:ln>
            <a:noFill/>
          </a:ln>
        </p:spPr>
        <p:txBody>
          <a:bodyPr anchorCtr="0" anchor="ctr" bIns="16200" lIns="90000" spcFirstLastPara="1" rIns="90000" wrap="square" tIns="162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 name="Google Shape;88;p40"/>
          <p:cNvSpPr/>
          <p:nvPr/>
        </p:nvSpPr>
        <p:spPr>
          <a:xfrm>
            <a:off x="4618800" y="4839120"/>
            <a:ext cx="42840" cy="42840"/>
          </a:xfrm>
          <a:prstGeom prst="rect">
            <a:avLst/>
          </a:prstGeom>
          <a:solidFill>
            <a:schemeClr val="lt1"/>
          </a:solidFill>
          <a:ln>
            <a:noFill/>
          </a:ln>
        </p:spPr>
        <p:txBody>
          <a:bodyPr anchorCtr="0" anchor="ctr" bIns="21600" lIns="90000" spcFirstLastPara="1" rIns="90000" wrap="square" tIns="216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89" name="Google Shape;89;p40"/>
          <p:cNvCxnSpPr/>
          <p:nvPr/>
        </p:nvCxnSpPr>
        <p:spPr>
          <a:xfrm>
            <a:off x="238680" y="4683240"/>
            <a:ext cx="8679960" cy="3240"/>
          </a:xfrm>
          <a:prstGeom prst="straightConnector1">
            <a:avLst/>
          </a:prstGeom>
          <a:noFill/>
          <a:ln cap="flat" cmpd="sng" w="9525">
            <a:solidFill>
              <a:srgbClr val="434343"/>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7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1" name="Shape 9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3" name="Shape 9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5" name="Shape 9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7" name="Shape 9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9" name="Shape 9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8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1" name="Shape 10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8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3" name="Shape 10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8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5" name="Shape 10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8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7" name="Shape 10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8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9" name="Shape 10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9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1" name="Shape 111"/>
        <p:cNvGrpSpPr/>
        <p:nvPr/>
      </p:nvGrpSpPr>
      <p:grpSpPr>
        <a:xfrm>
          <a:off x="0" y="0"/>
          <a:ext cx="0" cy="0"/>
          <a:chOff x="0" y="0"/>
          <a:chExt cx="0" cy="0"/>
        </a:xfrm>
      </p:grpSpPr>
      <p:sp>
        <p:nvSpPr>
          <p:cNvPr id="112" name="Google Shape;112;p62"/>
          <p:cNvSpPr/>
          <p:nvPr/>
        </p:nvSpPr>
        <p:spPr>
          <a:xfrm>
            <a:off x="228600" y="4837680"/>
            <a:ext cx="45720" cy="45720"/>
          </a:xfrm>
          <a:prstGeom prst="ellipse">
            <a:avLst/>
          </a:prstGeom>
          <a:solidFill>
            <a:schemeClr val="lt1"/>
          </a:solidFill>
          <a:ln>
            <a:noFill/>
          </a:ln>
        </p:spPr>
        <p:txBody>
          <a:bodyPr anchorCtr="0" anchor="ctr" bIns="16200" lIns="90000" spcFirstLastPara="1" rIns="90000" wrap="square" tIns="162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3" name="Google Shape;113;p62"/>
          <p:cNvSpPr/>
          <p:nvPr/>
        </p:nvSpPr>
        <p:spPr>
          <a:xfrm>
            <a:off x="4618800" y="4839120"/>
            <a:ext cx="42840" cy="42840"/>
          </a:xfrm>
          <a:prstGeom prst="rect">
            <a:avLst/>
          </a:prstGeom>
          <a:solidFill>
            <a:schemeClr val="lt1"/>
          </a:solidFill>
          <a:ln>
            <a:noFill/>
          </a:ln>
        </p:spPr>
        <p:txBody>
          <a:bodyPr anchorCtr="0" anchor="ctr" bIns="21600" lIns="90000" spcFirstLastPara="1" rIns="90000" wrap="square" tIns="216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114" name="Google Shape;114;p62"/>
          <p:cNvCxnSpPr/>
          <p:nvPr/>
        </p:nvCxnSpPr>
        <p:spPr>
          <a:xfrm>
            <a:off x="238680" y="4683240"/>
            <a:ext cx="8679960" cy="3240"/>
          </a:xfrm>
          <a:prstGeom prst="straightConnector1">
            <a:avLst/>
          </a:prstGeom>
          <a:noFill/>
          <a:ln cap="flat" cmpd="sng" w="9525">
            <a:solidFill>
              <a:srgbClr val="434343"/>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9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6" name="Shape 116"/>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9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8" name="Shape 118"/>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9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20" name="Shape 12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9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22" name="Shape 12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0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24" name="Shape 124"/>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0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grpSp>
        <p:nvGrpSpPr>
          <p:cNvPr id="130" name="Google Shape;130;p1"/>
          <p:cNvGrpSpPr/>
          <p:nvPr/>
        </p:nvGrpSpPr>
        <p:grpSpPr>
          <a:xfrm>
            <a:off x="228600" y="3127320"/>
            <a:ext cx="229680" cy="229680"/>
            <a:chOff x="228600" y="3127320"/>
            <a:chExt cx="229680" cy="229680"/>
          </a:xfrm>
        </p:grpSpPr>
        <p:sp>
          <p:nvSpPr>
            <p:cNvPr id="131" name="Google Shape;131;p1"/>
            <p:cNvSpPr/>
            <p:nvPr/>
          </p:nvSpPr>
          <p:spPr>
            <a:xfrm>
              <a:off x="228600" y="3127320"/>
              <a:ext cx="229680" cy="229680"/>
            </a:xfrm>
            <a:prstGeom prst="ellipse">
              <a:avLst/>
            </a:prstGeom>
            <a:noFill/>
            <a:ln cap="flat" cmpd="sng" w="9525">
              <a:solidFill>
                <a:srgbClr val="F5F5F5"/>
              </a:solidFill>
              <a:prstDash val="solid"/>
              <a:round/>
              <a:headEnd len="sm" w="sm" type="none"/>
              <a:tailEnd len="sm" w="sm" type="none"/>
            </a:ln>
          </p:spPr>
          <p:txBody>
            <a:bodyPr anchorCtr="0" anchor="ctr" bIns="81350" lIns="90000" spcFirstLastPara="1" rIns="90000" wrap="square" tIns="8135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grpSp>
          <p:nvGrpSpPr>
            <p:cNvPr id="132" name="Google Shape;132;p1"/>
            <p:cNvGrpSpPr/>
            <p:nvPr/>
          </p:nvGrpSpPr>
          <p:grpSpPr>
            <a:xfrm>
              <a:off x="286560" y="3224160"/>
              <a:ext cx="119880" cy="61560"/>
              <a:chOff x="286560" y="3224160"/>
              <a:chExt cx="119880" cy="61560"/>
            </a:xfrm>
          </p:grpSpPr>
          <p:cxnSp>
            <p:nvCxnSpPr>
              <p:cNvPr id="133" name="Google Shape;133;p1"/>
              <p:cNvCxnSpPr/>
              <p:nvPr/>
            </p:nvCxnSpPr>
            <p:spPr>
              <a:xfrm>
                <a:off x="286560" y="3224160"/>
                <a:ext cx="61560" cy="61560"/>
              </a:xfrm>
              <a:prstGeom prst="straightConnector1">
                <a:avLst/>
              </a:prstGeom>
              <a:noFill/>
              <a:ln cap="flat" cmpd="sng" w="9525">
                <a:solidFill>
                  <a:srgbClr val="F5F5F5"/>
                </a:solidFill>
                <a:prstDash val="solid"/>
                <a:round/>
                <a:headEnd len="sm" w="sm" type="none"/>
                <a:tailEnd len="sm" w="sm" type="none"/>
              </a:ln>
            </p:spPr>
          </p:cxnSp>
          <p:cxnSp>
            <p:nvCxnSpPr>
              <p:cNvPr id="134" name="Google Shape;134;p1"/>
              <p:cNvCxnSpPr/>
              <p:nvPr/>
            </p:nvCxnSpPr>
            <p:spPr>
              <a:xfrm flipH="1">
                <a:off x="344880" y="3224160"/>
                <a:ext cx="61560" cy="61560"/>
              </a:xfrm>
              <a:prstGeom prst="straightConnector1">
                <a:avLst/>
              </a:prstGeom>
              <a:noFill/>
              <a:ln cap="flat" cmpd="sng" w="9525">
                <a:solidFill>
                  <a:srgbClr val="F5F5F5"/>
                </a:solidFill>
                <a:prstDash val="solid"/>
                <a:round/>
                <a:headEnd len="sm" w="sm" type="none"/>
                <a:tailEnd len="sm" w="sm" type="none"/>
              </a:ln>
            </p:spPr>
          </p:cxnSp>
        </p:grpSp>
      </p:grpSp>
      <p:sp>
        <p:nvSpPr>
          <p:cNvPr id="135" name="Google Shape;135;p1"/>
          <p:cNvSpPr txBox="1"/>
          <p:nvPr>
            <p:ph idx="4294967295" type="title"/>
          </p:nvPr>
        </p:nvSpPr>
        <p:spPr>
          <a:xfrm>
            <a:off x="228600" y="228600"/>
            <a:ext cx="6655680" cy="141588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lt1"/>
              </a:buClr>
              <a:buSzPts val="4800"/>
              <a:buFont typeface="Urbanist Medium"/>
              <a:buNone/>
            </a:pPr>
            <a:r>
              <a:rPr b="0" i="0" lang="en-US" sz="4800" u="none" cap="none" strike="noStrike">
                <a:solidFill>
                  <a:schemeClr val="lt1"/>
                </a:solidFill>
                <a:latin typeface="Urbanist Medium"/>
                <a:ea typeface="Urbanist Medium"/>
                <a:cs typeface="Urbanist Medium"/>
                <a:sym typeface="Urbanist Medium"/>
              </a:rPr>
              <a:t>Mid Semester Review</a:t>
            </a:r>
            <a:endParaRPr b="0" i="0" sz="4800" u="none" cap="none" strike="noStrike">
              <a:solidFill>
                <a:srgbClr val="FFFFFF"/>
              </a:solidFill>
              <a:latin typeface="Arial"/>
              <a:ea typeface="Arial"/>
              <a:cs typeface="Arial"/>
              <a:sym typeface="Arial"/>
            </a:endParaRPr>
          </a:p>
        </p:txBody>
      </p:sp>
      <p:sp>
        <p:nvSpPr>
          <p:cNvPr id="136" name="Google Shape;136;p1"/>
          <p:cNvSpPr txBox="1"/>
          <p:nvPr>
            <p:ph idx="4294967295" type="subTitle"/>
          </p:nvPr>
        </p:nvSpPr>
        <p:spPr>
          <a:xfrm>
            <a:off x="228600" y="1738800"/>
            <a:ext cx="4399560" cy="248760"/>
          </a:xfrm>
          <a:prstGeom prst="rect">
            <a:avLst/>
          </a:prstGeom>
          <a:noFill/>
          <a:ln>
            <a:noFill/>
          </a:ln>
          <a:effectLst>
            <a:outerShdw blurRad="57240" rotWithShape="0" dir="5400000" dist="19080">
              <a:srgbClr val="000000">
                <a:alpha val="50196"/>
              </a:srgbClr>
            </a:outerShdw>
          </a:effectLst>
        </p:spPr>
        <p:txBody>
          <a:bodyPr anchorCtr="0" anchor="t" bIns="0" lIns="0" spcFirstLastPara="1" rIns="0" wrap="square" tIns="0">
            <a:noAutofit/>
          </a:bodyPr>
          <a:lstStyle/>
          <a:p>
            <a:pPr indent="0" lvl="0" marL="0" marR="0" rtl="0" algn="l">
              <a:lnSpc>
                <a:spcPct val="85000"/>
              </a:lnSpc>
              <a:spcBef>
                <a:spcPts val="0"/>
              </a:spcBef>
              <a:spcAft>
                <a:spcPts val="0"/>
              </a:spcAft>
              <a:buClr>
                <a:schemeClr val="lt1"/>
              </a:buClr>
              <a:buSzPts val="1200"/>
              <a:buFont typeface="Urbanist Medium"/>
              <a:buNone/>
            </a:pPr>
            <a:r>
              <a:rPr b="0" i="0" lang="en-US" sz="1400" u="none" cap="none" strike="noStrike">
                <a:solidFill>
                  <a:schemeClr val="lt1"/>
                </a:solidFill>
                <a:latin typeface="Urbanist Medium"/>
                <a:ea typeface="Urbanist Medium"/>
                <a:cs typeface="Urbanist Medium"/>
                <a:sym typeface="Urbanist Medium"/>
              </a:rPr>
              <a:t>Justin Le</a:t>
            </a:r>
            <a:endParaRPr b="0" i="0" sz="1400" u="none" cap="none" strike="noStrike">
              <a:solidFill>
                <a:srgbClr val="FFFFFF"/>
              </a:solidFill>
              <a:latin typeface="Arial"/>
              <a:ea typeface="Arial"/>
              <a:cs typeface="Arial"/>
              <a:sym typeface="Arial"/>
            </a:endParaRPr>
          </a:p>
        </p:txBody>
      </p:sp>
      <p:sp>
        <p:nvSpPr>
          <p:cNvPr id="137" name="Google Shape;137;p1"/>
          <p:cNvSpPr txBox="1"/>
          <p:nvPr>
            <p:ph idx="4294967295" type="subTitle"/>
          </p:nvPr>
        </p:nvSpPr>
        <p:spPr>
          <a:xfrm>
            <a:off x="228600" y="3454560"/>
            <a:ext cx="4656240" cy="248760"/>
          </a:xfrm>
          <a:prstGeom prst="rect">
            <a:avLst/>
          </a:prstGeom>
          <a:noFill/>
          <a:ln>
            <a:noFill/>
          </a:ln>
        </p:spPr>
        <p:txBody>
          <a:bodyPr anchorCtr="0" anchor="t" bIns="91425" lIns="0" spcFirstLastPara="1" rIns="91425" wrap="square" tIns="0">
            <a:noAutofit/>
          </a:bodyPr>
          <a:lstStyle/>
          <a:p>
            <a:pPr indent="0" lvl="0" marL="0" marR="0" rtl="0" algn="l">
              <a:lnSpc>
                <a:spcPct val="100000"/>
              </a:lnSpc>
              <a:spcBef>
                <a:spcPts val="0"/>
              </a:spcBef>
              <a:spcAft>
                <a:spcPts val="0"/>
              </a:spcAft>
              <a:buClr>
                <a:schemeClr val="lt1"/>
              </a:buClr>
              <a:buSzPts val="1200"/>
              <a:buFont typeface="Urbanist"/>
              <a:buNone/>
            </a:pPr>
            <a:r>
              <a:rPr b="1" i="0" lang="en-US" sz="1200" u="none" cap="none" strike="noStrike">
                <a:solidFill>
                  <a:schemeClr val="lt1"/>
                </a:solidFill>
                <a:latin typeface="Urbanist"/>
                <a:ea typeface="Urbanist"/>
                <a:cs typeface="Urbanist"/>
                <a:sym typeface="Urbanist"/>
              </a:rPr>
              <a:t>SWARM EX COMMs</a:t>
            </a:r>
            <a:endParaRPr b="0" i="0" sz="12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138" name="Google Shape;138;p1"/>
          <p:cNvSpPr txBox="1"/>
          <p:nvPr>
            <p:ph idx="4294967295" type="subTitle"/>
          </p:nvPr>
        </p:nvSpPr>
        <p:spPr>
          <a:xfrm>
            <a:off x="4716720" y="4676040"/>
            <a:ext cx="229140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SWARM EX COMMS Mid Semester Review</a:t>
            </a:r>
            <a:endParaRPr b="0" i="0" sz="700" u="none" cap="none" strike="noStrike">
              <a:solidFill>
                <a:srgbClr val="FFFFFF"/>
              </a:solidFill>
              <a:latin typeface="Arial"/>
              <a:ea typeface="Arial"/>
              <a:cs typeface="Arial"/>
              <a:sym typeface="Arial"/>
            </a:endParaRPr>
          </a:p>
        </p:txBody>
      </p:sp>
      <p:sp>
        <p:nvSpPr>
          <p:cNvPr id="139" name="Google Shape;139;p1"/>
          <p:cNvSpPr txBox="1"/>
          <p:nvPr>
            <p:ph idx="4294967295" type="subTitle"/>
          </p:nvPr>
        </p:nvSpPr>
        <p:spPr>
          <a:xfrm>
            <a:off x="6859080" y="4683600"/>
            <a:ext cx="2053440" cy="225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Fall 2026</a:t>
            </a:r>
            <a:endParaRPr b="0" i="0" sz="700" u="none" cap="none" strike="noStrike">
              <a:solidFill>
                <a:srgbClr val="FFFFFF"/>
              </a:solidFill>
              <a:latin typeface="Arial"/>
              <a:ea typeface="Arial"/>
              <a:cs typeface="Arial"/>
              <a:sym typeface="Arial"/>
            </a:endParaRPr>
          </a:p>
        </p:txBody>
      </p:sp>
      <p:sp>
        <p:nvSpPr>
          <p:cNvPr id="140" name="Google Shape;140;p1"/>
          <p:cNvSpPr txBox="1"/>
          <p:nvPr>
            <p:ph idx="4294967295" type="subTitle"/>
          </p:nvPr>
        </p:nvSpPr>
        <p:spPr>
          <a:xfrm>
            <a:off x="320760" y="4676040"/>
            <a:ext cx="269676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Justin Le</a:t>
            </a:r>
            <a:endParaRPr b="0" i="0" sz="700" u="none" cap="none" strike="noStrike">
              <a:solidFill>
                <a:srgbClr val="FFFFFF"/>
              </a:solidFill>
              <a:latin typeface="Arial"/>
              <a:ea typeface="Arial"/>
              <a:cs typeface="Arial"/>
              <a:sym typeface="Arial"/>
            </a:endParaRPr>
          </a:p>
        </p:txBody>
      </p:sp>
      <p:pic>
        <p:nvPicPr>
          <p:cNvPr id="141" name="Google Shape;141;p1"/>
          <p:cNvPicPr preferRelativeResize="0"/>
          <p:nvPr/>
        </p:nvPicPr>
        <p:blipFill rotWithShape="1">
          <a:blip r:embed="rId3">
            <a:alphaModFix/>
          </a:blip>
          <a:srcRect b="0" l="0" r="0" t="0"/>
          <a:stretch/>
        </p:blipFill>
        <p:spPr>
          <a:xfrm>
            <a:off x="4572000" y="1120320"/>
            <a:ext cx="2514600" cy="25372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
          <p:cNvSpPr txBox="1"/>
          <p:nvPr>
            <p:ph idx="4294967295" type="subTitle"/>
          </p:nvPr>
        </p:nvSpPr>
        <p:spPr>
          <a:xfrm>
            <a:off x="4716720" y="4676040"/>
            <a:ext cx="229140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SWARM EX COMMS Mid Semester Review</a:t>
            </a:r>
            <a:endParaRPr b="0" i="0" sz="700" u="none" cap="none" strike="noStrike">
              <a:solidFill>
                <a:srgbClr val="FFFFFF"/>
              </a:solidFill>
              <a:latin typeface="Arial"/>
              <a:ea typeface="Arial"/>
              <a:cs typeface="Arial"/>
              <a:sym typeface="Arial"/>
            </a:endParaRPr>
          </a:p>
        </p:txBody>
      </p:sp>
      <p:sp>
        <p:nvSpPr>
          <p:cNvPr id="147" name="Google Shape;147;p2"/>
          <p:cNvSpPr txBox="1"/>
          <p:nvPr>
            <p:ph idx="4294967295" type="subTitle"/>
          </p:nvPr>
        </p:nvSpPr>
        <p:spPr>
          <a:xfrm>
            <a:off x="6859080" y="4683600"/>
            <a:ext cx="2053440" cy="225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Fall 2026</a:t>
            </a:r>
            <a:endParaRPr b="0" i="0" sz="700" u="none" cap="none" strike="noStrike">
              <a:solidFill>
                <a:srgbClr val="FFFFFF"/>
              </a:solidFill>
              <a:latin typeface="Arial"/>
              <a:ea typeface="Arial"/>
              <a:cs typeface="Arial"/>
              <a:sym typeface="Arial"/>
            </a:endParaRPr>
          </a:p>
        </p:txBody>
      </p:sp>
      <p:sp>
        <p:nvSpPr>
          <p:cNvPr id="148" name="Google Shape;148;p2"/>
          <p:cNvSpPr txBox="1"/>
          <p:nvPr>
            <p:ph idx="4294967295" type="title"/>
          </p:nvPr>
        </p:nvSpPr>
        <p:spPr>
          <a:xfrm>
            <a:off x="228600" y="263880"/>
            <a:ext cx="6730920" cy="947520"/>
          </a:xfrm>
          <a:prstGeom prst="rect">
            <a:avLst/>
          </a:prstGeom>
          <a:noFill/>
          <a:ln>
            <a:noFill/>
          </a:ln>
        </p:spPr>
        <p:txBody>
          <a:bodyPr anchorCtr="0" anchor="t" bIns="91425" lIns="0" spcFirstLastPara="1" rIns="91425" wrap="square" tIns="0">
            <a:noAutofit/>
          </a:bodyPr>
          <a:lstStyle/>
          <a:p>
            <a:pPr indent="0" lvl="0" marL="0" marR="0" rtl="0" algn="l">
              <a:lnSpc>
                <a:spcPct val="85000"/>
              </a:lnSpc>
              <a:spcBef>
                <a:spcPts val="0"/>
              </a:spcBef>
              <a:spcAft>
                <a:spcPts val="0"/>
              </a:spcAft>
              <a:buClr>
                <a:schemeClr val="dk2"/>
              </a:buClr>
              <a:buSzPts val="3400"/>
              <a:buFont typeface="Urbanist Medium"/>
              <a:buNone/>
            </a:pPr>
            <a:r>
              <a:rPr b="0" i="0" lang="en-US" sz="3400" u="none" cap="none" strike="noStrike">
                <a:solidFill>
                  <a:schemeClr val="dk2"/>
                </a:solidFill>
                <a:latin typeface="Urbanist Medium"/>
                <a:ea typeface="Urbanist Medium"/>
                <a:cs typeface="Urbanist Medium"/>
                <a:sym typeface="Urbanist Medium"/>
              </a:rPr>
              <a:t>Original Plan and Milestones</a:t>
            </a:r>
            <a:endParaRPr b="0" i="0" sz="3400" u="none" cap="none" strike="noStrike">
              <a:solidFill>
                <a:srgbClr val="FFFFFF"/>
              </a:solidFill>
              <a:latin typeface="Arial"/>
              <a:ea typeface="Arial"/>
              <a:cs typeface="Arial"/>
              <a:sym typeface="Arial"/>
            </a:endParaRPr>
          </a:p>
        </p:txBody>
      </p:sp>
      <p:sp>
        <p:nvSpPr>
          <p:cNvPr id="149" name="Google Shape;149;p2"/>
          <p:cNvSpPr txBox="1"/>
          <p:nvPr>
            <p:ph idx="4294967295" type="subTitle"/>
          </p:nvPr>
        </p:nvSpPr>
        <p:spPr>
          <a:xfrm>
            <a:off x="320760" y="4676040"/>
            <a:ext cx="2696760" cy="23328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Justin Le</a:t>
            </a:r>
            <a:endParaRPr b="0" i="0" sz="700" u="none" cap="none" strike="noStrike">
              <a:solidFill>
                <a:srgbClr val="FFFFFF"/>
              </a:solidFill>
              <a:latin typeface="Arial"/>
              <a:ea typeface="Arial"/>
              <a:cs typeface="Arial"/>
              <a:sym typeface="Arial"/>
            </a:endParaRPr>
          </a:p>
        </p:txBody>
      </p:sp>
      <p:sp>
        <p:nvSpPr>
          <p:cNvPr id="150" name="Google Shape;150;p2"/>
          <p:cNvSpPr txBox="1"/>
          <p:nvPr>
            <p:ph idx="4294967295" type="title"/>
          </p:nvPr>
        </p:nvSpPr>
        <p:spPr>
          <a:xfrm>
            <a:off x="277200" y="963720"/>
            <a:ext cx="6134760" cy="3531240"/>
          </a:xfrm>
          <a:prstGeom prst="rect">
            <a:avLst/>
          </a:prstGeom>
          <a:noFill/>
          <a:ln>
            <a:noFill/>
          </a:ln>
        </p:spPr>
        <p:txBody>
          <a:bodyPr anchorCtr="0" anchor="t" bIns="91425" lIns="0" spcFirstLastPara="1" rIns="91425" wrap="square" tIns="0">
            <a:noAutofit/>
          </a:bodyPr>
          <a:lstStyle/>
          <a:p>
            <a:pPr indent="-349200" lvl="0" marL="457200" marR="0" rtl="0" algn="l">
              <a:lnSpc>
                <a:spcPct val="85000"/>
              </a:lnSpc>
              <a:spcBef>
                <a:spcPts val="0"/>
              </a:spcBef>
              <a:spcAft>
                <a:spcPts val="0"/>
              </a:spcAft>
              <a:buClr>
                <a:srgbClr val="DEFF9A"/>
              </a:buClr>
              <a:buSzPts val="1900"/>
              <a:buFont typeface="Urbanist Medium"/>
              <a:buChar char="●"/>
            </a:pPr>
            <a:r>
              <a:rPr b="0" i="0" lang="en-US" sz="1900" u="none" cap="none" strike="noStrike">
                <a:solidFill>
                  <a:schemeClr val="dk2"/>
                </a:solidFill>
                <a:latin typeface="Urbanist Medium"/>
                <a:ea typeface="Urbanist Medium"/>
                <a:cs typeface="Urbanist Medium"/>
                <a:sym typeface="Urbanist Medium"/>
              </a:rPr>
              <a:t>COMMs Lead for the semester</a:t>
            </a:r>
            <a:endParaRPr b="0" i="0" sz="1900" u="none" cap="none" strike="noStrike">
              <a:solidFill>
                <a:srgbClr val="FFFFFF"/>
              </a:solidFill>
              <a:latin typeface="Arial"/>
              <a:ea typeface="Arial"/>
              <a:cs typeface="Arial"/>
              <a:sym typeface="Arial"/>
            </a:endParaRPr>
          </a:p>
          <a:p>
            <a:pPr indent="-349200" lvl="1" marL="914400" marR="0" rtl="0" algn="l">
              <a:lnSpc>
                <a:spcPct val="85000"/>
              </a:lnSpc>
              <a:spcBef>
                <a:spcPts val="0"/>
              </a:spcBef>
              <a:spcAft>
                <a:spcPts val="0"/>
              </a:spcAft>
              <a:buClr>
                <a:srgbClr val="DEFF9A"/>
              </a:buClr>
              <a:buSzPts val="1900"/>
              <a:buFont typeface="Urbanist"/>
              <a:buChar char="○"/>
            </a:pPr>
            <a:r>
              <a:rPr b="0" i="0" lang="en-US" sz="1900" u="none" cap="none" strike="noStrike">
                <a:solidFill>
                  <a:schemeClr val="dk2"/>
                </a:solidFill>
                <a:latin typeface="Urbanist"/>
                <a:ea typeface="Urbanist"/>
                <a:cs typeface="Urbanist"/>
                <a:sym typeface="Urbanist"/>
              </a:rPr>
              <a:t>managing and tracking COMMs work</a:t>
            </a:r>
            <a:endParaRPr b="0" i="0" sz="1900" u="none" cap="none" strike="noStrike">
              <a:solidFill>
                <a:srgbClr val="FFFFFF"/>
              </a:solidFill>
              <a:latin typeface="Arial"/>
              <a:ea typeface="Arial"/>
              <a:cs typeface="Arial"/>
              <a:sym typeface="Arial"/>
            </a:endParaRPr>
          </a:p>
          <a:p>
            <a:pPr indent="-349200" lvl="1" marL="914400" marR="0" rtl="0" algn="l">
              <a:lnSpc>
                <a:spcPct val="85000"/>
              </a:lnSpc>
              <a:spcBef>
                <a:spcPts val="0"/>
              </a:spcBef>
              <a:spcAft>
                <a:spcPts val="0"/>
              </a:spcAft>
              <a:buClr>
                <a:srgbClr val="DEFF9A"/>
              </a:buClr>
              <a:buSzPts val="1900"/>
              <a:buFont typeface="Urbanist"/>
              <a:buChar char="○"/>
            </a:pPr>
            <a:r>
              <a:rPr b="0" i="0" lang="en-US" sz="1900" u="none" cap="none" strike="noStrike">
                <a:solidFill>
                  <a:schemeClr val="dk2"/>
                </a:solidFill>
                <a:latin typeface="Urbanist"/>
                <a:ea typeface="Urbanist"/>
                <a:cs typeface="Urbanist"/>
                <a:sym typeface="Urbanist"/>
              </a:rPr>
              <a:t>monitoring ground station bring-up</a:t>
            </a:r>
            <a:endParaRPr b="0" i="0" sz="1900" u="none" cap="none" strike="noStrike">
              <a:solidFill>
                <a:srgbClr val="FFFFFF"/>
              </a:solidFill>
              <a:latin typeface="Arial"/>
              <a:ea typeface="Arial"/>
              <a:cs typeface="Arial"/>
              <a:sym typeface="Arial"/>
            </a:endParaRPr>
          </a:p>
          <a:p>
            <a:pPr indent="-349200" lvl="0" marL="457200" marR="0" rtl="0" algn="l">
              <a:lnSpc>
                <a:spcPct val="85000"/>
              </a:lnSpc>
              <a:spcBef>
                <a:spcPts val="0"/>
              </a:spcBef>
              <a:spcAft>
                <a:spcPts val="0"/>
              </a:spcAft>
              <a:buClr>
                <a:srgbClr val="DEFF9A"/>
              </a:buClr>
              <a:buSzPts val="1900"/>
              <a:buFont typeface="Urbanist Medium"/>
              <a:buChar char="●"/>
            </a:pPr>
            <a:r>
              <a:rPr b="0" i="0" lang="en-US" sz="1900" u="none" cap="none" strike="noStrike">
                <a:solidFill>
                  <a:schemeClr val="dk2"/>
                </a:solidFill>
                <a:latin typeface="Urbanist Medium"/>
                <a:ea typeface="Urbanist Medium"/>
                <a:cs typeface="Urbanist Medium"/>
                <a:sym typeface="Urbanist Medium"/>
              </a:rPr>
              <a:t>Work towards Simulated Comms Test (SCT) 2 with Lithium 2 radio and Software Defined Radio in the loop</a:t>
            </a:r>
            <a:endParaRPr b="0" i="0" sz="1900" u="none" cap="none" strike="noStrike">
              <a:solidFill>
                <a:srgbClr val="FFFFFF"/>
              </a:solidFill>
              <a:latin typeface="Arial"/>
              <a:ea typeface="Arial"/>
              <a:cs typeface="Arial"/>
              <a:sym typeface="Arial"/>
            </a:endParaRPr>
          </a:p>
          <a:p>
            <a:pPr indent="-349200" lvl="1" marL="914400" marR="0" rtl="0" algn="l">
              <a:lnSpc>
                <a:spcPct val="85000"/>
              </a:lnSpc>
              <a:spcBef>
                <a:spcPts val="0"/>
              </a:spcBef>
              <a:spcAft>
                <a:spcPts val="0"/>
              </a:spcAft>
              <a:buClr>
                <a:srgbClr val="DEFF9A"/>
              </a:buClr>
              <a:buSzPts val="1900"/>
              <a:buFont typeface="Urbanist"/>
              <a:buChar char="○"/>
            </a:pPr>
            <a:r>
              <a:rPr b="0" i="0" lang="en-US" sz="1900" u="none" cap="none" strike="noStrike">
                <a:solidFill>
                  <a:schemeClr val="dk2"/>
                </a:solidFill>
                <a:latin typeface="Urbanist"/>
                <a:ea typeface="Urbanist"/>
                <a:cs typeface="Urbanist"/>
                <a:sym typeface="Urbanist"/>
              </a:rPr>
              <a:t>Re-running Minimum Communication Test</a:t>
            </a:r>
            <a:endParaRPr b="0" i="0" sz="1900" u="none" cap="none" strike="noStrike">
              <a:solidFill>
                <a:srgbClr val="FFFFFF"/>
              </a:solidFill>
              <a:latin typeface="Arial"/>
              <a:ea typeface="Arial"/>
              <a:cs typeface="Arial"/>
              <a:sym typeface="Arial"/>
            </a:endParaRPr>
          </a:p>
          <a:p>
            <a:pPr indent="-349200" lvl="1" marL="914400" marR="0" rtl="0" algn="l">
              <a:lnSpc>
                <a:spcPct val="85000"/>
              </a:lnSpc>
              <a:spcBef>
                <a:spcPts val="0"/>
              </a:spcBef>
              <a:spcAft>
                <a:spcPts val="0"/>
              </a:spcAft>
              <a:buClr>
                <a:srgbClr val="DEFF9A"/>
              </a:buClr>
              <a:buSzPts val="1900"/>
              <a:buFont typeface="Urbanist"/>
              <a:buChar char="○"/>
            </a:pPr>
            <a:r>
              <a:rPr b="0" i="0" lang="en-US" sz="1900" u="none" cap="none" strike="noStrike">
                <a:solidFill>
                  <a:schemeClr val="dk2"/>
                </a:solidFill>
                <a:latin typeface="Urbanist"/>
                <a:ea typeface="Urbanist"/>
                <a:cs typeface="Urbanist"/>
                <a:sym typeface="Urbanist"/>
              </a:rPr>
              <a:t>Re-running SCT-1</a:t>
            </a:r>
            <a:endParaRPr b="0" i="0" sz="1900" u="none" cap="none" strike="noStrike">
              <a:solidFill>
                <a:srgbClr val="FFFFFF"/>
              </a:solidFill>
              <a:latin typeface="Arial"/>
              <a:ea typeface="Arial"/>
              <a:cs typeface="Arial"/>
              <a:sym typeface="Arial"/>
            </a:endParaRPr>
          </a:p>
          <a:p>
            <a:pPr indent="-349200" lvl="1" marL="914400" marR="0" rtl="0" algn="l">
              <a:lnSpc>
                <a:spcPct val="85000"/>
              </a:lnSpc>
              <a:spcBef>
                <a:spcPts val="0"/>
              </a:spcBef>
              <a:spcAft>
                <a:spcPts val="0"/>
              </a:spcAft>
              <a:buClr>
                <a:srgbClr val="DEFF9A"/>
              </a:buClr>
              <a:buSzPts val="1900"/>
              <a:buFont typeface="Urbanist"/>
              <a:buChar char="○"/>
            </a:pPr>
            <a:r>
              <a:rPr b="0" i="0" lang="en-US" sz="1900" u="none" cap="none" strike="noStrike">
                <a:solidFill>
                  <a:schemeClr val="dk2"/>
                </a:solidFill>
                <a:latin typeface="Urbanist"/>
                <a:ea typeface="Urbanist"/>
                <a:cs typeface="Urbanist"/>
                <a:sym typeface="Urbanist"/>
              </a:rPr>
              <a:t>Running SCT-2</a:t>
            </a:r>
            <a:endParaRPr b="0" i="0" sz="1900" u="none" cap="none" strike="noStrike">
              <a:solidFill>
                <a:srgbClr val="FFFFFF"/>
              </a:solidFill>
              <a:latin typeface="Arial"/>
              <a:ea typeface="Arial"/>
              <a:cs typeface="Arial"/>
              <a:sym typeface="Arial"/>
            </a:endParaRPr>
          </a:p>
          <a:p>
            <a:pPr indent="-349200" lvl="0" marL="457200" marR="0" rtl="0" algn="l">
              <a:lnSpc>
                <a:spcPct val="85000"/>
              </a:lnSpc>
              <a:spcBef>
                <a:spcPts val="0"/>
              </a:spcBef>
              <a:spcAft>
                <a:spcPts val="0"/>
              </a:spcAft>
              <a:buClr>
                <a:srgbClr val="DEFF9A"/>
              </a:buClr>
              <a:buSzPts val="1900"/>
              <a:buFont typeface="Urbanist Medium"/>
              <a:buChar char="●"/>
            </a:pPr>
            <a:r>
              <a:rPr b="0" i="0" lang="en-US" sz="1900" u="none" cap="none" strike="noStrike">
                <a:solidFill>
                  <a:schemeClr val="dk2"/>
                </a:solidFill>
                <a:latin typeface="Urbanist Medium"/>
                <a:ea typeface="Urbanist Medium"/>
                <a:cs typeface="Urbanist Medium"/>
                <a:sym typeface="Urbanist Medium"/>
              </a:rPr>
              <a:t>Setting up Ground Station PC</a:t>
            </a:r>
            <a:endParaRPr b="0" i="0" sz="1900" u="none" cap="none" strike="noStrike">
              <a:solidFill>
                <a:srgbClr val="FFFFFF"/>
              </a:solidFill>
              <a:latin typeface="Arial"/>
              <a:ea typeface="Arial"/>
              <a:cs typeface="Arial"/>
              <a:sym typeface="Arial"/>
            </a:endParaRPr>
          </a:p>
          <a:p>
            <a:pPr indent="-349200" lvl="1" marL="914400" marR="0" rtl="0" algn="l">
              <a:lnSpc>
                <a:spcPct val="85000"/>
              </a:lnSpc>
              <a:spcBef>
                <a:spcPts val="0"/>
              </a:spcBef>
              <a:spcAft>
                <a:spcPts val="0"/>
              </a:spcAft>
              <a:buClr>
                <a:srgbClr val="DEFF9A"/>
              </a:buClr>
              <a:buSzPts val="1900"/>
              <a:buFont typeface="Urbanist"/>
              <a:buChar char="○"/>
            </a:pPr>
            <a:r>
              <a:rPr b="0" i="0" lang="en-US" sz="1900" u="none" cap="none" strike="noStrike">
                <a:solidFill>
                  <a:schemeClr val="dk2"/>
                </a:solidFill>
                <a:latin typeface="Urbanist"/>
                <a:ea typeface="Urbanist"/>
                <a:cs typeface="Urbanist"/>
                <a:sym typeface="Urbanist"/>
              </a:rPr>
              <a:t>implementing 2 machines, one Windows for Hydra, one Ubuntu 16 for GNU Radio</a:t>
            </a:r>
            <a:endParaRPr b="0" i="0" sz="1900" u="none" cap="none" strike="noStrike">
              <a:solidFill>
                <a:srgbClr val="FFFFFF"/>
              </a:solidFill>
              <a:latin typeface="Arial"/>
              <a:ea typeface="Arial"/>
              <a:cs typeface="Arial"/>
              <a:sym typeface="Arial"/>
            </a:endParaRPr>
          </a:p>
          <a:p>
            <a:pPr indent="-349200" lvl="1" marL="914400" marR="0" rtl="0" algn="l">
              <a:lnSpc>
                <a:spcPct val="85000"/>
              </a:lnSpc>
              <a:spcBef>
                <a:spcPts val="0"/>
              </a:spcBef>
              <a:spcAft>
                <a:spcPts val="0"/>
              </a:spcAft>
              <a:buClr>
                <a:srgbClr val="DEFF9A"/>
              </a:buClr>
              <a:buSzPts val="1900"/>
              <a:buFont typeface="Urbanist"/>
              <a:buChar char="○"/>
            </a:pPr>
            <a:r>
              <a:rPr b="0" i="0" lang="en-US" sz="1900" u="none" cap="none" strike="noStrike">
                <a:solidFill>
                  <a:schemeClr val="dk2"/>
                </a:solidFill>
                <a:latin typeface="Urbanist"/>
                <a:ea typeface="Urbanist"/>
                <a:cs typeface="Urbanist"/>
                <a:sym typeface="Urbanist"/>
              </a:rPr>
              <a:t>verifying the setup in the Ground Station Chain</a:t>
            </a:r>
            <a:endParaRPr b="0" i="0" sz="1900" u="none" cap="none" strike="noStrike">
              <a:solidFill>
                <a:srgbClr val="FFFFFF"/>
              </a:solidFill>
              <a:latin typeface="Arial"/>
              <a:ea typeface="Arial"/>
              <a:cs typeface="Arial"/>
              <a:sym typeface="Arial"/>
            </a:endParaRPr>
          </a:p>
        </p:txBody>
      </p:sp>
      <p:sp>
        <p:nvSpPr>
          <p:cNvPr id="151" name="Google Shape;151;p2"/>
          <p:cNvSpPr/>
          <p:nvPr/>
        </p:nvSpPr>
        <p:spPr>
          <a:xfrm>
            <a:off x="6584055" y="425640"/>
            <a:ext cx="2328600" cy="1999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chemeClr val="dk2"/>
                </a:solidFill>
                <a:latin typeface="Urbanist SemiBold"/>
                <a:ea typeface="Urbanist SemiBold"/>
                <a:cs typeface="Urbanist SemiBold"/>
                <a:sym typeface="Urbanist SemiBold"/>
              </a:rPr>
              <a:t>Personal goals</a:t>
            </a:r>
            <a:endParaRPr b="0" i="0" sz="1300" u="none" cap="none" strike="noStrike">
              <a:solidFill>
                <a:srgbClr val="FFFFFF"/>
              </a:solidFill>
              <a:latin typeface="Arial"/>
              <a:ea typeface="Arial"/>
              <a:cs typeface="Arial"/>
              <a:sym typeface="Arial"/>
            </a:endParaRPr>
          </a:p>
          <a:p>
            <a:pPr indent="-152281" lvl="0" marL="152281" marR="0" rtl="0" algn="l">
              <a:lnSpc>
                <a:spcPct val="100000"/>
              </a:lnSpc>
              <a:spcBef>
                <a:spcPts val="400"/>
              </a:spcBef>
              <a:spcAft>
                <a:spcPts val="0"/>
              </a:spcAft>
              <a:buClr>
                <a:srgbClr val="DEFF9A"/>
              </a:buClr>
              <a:buSzPts val="1100"/>
              <a:buFont typeface="Arial"/>
              <a:buChar char="•"/>
            </a:pPr>
            <a:r>
              <a:rPr b="0" i="0" lang="en-US" sz="1100" u="none" cap="none" strike="noStrike">
                <a:solidFill>
                  <a:schemeClr val="dk2"/>
                </a:solidFill>
                <a:latin typeface="Urbanist"/>
                <a:ea typeface="Urbanist"/>
                <a:cs typeface="Urbanist"/>
                <a:sym typeface="Urbanist"/>
              </a:rPr>
              <a:t>Develop in Hydra</a:t>
            </a:r>
            <a:endParaRPr b="0" i="0" sz="1100" u="none" cap="none" strike="noStrike">
              <a:solidFill>
                <a:schemeClr val="dk2"/>
              </a:solidFill>
              <a:latin typeface="Urbanist"/>
              <a:ea typeface="Urbanist"/>
              <a:cs typeface="Urbanist"/>
              <a:sym typeface="Urbanist"/>
            </a:endParaRPr>
          </a:p>
          <a:p>
            <a:pPr indent="-152281" lvl="0" marL="152281" rtl="0" algn="l">
              <a:spcBef>
                <a:spcPts val="400"/>
              </a:spcBef>
              <a:spcAft>
                <a:spcPts val="0"/>
              </a:spcAft>
              <a:buClr>
                <a:schemeClr val="accent3"/>
              </a:buClr>
              <a:buSzPts val="1100"/>
              <a:buChar char="•"/>
            </a:pPr>
            <a:r>
              <a:rPr lang="en-US" sz="1100">
                <a:solidFill>
                  <a:schemeClr val="dk2"/>
                </a:solidFill>
                <a:latin typeface="Urbanist"/>
                <a:ea typeface="Urbanist"/>
                <a:cs typeface="Urbanist"/>
                <a:sym typeface="Urbanist"/>
              </a:rPr>
              <a:t>Develop in MPLAB for CDH</a:t>
            </a:r>
            <a:endParaRPr sz="1100">
              <a:solidFill>
                <a:schemeClr val="dk2"/>
              </a:solidFill>
              <a:latin typeface="Urbanist"/>
              <a:ea typeface="Urbanist"/>
              <a:cs typeface="Urbanist"/>
              <a:sym typeface="Urbanist"/>
            </a:endParaRPr>
          </a:p>
          <a:p>
            <a:pPr indent="-152280" lvl="0" marL="152280" marR="0" rtl="0" algn="l">
              <a:lnSpc>
                <a:spcPct val="100000"/>
              </a:lnSpc>
              <a:spcBef>
                <a:spcPts val="400"/>
              </a:spcBef>
              <a:spcAft>
                <a:spcPts val="0"/>
              </a:spcAft>
              <a:buClr>
                <a:srgbClr val="DEFF9A"/>
              </a:buClr>
              <a:buSzPts val="1100"/>
              <a:buFont typeface="Arial"/>
              <a:buChar char="•"/>
            </a:pPr>
            <a:r>
              <a:rPr b="0" i="0" lang="en-US" sz="1100" u="none" cap="none" strike="noStrike">
                <a:solidFill>
                  <a:schemeClr val="dk2"/>
                </a:solidFill>
                <a:latin typeface="Urbanist"/>
                <a:ea typeface="Urbanist"/>
                <a:cs typeface="Urbanist"/>
                <a:sym typeface="Urbanist"/>
              </a:rPr>
              <a:t>Understand the packet chain end to end for the Lithium</a:t>
            </a:r>
            <a:endParaRPr b="0" i="0" sz="1100" u="none" cap="none" strike="noStrike">
              <a:solidFill>
                <a:srgbClr val="FFFFFF"/>
              </a:solidFill>
              <a:latin typeface="Arial"/>
              <a:ea typeface="Arial"/>
              <a:cs typeface="Arial"/>
              <a:sym typeface="Arial"/>
            </a:endParaRPr>
          </a:p>
          <a:p>
            <a:pPr indent="-152280" lvl="0" marL="152280" marR="0" rtl="0" algn="l">
              <a:lnSpc>
                <a:spcPct val="100000"/>
              </a:lnSpc>
              <a:spcBef>
                <a:spcPts val="400"/>
              </a:spcBef>
              <a:spcAft>
                <a:spcPts val="0"/>
              </a:spcAft>
              <a:buClr>
                <a:srgbClr val="DEFF9A"/>
              </a:buClr>
              <a:buSzPts val="1100"/>
              <a:buFont typeface="Arial"/>
              <a:buChar char="•"/>
            </a:pPr>
            <a:r>
              <a:rPr b="0" i="0" lang="en-US" sz="1100" u="none" cap="none" strike="noStrike">
                <a:solidFill>
                  <a:schemeClr val="dk2"/>
                </a:solidFill>
                <a:latin typeface="Urbanist"/>
                <a:ea typeface="Urbanist"/>
                <a:cs typeface="Urbanist"/>
                <a:sym typeface="Urbanist"/>
              </a:rPr>
              <a:t>Embedded </a:t>
            </a:r>
            <a:r>
              <a:rPr lang="en-US" sz="1100">
                <a:solidFill>
                  <a:schemeClr val="dk2"/>
                </a:solidFill>
                <a:latin typeface="Urbanist"/>
                <a:ea typeface="Urbanist"/>
                <a:cs typeface="Urbanist"/>
                <a:sym typeface="Urbanist"/>
              </a:rPr>
              <a:t>software</a:t>
            </a:r>
            <a:r>
              <a:rPr b="0" i="0" lang="en-US" sz="1100" u="none" cap="none" strike="noStrike">
                <a:solidFill>
                  <a:schemeClr val="dk2"/>
                </a:solidFill>
                <a:latin typeface="Urbanist"/>
                <a:ea typeface="Urbanist"/>
                <a:cs typeface="Urbanist"/>
                <a:sym typeface="Urbanist"/>
              </a:rPr>
              <a:t> skills</a:t>
            </a:r>
            <a:endParaRPr b="0" i="0" sz="1100" u="none" cap="none" strike="noStrike">
              <a:solidFill>
                <a:srgbClr val="FFFFFF"/>
              </a:solidFill>
              <a:latin typeface="Arial"/>
              <a:ea typeface="Arial"/>
              <a:cs typeface="Arial"/>
              <a:sym typeface="Arial"/>
            </a:endParaRPr>
          </a:p>
          <a:p>
            <a:pPr indent="-152280" lvl="0" marL="152280" marR="0" rtl="0" algn="l">
              <a:lnSpc>
                <a:spcPct val="100000"/>
              </a:lnSpc>
              <a:spcBef>
                <a:spcPts val="400"/>
              </a:spcBef>
              <a:spcAft>
                <a:spcPts val="0"/>
              </a:spcAft>
              <a:buClr>
                <a:srgbClr val="DEFF9A"/>
              </a:buClr>
              <a:buSzPts val="1100"/>
              <a:buFont typeface="Arial"/>
              <a:buChar char="•"/>
            </a:pPr>
            <a:r>
              <a:rPr b="0" i="0" lang="en-US" sz="1100" u="none" cap="none" strike="noStrike">
                <a:solidFill>
                  <a:schemeClr val="dk2"/>
                </a:solidFill>
                <a:latin typeface="Urbanist"/>
                <a:ea typeface="Urbanist"/>
                <a:cs typeface="Urbanist"/>
                <a:sym typeface="Urbanist"/>
              </a:rPr>
              <a:t>Scope and track team work</a:t>
            </a:r>
            <a:endParaRPr b="0" i="0" sz="1100" u="none" cap="none" strike="noStrike">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txBox="1"/>
          <p:nvPr>
            <p:ph idx="4294967295" type="subTitle"/>
          </p:nvPr>
        </p:nvSpPr>
        <p:spPr>
          <a:xfrm>
            <a:off x="4716720" y="4676040"/>
            <a:ext cx="229140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SWARM EX COMMS Mid Semester Review</a:t>
            </a:r>
            <a:endParaRPr b="0" i="0" sz="700" u="none" cap="none" strike="noStrike">
              <a:solidFill>
                <a:srgbClr val="FFFFFF"/>
              </a:solidFill>
              <a:latin typeface="Arial"/>
              <a:ea typeface="Arial"/>
              <a:cs typeface="Arial"/>
              <a:sym typeface="Arial"/>
            </a:endParaRPr>
          </a:p>
        </p:txBody>
      </p:sp>
      <p:sp>
        <p:nvSpPr>
          <p:cNvPr id="157" name="Google Shape;157;p3"/>
          <p:cNvSpPr txBox="1"/>
          <p:nvPr>
            <p:ph idx="4294967295" type="subTitle"/>
          </p:nvPr>
        </p:nvSpPr>
        <p:spPr>
          <a:xfrm>
            <a:off x="6859080" y="4683600"/>
            <a:ext cx="2053440" cy="225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Fall 2026</a:t>
            </a:r>
            <a:endParaRPr b="0" i="0" sz="700" u="none" cap="none" strike="noStrike">
              <a:solidFill>
                <a:srgbClr val="FFFFFF"/>
              </a:solidFill>
              <a:latin typeface="Arial"/>
              <a:ea typeface="Arial"/>
              <a:cs typeface="Arial"/>
              <a:sym typeface="Arial"/>
            </a:endParaRPr>
          </a:p>
        </p:txBody>
      </p:sp>
      <p:sp>
        <p:nvSpPr>
          <p:cNvPr id="158" name="Google Shape;158;p3"/>
          <p:cNvSpPr txBox="1"/>
          <p:nvPr>
            <p:ph idx="4294967295" type="title"/>
          </p:nvPr>
        </p:nvSpPr>
        <p:spPr>
          <a:xfrm>
            <a:off x="228600" y="263880"/>
            <a:ext cx="8683560" cy="947520"/>
          </a:xfrm>
          <a:prstGeom prst="rect">
            <a:avLst/>
          </a:prstGeom>
          <a:noFill/>
          <a:ln>
            <a:noFill/>
          </a:ln>
        </p:spPr>
        <p:txBody>
          <a:bodyPr anchorCtr="0" anchor="t" bIns="91425" lIns="0" spcFirstLastPara="1" rIns="91425" wrap="square" tIns="0">
            <a:noAutofit/>
          </a:bodyPr>
          <a:lstStyle/>
          <a:p>
            <a:pPr indent="0" lvl="0" marL="0" marR="0" rtl="0" algn="l">
              <a:lnSpc>
                <a:spcPct val="85000"/>
              </a:lnSpc>
              <a:spcBef>
                <a:spcPts val="0"/>
              </a:spcBef>
              <a:spcAft>
                <a:spcPts val="0"/>
              </a:spcAft>
              <a:buClr>
                <a:schemeClr val="dk2"/>
              </a:buClr>
              <a:buSzPts val="3400"/>
              <a:buFont typeface="Urbanist Medium"/>
              <a:buNone/>
            </a:pPr>
            <a:r>
              <a:rPr b="0" i="0" lang="en-US" sz="3400" u="none" cap="none" strike="noStrike">
                <a:solidFill>
                  <a:schemeClr val="dk2"/>
                </a:solidFill>
                <a:latin typeface="Urbanist Medium"/>
                <a:ea typeface="Urbanist Medium"/>
                <a:cs typeface="Urbanist Medium"/>
                <a:sym typeface="Urbanist Medium"/>
              </a:rPr>
              <a:t>How the tests build on each other</a:t>
            </a:r>
            <a:endParaRPr b="0" i="0" sz="3400" u="none" cap="none" strike="noStrike">
              <a:solidFill>
                <a:srgbClr val="FFFFFF"/>
              </a:solidFill>
              <a:latin typeface="Arial"/>
              <a:ea typeface="Arial"/>
              <a:cs typeface="Arial"/>
              <a:sym typeface="Arial"/>
            </a:endParaRPr>
          </a:p>
        </p:txBody>
      </p:sp>
      <p:sp>
        <p:nvSpPr>
          <p:cNvPr id="159" name="Google Shape;159;p3"/>
          <p:cNvSpPr txBox="1"/>
          <p:nvPr>
            <p:ph idx="4294967295" type="subTitle"/>
          </p:nvPr>
        </p:nvSpPr>
        <p:spPr>
          <a:xfrm>
            <a:off x="320760" y="4676040"/>
            <a:ext cx="2696760" cy="23328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Justin Le</a:t>
            </a:r>
            <a:endParaRPr b="0" i="0" sz="700" u="none" cap="none" strike="noStrike">
              <a:solidFill>
                <a:srgbClr val="FFFFFF"/>
              </a:solidFill>
              <a:latin typeface="Arial"/>
              <a:ea typeface="Arial"/>
              <a:cs typeface="Arial"/>
              <a:sym typeface="Arial"/>
            </a:endParaRPr>
          </a:p>
        </p:txBody>
      </p:sp>
      <p:sp>
        <p:nvSpPr>
          <p:cNvPr id="160" name="Google Shape;160;p3"/>
          <p:cNvSpPr/>
          <p:nvPr/>
        </p:nvSpPr>
        <p:spPr>
          <a:xfrm>
            <a:off x="228600" y="3429000"/>
            <a:ext cx="8684280" cy="271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chemeClr val="dk2"/>
                </a:solidFill>
                <a:latin typeface="Urbanist"/>
                <a:ea typeface="Urbanist"/>
                <a:cs typeface="Urbanist"/>
                <a:sym typeface="Urbanist"/>
              </a:rPr>
              <a:t>Each test adds to the one before it, working toward CET and DITL. The next five slides show each test setup.</a:t>
            </a:r>
            <a:endParaRPr b="0" i="0" sz="1100" u="none" cap="none" strike="noStrike">
              <a:solidFill>
                <a:srgbClr val="FFFFFF"/>
              </a:solidFill>
              <a:latin typeface="Arial"/>
              <a:ea typeface="Arial"/>
              <a:cs typeface="Arial"/>
              <a:sym typeface="Arial"/>
            </a:endParaRPr>
          </a:p>
        </p:txBody>
      </p:sp>
      <p:sp>
        <p:nvSpPr>
          <p:cNvPr id="161" name="Google Shape;161;p3"/>
          <p:cNvSpPr/>
          <p:nvPr/>
        </p:nvSpPr>
        <p:spPr>
          <a:xfrm>
            <a:off x="228600" y="1600200"/>
            <a:ext cx="1471320" cy="1826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00" u="none" cap="none" strike="noStrike">
                <a:solidFill>
                  <a:schemeClr val="dk2"/>
                </a:solidFill>
                <a:latin typeface="Urbanist SemiBold"/>
                <a:ea typeface="Urbanist SemiBold"/>
                <a:cs typeface="Urbanist SemiBold"/>
                <a:sym typeface="Urbanist SemiBold"/>
              </a:rPr>
              <a:t>MCT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400" u="none" cap="none" strike="noStrike">
                <a:solidFill>
                  <a:schemeClr val="dk2"/>
                </a:solidFill>
                <a:latin typeface="Urbanist"/>
                <a:ea typeface="Urbanist"/>
                <a:cs typeface="Urbanist"/>
                <a:sym typeface="Urbanist"/>
              </a:rPr>
              <a:t>Hydra → CDH →</a:t>
            </a:r>
            <a:br>
              <a:rPr b="0" i="0" lang="en-US" sz="1100" u="none" cap="none" strike="noStrike">
                <a:latin typeface="Arial"/>
                <a:ea typeface="Arial"/>
                <a:cs typeface="Arial"/>
                <a:sym typeface="Arial"/>
              </a:rPr>
            </a:br>
            <a:r>
              <a:rPr b="0" i="0" lang="en-US" sz="1400" u="none" cap="none" strike="noStrike">
                <a:solidFill>
                  <a:schemeClr val="dk2"/>
                </a:solidFill>
                <a:latin typeface="Urbanist"/>
                <a:ea typeface="Urbanist"/>
                <a:cs typeface="Urbanist"/>
                <a:sym typeface="Urbanist"/>
              </a:rPr>
              <a:t>Li-2 over UART</a:t>
            </a:r>
            <a:endParaRPr b="0" i="0" sz="1400" u="none" cap="none" strike="noStrike">
              <a:solidFill>
                <a:srgbClr val="FFFFFF"/>
              </a:solidFill>
              <a:latin typeface="Arial"/>
              <a:ea typeface="Arial"/>
              <a:cs typeface="Arial"/>
              <a:sym typeface="Arial"/>
            </a:endParaRPr>
          </a:p>
        </p:txBody>
      </p:sp>
      <p:cxnSp>
        <p:nvCxnSpPr>
          <p:cNvPr id="162" name="Google Shape;162;p3"/>
          <p:cNvCxnSpPr/>
          <p:nvPr/>
        </p:nvCxnSpPr>
        <p:spPr>
          <a:xfrm>
            <a:off x="1748160" y="1773720"/>
            <a:ext cx="240120" cy="2520"/>
          </a:xfrm>
          <a:prstGeom prst="straightConnector1">
            <a:avLst/>
          </a:prstGeom>
          <a:noFill/>
          <a:ln cap="flat" cmpd="sng" w="15875">
            <a:solidFill>
              <a:srgbClr val="F5F5F5"/>
            </a:solidFill>
            <a:prstDash val="solid"/>
            <a:round/>
            <a:headEnd len="sm" w="sm" type="none"/>
            <a:tailEnd len="med" w="med" type="triangle"/>
          </a:ln>
        </p:spPr>
      </p:cxnSp>
      <p:sp>
        <p:nvSpPr>
          <p:cNvPr id="163" name="Google Shape;163;p3"/>
          <p:cNvSpPr/>
          <p:nvPr/>
        </p:nvSpPr>
        <p:spPr>
          <a:xfrm>
            <a:off x="2031840" y="1600200"/>
            <a:ext cx="1471320" cy="1826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00" u="none" cap="none" strike="noStrike">
                <a:solidFill>
                  <a:schemeClr val="dk2"/>
                </a:solidFill>
                <a:latin typeface="Urbanist SemiBold"/>
                <a:ea typeface="Urbanist SemiBold"/>
                <a:cs typeface="Urbanist SemiBold"/>
                <a:sym typeface="Urbanist SemiBold"/>
              </a:rPr>
              <a:t>SCT-1</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400" u="none" cap="none" strike="noStrike">
                <a:solidFill>
                  <a:schemeClr val="dk2"/>
                </a:solidFill>
                <a:latin typeface="Urbanist"/>
                <a:ea typeface="Urbanist"/>
                <a:cs typeface="Urbanist"/>
                <a:sym typeface="Urbanist"/>
              </a:rPr>
              <a:t>CDH ↔ Hydra hardwired</a:t>
            </a:r>
            <a:endParaRPr b="0" i="0" sz="1400" u="none" cap="none" strike="noStrike">
              <a:solidFill>
                <a:srgbClr val="FFFFFF"/>
              </a:solidFill>
              <a:latin typeface="Arial"/>
              <a:ea typeface="Arial"/>
              <a:cs typeface="Arial"/>
              <a:sym typeface="Arial"/>
            </a:endParaRPr>
          </a:p>
        </p:txBody>
      </p:sp>
      <p:cxnSp>
        <p:nvCxnSpPr>
          <p:cNvPr id="164" name="Google Shape;164;p3"/>
          <p:cNvCxnSpPr/>
          <p:nvPr/>
        </p:nvCxnSpPr>
        <p:spPr>
          <a:xfrm>
            <a:off x="3551400" y="1773720"/>
            <a:ext cx="240120" cy="2520"/>
          </a:xfrm>
          <a:prstGeom prst="straightConnector1">
            <a:avLst/>
          </a:prstGeom>
          <a:noFill/>
          <a:ln cap="flat" cmpd="sng" w="15875">
            <a:solidFill>
              <a:srgbClr val="F5F5F5"/>
            </a:solidFill>
            <a:prstDash val="solid"/>
            <a:round/>
            <a:headEnd len="sm" w="sm" type="none"/>
            <a:tailEnd len="med" w="med" type="triangle"/>
          </a:ln>
        </p:spPr>
      </p:cxnSp>
      <p:sp>
        <p:nvSpPr>
          <p:cNvPr id="165" name="Google Shape;165;p3"/>
          <p:cNvSpPr/>
          <p:nvPr/>
        </p:nvSpPr>
        <p:spPr>
          <a:xfrm>
            <a:off x="3835080" y="1600200"/>
            <a:ext cx="1471320" cy="1826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00" u="none" cap="none" strike="noStrike">
                <a:solidFill>
                  <a:schemeClr val="dk2"/>
                </a:solidFill>
                <a:latin typeface="Urbanist SemiBold"/>
                <a:ea typeface="Urbanist SemiBold"/>
                <a:cs typeface="Urbanist SemiBold"/>
                <a:sym typeface="Urbanist SemiBold"/>
              </a:rPr>
              <a:t>SCT-2</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400" u="none" cap="none" strike="noStrike">
                <a:solidFill>
                  <a:schemeClr val="dk2"/>
                </a:solidFill>
                <a:latin typeface="Urbanist"/>
                <a:ea typeface="Urbanist"/>
                <a:cs typeface="Urbanist"/>
                <a:sym typeface="Urbanist"/>
              </a:rPr>
              <a:t>Adds the Li-2 and SDR, decoded through GNU Radio into Hydra</a:t>
            </a:r>
            <a:endParaRPr b="0" i="0" sz="1400" u="none" cap="none" strike="noStrike">
              <a:solidFill>
                <a:srgbClr val="FFFFFF"/>
              </a:solidFill>
              <a:latin typeface="Arial"/>
              <a:ea typeface="Arial"/>
              <a:cs typeface="Arial"/>
              <a:sym typeface="Arial"/>
            </a:endParaRPr>
          </a:p>
        </p:txBody>
      </p:sp>
      <p:cxnSp>
        <p:nvCxnSpPr>
          <p:cNvPr id="166" name="Google Shape;166;p3"/>
          <p:cNvCxnSpPr/>
          <p:nvPr/>
        </p:nvCxnSpPr>
        <p:spPr>
          <a:xfrm>
            <a:off x="5354640" y="1773720"/>
            <a:ext cx="240120" cy="2520"/>
          </a:xfrm>
          <a:prstGeom prst="straightConnector1">
            <a:avLst/>
          </a:prstGeom>
          <a:noFill/>
          <a:ln cap="flat" cmpd="sng" w="15875">
            <a:solidFill>
              <a:srgbClr val="F5F5F5"/>
            </a:solidFill>
            <a:prstDash val="solid"/>
            <a:round/>
            <a:headEnd len="sm" w="sm" type="none"/>
            <a:tailEnd len="med" w="med" type="triangle"/>
          </a:ln>
        </p:spPr>
      </p:cxnSp>
      <p:sp>
        <p:nvSpPr>
          <p:cNvPr id="167" name="Google Shape;167;p3"/>
          <p:cNvSpPr/>
          <p:nvPr/>
        </p:nvSpPr>
        <p:spPr>
          <a:xfrm>
            <a:off x="5638320" y="1600200"/>
            <a:ext cx="1471320" cy="1826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00" u="none" cap="none" strike="noStrike">
                <a:solidFill>
                  <a:schemeClr val="dk2"/>
                </a:solidFill>
                <a:latin typeface="Urbanist SemiBold"/>
                <a:ea typeface="Urbanist SemiBold"/>
                <a:cs typeface="Urbanist SemiBold"/>
                <a:sym typeface="Urbanist SemiBold"/>
              </a:rPr>
              <a:t>SCT-3</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400" u="none" cap="none" strike="noStrike">
                <a:solidFill>
                  <a:schemeClr val="dk2"/>
                </a:solidFill>
                <a:latin typeface="Urbanist"/>
                <a:ea typeface="Urbanist"/>
                <a:cs typeface="Urbanist"/>
                <a:sym typeface="Urbanist"/>
              </a:rPr>
              <a:t>Adds the antennas, over a short range</a:t>
            </a:r>
            <a:endParaRPr b="0" i="0" sz="1400" u="none" cap="none" strike="noStrike">
              <a:solidFill>
                <a:srgbClr val="FFFFFF"/>
              </a:solidFill>
              <a:latin typeface="Arial"/>
              <a:ea typeface="Arial"/>
              <a:cs typeface="Arial"/>
              <a:sym typeface="Arial"/>
            </a:endParaRPr>
          </a:p>
        </p:txBody>
      </p:sp>
      <p:cxnSp>
        <p:nvCxnSpPr>
          <p:cNvPr id="168" name="Google Shape;168;p3"/>
          <p:cNvCxnSpPr/>
          <p:nvPr/>
        </p:nvCxnSpPr>
        <p:spPr>
          <a:xfrm>
            <a:off x="7157880" y="1773720"/>
            <a:ext cx="240120" cy="2520"/>
          </a:xfrm>
          <a:prstGeom prst="straightConnector1">
            <a:avLst/>
          </a:prstGeom>
          <a:noFill/>
          <a:ln cap="flat" cmpd="sng" w="15875">
            <a:solidFill>
              <a:srgbClr val="F5F5F5"/>
            </a:solidFill>
            <a:prstDash val="solid"/>
            <a:round/>
            <a:headEnd len="sm" w="sm" type="none"/>
            <a:tailEnd len="med" w="med" type="triangle"/>
          </a:ln>
        </p:spPr>
      </p:cxnSp>
      <p:sp>
        <p:nvSpPr>
          <p:cNvPr id="169" name="Google Shape;169;p3"/>
          <p:cNvSpPr/>
          <p:nvPr/>
        </p:nvSpPr>
        <p:spPr>
          <a:xfrm>
            <a:off x="7441560" y="1600200"/>
            <a:ext cx="1471320" cy="1826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00" u="none" cap="none" strike="noStrike">
                <a:solidFill>
                  <a:schemeClr val="dk2"/>
                </a:solidFill>
                <a:latin typeface="Urbanist SemiBold"/>
                <a:ea typeface="Urbanist SemiBold"/>
                <a:cs typeface="Urbanist SemiBold"/>
                <a:sym typeface="Urbanist SemiBold"/>
              </a:rPr>
              <a:t>SCT-4</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400" u="none" cap="none" strike="noStrike">
                <a:solidFill>
                  <a:schemeClr val="dk2"/>
                </a:solidFill>
                <a:latin typeface="Urbanist"/>
                <a:ea typeface="Urbanist"/>
                <a:cs typeface="Urbanist"/>
                <a:sym typeface="Urbanist"/>
              </a:rPr>
              <a:t>Same setup, over a long range</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4"/>
          <p:cNvSpPr txBox="1"/>
          <p:nvPr>
            <p:ph idx="4294967295" type="subTitle"/>
          </p:nvPr>
        </p:nvSpPr>
        <p:spPr>
          <a:xfrm>
            <a:off x="4716720" y="4676040"/>
            <a:ext cx="229140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SWARM EX COMMS Mid Semester Review</a:t>
            </a:r>
            <a:endParaRPr b="0" i="0" sz="700" u="none" cap="none" strike="noStrike">
              <a:solidFill>
                <a:srgbClr val="FFFFFF"/>
              </a:solidFill>
              <a:latin typeface="Arial"/>
              <a:ea typeface="Arial"/>
              <a:cs typeface="Arial"/>
              <a:sym typeface="Arial"/>
            </a:endParaRPr>
          </a:p>
        </p:txBody>
      </p:sp>
      <p:sp>
        <p:nvSpPr>
          <p:cNvPr id="175" name="Google Shape;175;p4"/>
          <p:cNvSpPr txBox="1"/>
          <p:nvPr>
            <p:ph idx="4294967295" type="subTitle"/>
          </p:nvPr>
        </p:nvSpPr>
        <p:spPr>
          <a:xfrm>
            <a:off x="6859080" y="4683600"/>
            <a:ext cx="2053440" cy="225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Fall 2026</a:t>
            </a:r>
            <a:endParaRPr b="0" i="0" sz="700" u="none" cap="none" strike="noStrike">
              <a:solidFill>
                <a:srgbClr val="FFFFFF"/>
              </a:solidFill>
              <a:latin typeface="Arial"/>
              <a:ea typeface="Arial"/>
              <a:cs typeface="Arial"/>
              <a:sym typeface="Arial"/>
            </a:endParaRPr>
          </a:p>
        </p:txBody>
      </p:sp>
      <p:sp>
        <p:nvSpPr>
          <p:cNvPr id="176" name="Google Shape;176;p4"/>
          <p:cNvSpPr txBox="1"/>
          <p:nvPr>
            <p:ph idx="4294967295" type="title"/>
          </p:nvPr>
        </p:nvSpPr>
        <p:spPr>
          <a:xfrm>
            <a:off x="228600" y="263880"/>
            <a:ext cx="8683560" cy="947520"/>
          </a:xfrm>
          <a:prstGeom prst="rect">
            <a:avLst/>
          </a:prstGeom>
          <a:noFill/>
          <a:ln>
            <a:noFill/>
          </a:ln>
        </p:spPr>
        <p:txBody>
          <a:bodyPr anchorCtr="0" anchor="t" bIns="91425" lIns="0" spcFirstLastPara="1" rIns="91425" wrap="square" tIns="0">
            <a:noAutofit/>
          </a:bodyPr>
          <a:lstStyle/>
          <a:p>
            <a:pPr indent="0" lvl="0" marL="0" marR="0" rtl="0" algn="l">
              <a:lnSpc>
                <a:spcPct val="85000"/>
              </a:lnSpc>
              <a:spcBef>
                <a:spcPts val="0"/>
              </a:spcBef>
              <a:spcAft>
                <a:spcPts val="0"/>
              </a:spcAft>
              <a:buClr>
                <a:schemeClr val="dk2"/>
              </a:buClr>
              <a:buSzPts val="3400"/>
              <a:buFont typeface="Urbanist Medium"/>
              <a:buNone/>
            </a:pPr>
            <a:r>
              <a:rPr b="0" i="0" lang="en-US" sz="3400" u="none" cap="none" strike="noStrike">
                <a:solidFill>
                  <a:schemeClr val="dk2"/>
                </a:solidFill>
                <a:latin typeface="Urbanist Medium"/>
                <a:ea typeface="Urbanist Medium"/>
                <a:cs typeface="Urbanist Medium"/>
                <a:sym typeface="Urbanist Medium"/>
              </a:rPr>
              <a:t>MCT: Hydra → CDH → Li-2 over UART</a:t>
            </a:r>
            <a:endParaRPr b="0" i="0" sz="3400" u="none" cap="none" strike="noStrike">
              <a:solidFill>
                <a:srgbClr val="FFFFFF"/>
              </a:solidFill>
              <a:latin typeface="Arial"/>
              <a:ea typeface="Arial"/>
              <a:cs typeface="Arial"/>
              <a:sym typeface="Arial"/>
            </a:endParaRPr>
          </a:p>
        </p:txBody>
      </p:sp>
      <p:sp>
        <p:nvSpPr>
          <p:cNvPr id="177" name="Google Shape;177;p4"/>
          <p:cNvSpPr txBox="1"/>
          <p:nvPr>
            <p:ph idx="4294967295" type="subTitle"/>
          </p:nvPr>
        </p:nvSpPr>
        <p:spPr>
          <a:xfrm>
            <a:off x="320760" y="4676040"/>
            <a:ext cx="2696760" cy="23328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Justin Le</a:t>
            </a:r>
            <a:endParaRPr b="0" i="0" sz="700" u="none" cap="none" strike="noStrike">
              <a:solidFill>
                <a:srgbClr val="FFFFFF"/>
              </a:solidFill>
              <a:latin typeface="Arial"/>
              <a:ea typeface="Arial"/>
              <a:cs typeface="Arial"/>
              <a:sym typeface="Arial"/>
            </a:endParaRPr>
          </a:p>
        </p:txBody>
      </p:sp>
      <p:sp>
        <p:nvSpPr>
          <p:cNvPr id="178" name="Google Shape;178;p4"/>
          <p:cNvSpPr/>
          <p:nvPr/>
        </p:nvSpPr>
        <p:spPr>
          <a:xfrm>
            <a:off x="228600" y="896040"/>
            <a:ext cx="8684280" cy="546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chemeClr val="dk2"/>
                </a:solidFill>
                <a:latin typeface="Urbanist"/>
                <a:ea typeface="Urbanist"/>
                <a:cs typeface="Urbanist"/>
                <a:sym typeface="Urbanist"/>
              </a:rPr>
              <a:t>Verifies commands from Hydra reach the Li-2 through CDH and are acknowledged. A logic analyzer on the UART lines checks the no-op, transmit and reset commands.</a:t>
            </a:r>
            <a:endParaRPr b="0" i="0" sz="1100" u="none" cap="none" strike="noStrike">
              <a:solidFill>
                <a:srgbClr val="FFFFFF"/>
              </a:solidFill>
              <a:latin typeface="Arial"/>
              <a:ea typeface="Arial"/>
              <a:cs typeface="Arial"/>
              <a:sym typeface="Arial"/>
            </a:endParaRPr>
          </a:p>
        </p:txBody>
      </p:sp>
      <p:pic>
        <p:nvPicPr>
          <p:cNvPr descr="image.png" id="179" name="Google Shape;179;p4"/>
          <p:cNvPicPr preferRelativeResize="0"/>
          <p:nvPr/>
        </p:nvPicPr>
        <p:blipFill rotWithShape="1">
          <a:blip r:embed="rId3">
            <a:alphaModFix/>
          </a:blip>
          <a:srcRect b="0" l="0" r="0" t="0"/>
          <a:stretch/>
        </p:blipFill>
        <p:spPr>
          <a:xfrm>
            <a:off x="694080" y="1600200"/>
            <a:ext cx="7753680" cy="2878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5"/>
          <p:cNvSpPr txBox="1"/>
          <p:nvPr>
            <p:ph idx="4294967295" type="subTitle"/>
          </p:nvPr>
        </p:nvSpPr>
        <p:spPr>
          <a:xfrm>
            <a:off x="4716720" y="4676040"/>
            <a:ext cx="229140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SWARM EX COMMS Mid Semester Review</a:t>
            </a:r>
            <a:endParaRPr b="0" i="0" sz="700" u="none" cap="none" strike="noStrike">
              <a:solidFill>
                <a:srgbClr val="FFFFFF"/>
              </a:solidFill>
              <a:latin typeface="Arial"/>
              <a:ea typeface="Arial"/>
              <a:cs typeface="Arial"/>
              <a:sym typeface="Arial"/>
            </a:endParaRPr>
          </a:p>
        </p:txBody>
      </p:sp>
      <p:sp>
        <p:nvSpPr>
          <p:cNvPr id="185" name="Google Shape;185;p5"/>
          <p:cNvSpPr txBox="1"/>
          <p:nvPr>
            <p:ph idx="4294967295" type="subTitle"/>
          </p:nvPr>
        </p:nvSpPr>
        <p:spPr>
          <a:xfrm>
            <a:off x="6859080" y="4683600"/>
            <a:ext cx="2053440" cy="225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Fall 2026</a:t>
            </a:r>
            <a:endParaRPr b="0" i="0" sz="700" u="none" cap="none" strike="noStrike">
              <a:solidFill>
                <a:srgbClr val="FFFFFF"/>
              </a:solidFill>
              <a:latin typeface="Arial"/>
              <a:ea typeface="Arial"/>
              <a:cs typeface="Arial"/>
              <a:sym typeface="Arial"/>
            </a:endParaRPr>
          </a:p>
        </p:txBody>
      </p:sp>
      <p:sp>
        <p:nvSpPr>
          <p:cNvPr id="186" name="Google Shape;186;p5"/>
          <p:cNvSpPr txBox="1"/>
          <p:nvPr>
            <p:ph idx="4294967295" type="title"/>
          </p:nvPr>
        </p:nvSpPr>
        <p:spPr>
          <a:xfrm>
            <a:off x="228600" y="263880"/>
            <a:ext cx="8683560" cy="947520"/>
          </a:xfrm>
          <a:prstGeom prst="rect">
            <a:avLst/>
          </a:prstGeom>
          <a:noFill/>
          <a:ln>
            <a:noFill/>
          </a:ln>
        </p:spPr>
        <p:txBody>
          <a:bodyPr anchorCtr="0" anchor="t" bIns="91425" lIns="0" spcFirstLastPara="1" rIns="91425" wrap="square" tIns="0">
            <a:noAutofit/>
          </a:bodyPr>
          <a:lstStyle/>
          <a:p>
            <a:pPr indent="0" lvl="0" marL="0" marR="0" rtl="0" algn="l">
              <a:lnSpc>
                <a:spcPct val="85000"/>
              </a:lnSpc>
              <a:spcBef>
                <a:spcPts val="0"/>
              </a:spcBef>
              <a:spcAft>
                <a:spcPts val="0"/>
              </a:spcAft>
              <a:buClr>
                <a:schemeClr val="dk2"/>
              </a:buClr>
              <a:buSzPts val="3400"/>
              <a:buFont typeface="Urbanist Medium"/>
              <a:buNone/>
            </a:pPr>
            <a:r>
              <a:rPr b="0" i="0" lang="en-US" sz="3400" u="none" cap="none" strike="noStrike">
                <a:solidFill>
                  <a:schemeClr val="dk2"/>
                </a:solidFill>
                <a:latin typeface="Urbanist Medium"/>
                <a:ea typeface="Urbanist Medium"/>
                <a:cs typeface="Urbanist Medium"/>
                <a:sym typeface="Urbanist Medium"/>
              </a:rPr>
              <a:t>SCT-1: Hardwired CDH and Hydra</a:t>
            </a:r>
            <a:endParaRPr b="0" i="0" sz="3400" u="none" cap="none" strike="noStrike">
              <a:solidFill>
                <a:srgbClr val="FFFFFF"/>
              </a:solidFill>
              <a:latin typeface="Arial"/>
              <a:ea typeface="Arial"/>
              <a:cs typeface="Arial"/>
              <a:sym typeface="Arial"/>
            </a:endParaRPr>
          </a:p>
        </p:txBody>
      </p:sp>
      <p:sp>
        <p:nvSpPr>
          <p:cNvPr id="187" name="Google Shape;187;p5"/>
          <p:cNvSpPr txBox="1"/>
          <p:nvPr>
            <p:ph idx="4294967295" type="subTitle"/>
          </p:nvPr>
        </p:nvSpPr>
        <p:spPr>
          <a:xfrm>
            <a:off x="320760" y="4676040"/>
            <a:ext cx="2696760" cy="23328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Justin Le</a:t>
            </a:r>
            <a:endParaRPr b="0" i="0" sz="700" u="none" cap="none" strike="noStrike">
              <a:solidFill>
                <a:srgbClr val="FFFFFF"/>
              </a:solidFill>
              <a:latin typeface="Arial"/>
              <a:ea typeface="Arial"/>
              <a:cs typeface="Arial"/>
              <a:sym typeface="Arial"/>
            </a:endParaRPr>
          </a:p>
        </p:txBody>
      </p:sp>
      <p:pic>
        <p:nvPicPr>
          <p:cNvPr id="188" name="Google Shape;188;p5"/>
          <p:cNvPicPr preferRelativeResize="0"/>
          <p:nvPr/>
        </p:nvPicPr>
        <p:blipFill rotWithShape="1">
          <a:blip r:embed="rId3">
            <a:alphaModFix/>
          </a:blip>
          <a:srcRect b="0" l="0" r="0" t="0"/>
          <a:stretch/>
        </p:blipFill>
        <p:spPr>
          <a:xfrm>
            <a:off x="676080" y="1600200"/>
            <a:ext cx="7788960" cy="2877840"/>
          </a:xfrm>
          <a:prstGeom prst="rect">
            <a:avLst/>
          </a:prstGeom>
          <a:noFill/>
          <a:ln>
            <a:noFill/>
          </a:ln>
        </p:spPr>
      </p:pic>
      <p:sp>
        <p:nvSpPr>
          <p:cNvPr id="189" name="Google Shape;189;p5"/>
          <p:cNvSpPr/>
          <p:nvPr/>
        </p:nvSpPr>
        <p:spPr>
          <a:xfrm>
            <a:off x="228600" y="896040"/>
            <a:ext cx="8684280" cy="546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chemeClr val="dk2"/>
                </a:solidFill>
                <a:latin typeface="Urbanist"/>
                <a:ea typeface="Urbanist"/>
                <a:cs typeface="Urbanist"/>
                <a:sym typeface="Urbanist"/>
              </a:rPr>
              <a:t>Verifies CDH reads Hydra’s command bytes and Hydra reads CDH’s telemetry bytes, with no wireless link. Hydra requests a housekeeping packet, the CDH terminal confirms the command arrived, and the packet shows up in Hydra telemetry.</a:t>
            </a:r>
            <a:endParaRPr b="0" i="0" sz="1100" u="none" cap="none" strike="noStrike">
              <a:solidFill>
                <a:srgbClr val="FFFFFF"/>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6"/>
          <p:cNvSpPr txBox="1"/>
          <p:nvPr>
            <p:ph idx="4294967295" type="subTitle"/>
          </p:nvPr>
        </p:nvSpPr>
        <p:spPr>
          <a:xfrm>
            <a:off x="4716720" y="4676040"/>
            <a:ext cx="229140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SWARM EX COMMS Mid Semester Review</a:t>
            </a:r>
            <a:endParaRPr b="0" i="0" sz="700" u="none" cap="none" strike="noStrike">
              <a:solidFill>
                <a:srgbClr val="FFFFFF"/>
              </a:solidFill>
              <a:latin typeface="Arial"/>
              <a:ea typeface="Arial"/>
              <a:cs typeface="Arial"/>
              <a:sym typeface="Arial"/>
            </a:endParaRPr>
          </a:p>
        </p:txBody>
      </p:sp>
      <p:sp>
        <p:nvSpPr>
          <p:cNvPr id="195" name="Google Shape;195;p6"/>
          <p:cNvSpPr txBox="1"/>
          <p:nvPr>
            <p:ph idx="4294967295" type="subTitle"/>
          </p:nvPr>
        </p:nvSpPr>
        <p:spPr>
          <a:xfrm>
            <a:off x="6859080" y="4683600"/>
            <a:ext cx="2053440" cy="225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Fall 2026</a:t>
            </a:r>
            <a:endParaRPr b="0" i="0" sz="700" u="none" cap="none" strike="noStrike">
              <a:solidFill>
                <a:srgbClr val="FFFFFF"/>
              </a:solidFill>
              <a:latin typeface="Arial"/>
              <a:ea typeface="Arial"/>
              <a:cs typeface="Arial"/>
              <a:sym typeface="Arial"/>
            </a:endParaRPr>
          </a:p>
        </p:txBody>
      </p:sp>
      <p:sp>
        <p:nvSpPr>
          <p:cNvPr id="196" name="Google Shape;196;p6"/>
          <p:cNvSpPr txBox="1"/>
          <p:nvPr>
            <p:ph idx="4294967295" type="title"/>
          </p:nvPr>
        </p:nvSpPr>
        <p:spPr>
          <a:xfrm>
            <a:off x="228600" y="263880"/>
            <a:ext cx="8683560" cy="947520"/>
          </a:xfrm>
          <a:prstGeom prst="rect">
            <a:avLst/>
          </a:prstGeom>
          <a:noFill/>
          <a:ln>
            <a:noFill/>
          </a:ln>
        </p:spPr>
        <p:txBody>
          <a:bodyPr anchorCtr="0" anchor="t" bIns="91425" lIns="0" spcFirstLastPara="1" rIns="91425" wrap="square" tIns="0">
            <a:noAutofit/>
          </a:bodyPr>
          <a:lstStyle/>
          <a:p>
            <a:pPr indent="0" lvl="0" marL="0" marR="0" rtl="0" algn="l">
              <a:lnSpc>
                <a:spcPct val="85000"/>
              </a:lnSpc>
              <a:spcBef>
                <a:spcPts val="0"/>
              </a:spcBef>
              <a:spcAft>
                <a:spcPts val="0"/>
              </a:spcAft>
              <a:buClr>
                <a:schemeClr val="dk2"/>
              </a:buClr>
              <a:buSzPts val="3400"/>
              <a:buFont typeface="Urbanist Medium"/>
              <a:buNone/>
            </a:pPr>
            <a:r>
              <a:rPr b="0" i="0" lang="en-US" sz="3400" u="none" cap="none" strike="noStrike">
                <a:solidFill>
                  <a:schemeClr val="dk2"/>
                </a:solidFill>
                <a:latin typeface="Urbanist Medium"/>
                <a:ea typeface="Urbanist Medium"/>
                <a:cs typeface="Urbanist Medium"/>
                <a:sym typeface="Urbanist Medium"/>
              </a:rPr>
              <a:t>SCT-2: Full chain, antenna out of the loop</a:t>
            </a:r>
            <a:endParaRPr b="0" i="0" sz="3400" u="none" cap="none" strike="noStrike">
              <a:solidFill>
                <a:srgbClr val="FFFFFF"/>
              </a:solidFill>
              <a:latin typeface="Arial"/>
              <a:ea typeface="Arial"/>
              <a:cs typeface="Arial"/>
              <a:sym typeface="Arial"/>
            </a:endParaRPr>
          </a:p>
        </p:txBody>
      </p:sp>
      <p:sp>
        <p:nvSpPr>
          <p:cNvPr id="197" name="Google Shape;197;p6"/>
          <p:cNvSpPr txBox="1"/>
          <p:nvPr>
            <p:ph idx="4294967295" type="subTitle"/>
          </p:nvPr>
        </p:nvSpPr>
        <p:spPr>
          <a:xfrm>
            <a:off x="320760" y="4676040"/>
            <a:ext cx="2696760" cy="23328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Justin Le</a:t>
            </a:r>
            <a:endParaRPr b="0" i="0" sz="700" u="none" cap="none" strike="noStrike">
              <a:solidFill>
                <a:srgbClr val="FFFFFF"/>
              </a:solidFill>
              <a:latin typeface="Arial"/>
              <a:ea typeface="Arial"/>
              <a:cs typeface="Arial"/>
              <a:sym typeface="Arial"/>
            </a:endParaRPr>
          </a:p>
        </p:txBody>
      </p:sp>
      <p:pic>
        <p:nvPicPr>
          <p:cNvPr id="198" name="Google Shape;198;p6"/>
          <p:cNvPicPr preferRelativeResize="0"/>
          <p:nvPr/>
        </p:nvPicPr>
        <p:blipFill rotWithShape="1">
          <a:blip r:embed="rId3">
            <a:alphaModFix/>
          </a:blip>
          <a:srcRect b="0" l="0" r="0" t="0"/>
          <a:stretch/>
        </p:blipFill>
        <p:spPr>
          <a:xfrm>
            <a:off x="228600" y="1804680"/>
            <a:ext cx="8684280" cy="2468880"/>
          </a:xfrm>
          <a:prstGeom prst="rect">
            <a:avLst/>
          </a:prstGeom>
          <a:noFill/>
          <a:ln>
            <a:noFill/>
          </a:ln>
        </p:spPr>
      </p:pic>
      <p:sp>
        <p:nvSpPr>
          <p:cNvPr id="199" name="Google Shape;199;p6"/>
          <p:cNvSpPr/>
          <p:nvPr/>
        </p:nvSpPr>
        <p:spPr>
          <a:xfrm>
            <a:off x="228600" y="896040"/>
            <a:ext cx="8684280" cy="546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chemeClr val="dk2"/>
                </a:solidFill>
                <a:latin typeface="Urbanist"/>
                <a:ea typeface="Urbanist"/>
                <a:cs typeface="Urbanist"/>
                <a:sym typeface="Urbanist"/>
              </a:rPr>
              <a:t>Verifies a message can go both ways through Hydra, GNU Radio, the SDR, the Li-2 and CDH. The SDR and Li-2 are connected by a hardline instead of antennas.</a:t>
            </a:r>
            <a:endParaRPr b="0" i="0" sz="1100" u="none" cap="none" strike="noStrike">
              <a:solidFill>
                <a:srgbClr val="FFFFF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7"/>
          <p:cNvSpPr txBox="1"/>
          <p:nvPr>
            <p:ph idx="4294967295" type="subTitle"/>
          </p:nvPr>
        </p:nvSpPr>
        <p:spPr>
          <a:xfrm>
            <a:off x="4716720" y="4676040"/>
            <a:ext cx="229140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SWARM EX COMMS Mid Semester Review</a:t>
            </a:r>
            <a:endParaRPr b="0" i="0" sz="700" u="none" cap="none" strike="noStrike">
              <a:solidFill>
                <a:srgbClr val="FFFFFF"/>
              </a:solidFill>
              <a:latin typeface="Arial"/>
              <a:ea typeface="Arial"/>
              <a:cs typeface="Arial"/>
              <a:sym typeface="Arial"/>
            </a:endParaRPr>
          </a:p>
        </p:txBody>
      </p:sp>
      <p:sp>
        <p:nvSpPr>
          <p:cNvPr id="205" name="Google Shape;205;p7"/>
          <p:cNvSpPr txBox="1"/>
          <p:nvPr>
            <p:ph idx="4294967295" type="subTitle"/>
          </p:nvPr>
        </p:nvSpPr>
        <p:spPr>
          <a:xfrm>
            <a:off x="6859080" y="4683600"/>
            <a:ext cx="2053440" cy="225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Fall 2026</a:t>
            </a:r>
            <a:endParaRPr b="0" i="0" sz="700" u="none" cap="none" strike="noStrike">
              <a:solidFill>
                <a:srgbClr val="FFFFFF"/>
              </a:solidFill>
              <a:latin typeface="Arial"/>
              <a:ea typeface="Arial"/>
              <a:cs typeface="Arial"/>
              <a:sym typeface="Arial"/>
            </a:endParaRPr>
          </a:p>
        </p:txBody>
      </p:sp>
      <p:sp>
        <p:nvSpPr>
          <p:cNvPr id="206" name="Google Shape;206;p7"/>
          <p:cNvSpPr txBox="1"/>
          <p:nvPr>
            <p:ph idx="4294967295" type="title"/>
          </p:nvPr>
        </p:nvSpPr>
        <p:spPr>
          <a:xfrm>
            <a:off x="228600" y="263880"/>
            <a:ext cx="8683560" cy="947520"/>
          </a:xfrm>
          <a:prstGeom prst="rect">
            <a:avLst/>
          </a:prstGeom>
          <a:noFill/>
          <a:ln>
            <a:noFill/>
          </a:ln>
        </p:spPr>
        <p:txBody>
          <a:bodyPr anchorCtr="0" anchor="t" bIns="91425" lIns="0" spcFirstLastPara="1" rIns="91425" wrap="square" tIns="0">
            <a:noAutofit/>
          </a:bodyPr>
          <a:lstStyle/>
          <a:p>
            <a:pPr indent="0" lvl="0" marL="0" marR="0" rtl="0" algn="l">
              <a:lnSpc>
                <a:spcPct val="85000"/>
              </a:lnSpc>
              <a:spcBef>
                <a:spcPts val="0"/>
              </a:spcBef>
              <a:spcAft>
                <a:spcPts val="0"/>
              </a:spcAft>
              <a:buClr>
                <a:schemeClr val="dk2"/>
              </a:buClr>
              <a:buSzPts val="3400"/>
              <a:buFont typeface="Urbanist Medium"/>
              <a:buNone/>
            </a:pPr>
            <a:r>
              <a:rPr b="0" i="0" lang="en-US" sz="3400" u="none" cap="none" strike="noStrike">
                <a:solidFill>
                  <a:schemeClr val="dk2"/>
                </a:solidFill>
                <a:latin typeface="Urbanist Medium"/>
                <a:ea typeface="Urbanist Medium"/>
                <a:cs typeface="Urbanist Medium"/>
                <a:sym typeface="Urbanist Medium"/>
              </a:rPr>
              <a:t>SCT-3: Antennas in the loop, short range</a:t>
            </a:r>
            <a:endParaRPr b="0" i="0" sz="3400" u="none" cap="none" strike="noStrike">
              <a:solidFill>
                <a:srgbClr val="FFFFFF"/>
              </a:solidFill>
              <a:latin typeface="Arial"/>
              <a:ea typeface="Arial"/>
              <a:cs typeface="Arial"/>
              <a:sym typeface="Arial"/>
            </a:endParaRPr>
          </a:p>
        </p:txBody>
      </p:sp>
      <p:sp>
        <p:nvSpPr>
          <p:cNvPr id="207" name="Google Shape;207;p7"/>
          <p:cNvSpPr txBox="1"/>
          <p:nvPr>
            <p:ph idx="4294967295" type="subTitle"/>
          </p:nvPr>
        </p:nvSpPr>
        <p:spPr>
          <a:xfrm>
            <a:off x="320760" y="4676040"/>
            <a:ext cx="2696760" cy="23328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Justin Le</a:t>
            </a:r>
            <a:endParaRPr b="0" i="0" sz="700" u="none" cap="none" strike="noStrike">
              <a:solidFill>
                <a:srgbClr val="FFFFFF"/>
              </a:solidFill>
              <a:latin typeface="Arial"/>
              <a:ea typeface="Arial"/>
              <a:cs typeface="Arial"/>
              <a:sym typeface="Arial"/>
            </a:endParaRPr>
          </a:p>
        </p:txBody>
      </p:sp>
      <p:pic>
        <p:nvPicPr>
          <p:cNvPr id="208" name="Google Shape;208;p7"/>
          <p:cNvPicPr preferRelativeResize="0"/>
          <p:nvPr/>
        </p:nvPicPr>
        <p:blipFill rotWithShape="1">
          <a:blip r:embed="rId3">
            <a:alphaModFix/>
          </a:blip>
          <a:srcRect b="0" l="0" r="0" t="0"/>
          <a:stretch/>
        </p:blipFill>
        <p:spPr>
          <a:xfrm>
            <a:off x="228600" y="1804680"/>
            <a:ext cx="8684280" cy="2468880"/>
          </a:xfrm>
          <a:prstGeom prst="rect">
            <a:avLst/>
          </a:prstGeom>
          <a:noFill/>
          <a:ln>
            <a:noFill/>
          </a:ln>
        </p:spPr>
      </p:pic>
      <p:sp>
        <p:nvSpPr>
          <p:cNvPr id="209" name="Google Shape;209;p7"/>
          <p:cNvSpPr/>
          <p:nvPr/>
        </p:nvSpPr>
        <p:spPr>
          <a:xfrm>
            <a:off x="228600" y="896040"/>
            <a:ext cx="8684280" cy="546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chemeClr val="dk2"/>
                </a:solidFill>
                <a:latin typeface="Urbanist"/>
                <a:ea typeface="Urbanist"/>
                <a:cs typeface="Urbanist"/>
                <a:sym typeface="Urbanist"/>
              </a:rPr>
              <a:t>Verifies antenna and ground station performance and closing the link. The flatsat goes to the parking garage across from the DLC, and the SWARM-EX Hydra and GNU Radio instances run in the COSGC Ground Station.</a:t>
            </a:r>
            <a:endParaRPr b="0" i="0" sz="1100" u="none" cap="none" strike="noStrike">
              <a:solidFill>
                <a:srgbClr val="FFFFF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8"/>
          <p:cNvSpPr txBox="1"/>
          <p:nvPr>
            <p:ph idx="4294967295" type="subTitle"/>
          </p:nvPr>
        </p:nvSpPr>
        <p:spPr>
          <a:xfrm>
            <a:off x="4716720" y="4676040"/>
            <a:ext cx="229140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SWARM EX COMMS Mid Semester Review</a:t>
            </a:r>
            <a:endParaRPr b="0" i="0" sz="700" u="none" cap="none" strike="noStrike">
              <a:solidFill>
                <a:srgbClr val="FFFFFF"/>
              </a:solidFill>
              <a:latin typeface="Arial"/>
              <a:ea typeface="Arial"/>
              <a:cs typeface="Arial"/>
              <a:sym typeface="Arial"/>
            </a:endParaRPr>
          </a:p>
        </p:txBody>
      </p:sp>
      <p:sp>
        <p:nvSpPr>
          <p:cNvPr id="215" name="Google Shape;215;p8"/>
          <p:cNvSpPr txBox="1"/>
          <p:nvPr>
            <p:ph idx="4294967295" type="subTitle"/>
          </p:nvPr>
        </p:nvSpPr>
        <p:spPr>
          <a:xfrm>
            <a:off x="6859080" y="4683600"/>
            <a:ext cx="2053440" cy="225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Fall 2026</a:t>
            </a:r>
            <a:endParaRPr b="0" i="0" sz="700" u="none" cap="none" strike="noStrike">
              <a:solidFill>
                <a:srgbClr val="FFFFFF"/>
              </a:solidFill>
              <a:latin typeface="Arial"/>
              <a:ea typeface="Arial"/>
              <a:cs typeface="Arial"/>
              <a:sym typeface="Arial"/>
            </a:endParaRPr>
          </a:p>
        </p:txBody>
      </p:sp>
      <p:sp>
        <p:nvSpPr>
          <p:cNvPr id="216" name="Google Shape;216;p8"/>
          <p:cNvSpPr txBox="1"/>
          <p:nvPr>
            <p:ph idx="4294967295" type="title"/>
          </p:nvPr>
        </p:nvSpPr>
        <p:spPr>
          <a:xfrm>
            <a:off x="228600" y="263880"/>
            <a:ext cx="8683560" cy="947520"/>
          </a:xfrm>
          <a:prstGeom prst="rect">
            <a:avLst/>
          </a:prstGeom>
          <a:noFill/>
          <a:ln>
            <a:noFill/>
          </a:ln>
        </p:spPr>
        <p:txBody>
          <a:bodyPr anchorCtr="0" anchor="t" bIns="91425" lIns="0" spcFirstLastPara="1" rIns="91425" wrap="square" tIns="0">
            <a:noAutofit/>
          </a:bodyPr>
          <a:lstStyle/>
          <a:p>
            <a:pPr indent="0" lvl="0" marL="0" marR="0" rtl="0" algn="l">
              <a:lnSpc>
                <a:spcPct val="85000"/>
              </a:lnSpc>
              <a:spcBef>
                <a:spcPts val="0"/>
              </a:spcBef>
              <a:spcAft>
                <a:spcPts val="0"/>
              </a:spcAft>
              <a:buClr>
                <a:schemeClr val="dk2"/>
              </a:buClr>
              <a:buSzPts val="3400"/>
              <a:buFont typeface="Urbanist Medium"/>
              <a:buNone/>
            </a:pPr>
            <a:r>
              <a:rPr b="0" i="0" lang="en-US" sz="3400" u="none" cap="none" strike="noStrike">
                <a:solidFill>
                  <a:schemeClr val="dk2"/>
                </a:solidFill>
                <a:latin typeface="Urbanist Medium"/>
                <a:ea typeface="Urbanist Medium"/>
                <a:cs typeface="Urbanist Medium"/>
                <a:sym typeface="Urbanist Medium"/>
              </a:rPr>
              <a:t>SCT-4: Antennas in the loop, long range</a:t>
            </a:r>
            <a:endParaRPr b="0" i="0" sz="3400" u="none" cap="none" strike="noStrike">
              <a:solidFill>
                <a:srgbClr val="FFFFFF"/>
              </a:solidFill>
              <a:latin typeface="Arial"/>
              <a:ea typeface="Arial"/>
              <a:cs typeface="Arial"/>
              <a:sym typeface="Arial"/>
            </a:endParaRPr>
          </a:p>
        </p:txBody>
      </p:sp>
      <p:sp>
        <p:nvSpPr>
          <p:cNvPr id="217" name="Google Shape;217;p8"/>
          <p:cNvSpPr txBox="1"/>
          <p:nvPr>
            <p:ph idx="4294967295" type="subTitle"/>
          </p:nvPr>
        </p:nvSpPr>
        <p:spPr>
          <a:xfrm>
            <a:off x="320760" y="4676040"/>
            <a:ext cx="2696760" cy="23328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Justin Le</a:t>
            </a:r>
            <a:endParaRPr b="0" i="0" sz="700" u="none" cap="none" strike="noStrike">
              <a:solidFill>
                <a:srgbClr val="FFFFFF"/>
              </a:solidFill>
              <a:latin typeface="Arial"/>
              <a:ea typeface="Arial"/>
              <a:cs typeface="Arial"/>
              <a:sym typeface="Arial"/>
            </a:endParaRPr>
          </a:p>
        </p:txBody>
      </p:sp>
      <p:pic>
        <p:nvPicPr>
          <p:cNvPr id="218" name="Google Shape;218;p8"/>
          <p:cNvPicPr preferRelativeResize="0"/>
          <p:nvPr/>
        </p:nvPicPr>
        <p:blipFill rotWithShape="1">
          <a:blip r:embed="rId3">
            <a:alphaModFix/>
          </a:blip>
          <a:srcRect b="0" l="0" r="0" t="0"/>
          <a:stretch/>
        </p:blipFill>
        <p:spPr>
          <a:xfrm>
            <a:off x="228600" y="1804680"/>
            <a:ext cx="8684280" cy="2468880"/>
          </a:xfrm>
          <a:prstGeom prst="rect">
            <a:avLst/>
          </a:prstGeom>
          <a:noFill/>
          <a:ln>
            <a:noFill/>
          </a:ln>
        </p:spPr>
      </p:pic>
      <p:sp>
        <p:nvSpPr>
          <p:cNvPr id="219" name="Google Shape;219;p8"/>
          <p:cNvSpPr/>
          <p:nvPr/>
        </p:nvSpPr>
        <p:spPr>
          <a:xfrm>
            <a:off x="228600" y="896040"/>
            <a:ext cx="8684280" cy="546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chemeClr val="dk2"/>
                </a:solidFill>
                <a:latin typeface="Urbanist"/>
                <a:ea typeface="Urbanist"/>
                <a:cs typeface="Urbanist"/>
                <a:sym typeface="Urbanist"/>
              </a:rPr>
              <a:t>Same setup as SCT-3. Only the distance between the flatsat and the ground station changes, to verify the link closes over a longer range.</a:t>
            </a:r>
            <a:endParaRPr b="0" i="0" sz="1100" u="none" cap="none" strike="noStrike">
              <a:solidFill>
                <a:srgbClr val="FFFFFF"/>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9"/>
          <p:cNvSpPr txBox="1"/>
          <p:nvPr>
            <p:ph idx="4294967295" type="subTitle"/>
          </p:nvPr>
        </p:nvSpPr>
        <p:spPr>
          <a:xfrm>
            <a:off x="4716720" y="4676040"/>
            <a:ext cx="229140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SWARM EX COMMS Mid Semester Review</a:t>
            </a:r>
            <a:endParaRPr b="0" i="0" sz="700" u="none" cap="none" strike="noStrike">
              <a:solidFill>
                <a:srgbClr val="FFFFFF"/>
              </a:solidFill>
              <a:latin typeface="Arial"/>
              <a:ea typeface="Arial"/>
              <a:cs typeface="Arial"/>
              <a:sym typeface="Arial"/>
            </a:endParaRPr>
          </a:p>
        </p:txBody>
      </p:sp>
      <p:sp>
        <p:nvSpPr>
          <p:cNvPr id="225" name="Google Shape;225;p9"/>
          <p:cNvSpPr txBox="1"/>
          <p:nvPr>
            <p:ph idx="4294967295" type="subTitle"/>
          </p:nvPr>
        </p:nvSpPr>
        <p:spPr>
          <a:xfrm>
            <a:off x="6859080" y="4683600"/>
            <a:ext cx="2053440" cy="225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Fall 2026</a:t>
            </a:r>
            <a:endParaRPr b="0" i="0" sz="700" u="none" cap="none" strike="noStrike">
              <a:solidFill>
                <a:srgbClr val="FFFFFF"/>
              </a:solidFill>
              <a:latin typeface="Arial"/>
              <a:ea typeface="Arial"/>
              <a:cs typeface="Arial"/>
              <a:sym typeface="Arial"/>
            </a:endParaRPr>
          </a:p>
        </p:txBody>
      </p:sp>
      <p:sp>
        <p:nvSpPr>
          <p:cNvPr id="226" name="Google Shape;226;p9"/>
          <p:cNvSpPr txBox="1"/>
          <p:nvPr>
            <p:ph idx="4294967295" type="title"/>
          </p:nvPr>
        </p:nvSpPr>
        <p:spPr>
          <a:xfrm>
            <a:off x="228600" y="263880"/>
            <a:ext cx="5055840" cy="947520"/>
          </a:xfrm>
          <a:prstGeom prst="rect">
            <a:avLst/>
          </a:prstGeom>
          <a:noFill/>
          <a:ln>
            <a:noFill/>
          </a:ln>
        </p:spPr>
        <p:txBody>
          <a:bodyPr anchorCtr="0" anchor="t" bIns="91425" lIns="0" spcFirstLastPara="1" rIns="91425" wrap="square" tIns="0">
            <a:noAutofit/>
          </a:bodyPr>
          <a:lstStyle/>
          <a:p>
            <a:pPr indent="0" lvl="0" marL="0" marR="0" rtl="0" algn="l">
              <a:lnSpc>
                <a:spcPct val="85000"/>
              </a:lnSpc>
              <a:spcBef>
                <a:spcPts val="0"/>
              </a:spcBef>
              <a:spcAft>
                <a:spcPts val="0"/>
              </a:spcAft>
              <a:buClr>
                <a:schemeClr val="dk2"/>
              </a:buClr>
              <a:buSzPts val="3400"/>
              <a:buFont typeface="Urbanist Medium"/>
              <a:buNone/>
            </a:pPr>
            <a:r>
              <a:rPr b="0" i="0" lang="en-US" sz="3400" u="none" cap="none" strike="noStrike">
                <a:solidFill>
                  <a:schemeClr val="dk2"/>
                </a:solidFill>
                <a:latin typeface="Urbanist Medium"/>
                <a:ea typeface="Urbanist Medium"/>
                <a:cs typeface="Urbanist Medium"/>
                <a:sym typeface="Urbanist Medium"/>
              </a:rPr>
              <a:t>Changes to the plan</a:t>
            </a:r>
            <a:endParaRPr b="0" i="0" sz="3400" u="none" cap="none" strike="noStrike">
              <a:solidFill>
                <a:srgbClr val="FFFFFF"/>
              </a:solidFill>
              <a:latin typeface="Arial"/>
              <a:ea typeface="Arial"/>
              <a:cs typeface="Arial"/>
              <a:sym typeface="Arial"/>
            </a:endParaRPr>
          </a:p>
        </p:txBody>
      </p:sp>
      <p:sp>
        <p:nvSpPr>
          <p:cNvPr id="227" name="Google Shape;227;p9"/>
          <p:cNvSpPr txBox="1"/>
          <p:nvPr>
            <p:ph idx="4294967295" type="subTitle"/>
          </p:nvPr>
        </p:nvSpPr>
        <p:spPr>
          <a:xfrm>
            <a:off x="320760" y="4676040"/>
            <a:ext cx="2696760" cy="23328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Justin Le</a:t>
            </a:r>
            <a:endParaRPr b="0" i="0" sz="700" u="none" cap="none" strike="noStrike">
              <a:solidFill>
                <a:srgbClr val="FFFFFF"/>
              </a:solidFill>
              <a:latin typeface="Arial"/>
              <a:ea typeface="Arial"/>
              <a:cs typeface="Arial"/>
              <a:sym typeface="Arial"/>
            </a:endParaRPr>
          </a:p>
        </p:txBody>
      </p:sp>
      <p:sp>
        <p:nvSpPr>
          <p:cNvPr id="228" name="Google Shape;228;p9"/>
          <p:cNvSpPr/>
          <p:nvPr/>
        </p:nvSpPr>
        <p:spPr>
          <a:xfrm>
            <a:off x="228600" y="896040"/>
            <a:ext cx="4134600" cy="159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400" u="none" cap="none" strike="noStrike">
                <a:solidFill>
                  <a:schemeClr val="dk2"/>
                </a:solidFill>
                <a:latin typeface="Urbanist SemiBold"/>
                <a:ea typeface="Urbanist SemiBold"/>
                <a:cs typeface="Urbanist SemiBold"/>
                <a:sym typeface="Urbanist SemiBold"/>
              </a:rPr>
              <a:t>Start of semester</a:t>
            </a:r>
            <a:endParaRPr b="0" i="0" sz="1400" u="none" cap="none" strike="noStrike">
              <a:solidFill>
                <a:srgbClr val="FFFFFF"/>
              </a:solidFill>
              <a:latin typeface="Arial"/>
              <a:ea typeface="Arial"/>
              <a:cs typeface="Arial"/>
              <a:sym typeface="Arial"/>
            </a:endParaRPr>
          </a:p>
          <a:p>
            <a:pPr indent="-152280" lvl="0" marL="152280" marR="0" rtl="0" algn="l">
              <a:lnSpc>
                <a:spcPct val="100000"/>
              </a:lnSpc>
              <a:spcBef>
                <a:spcPts val="400"/>
              </a:spcBef>
              <a:spcAft>
                <a:spcPts val="0"/>
              </a:spcAft>
              <a:buClr>
                <a:srgbClr val="DEFF9A"/>
              </a:buClr>
              <a:buSzPts val="1100"/>
              <a:buFont typeface="Arial"/>
              <a:buChar char="•"/>
            </a:pPr>
            <a:r>
              <a:rPr b="0" i="0" lang="en-US" sz="1100" u="none" cap="none" strike="noStrike">
                <a:solidFill>
                  <a:schemeClr val="dk2"/>
                </a:solidFill>
                <a:latin typeface="Urbanist"/>
                <a:ea typeface="Urbanist"/>
                <a:cs typeface="Urbanist"/>
                <a:sym typeface="Urbanist"/>
              </a:rPr>
              <a:t>I was developing the GS PC architecture that will be implemented</a:t>
            </a:r>
            <a:endParaRPr b="0" i="0" sz="1100" u="none" cap="none" strike="noStrike">
              <a:solidFill>
                <a:srgbClr val="FFFFFF"/>
              </a:solidFill>
              <a:latin typeface="Arial"/>
              <a:ea typeface="Arial"/>
              <a:cs typeface="Arial"/>
              <a:sym typeface="Arial"/>
            </a:endParaRPr>
          </a:p>
          <a:p>
            <a:pPr indent="-152280" lvl="0" marL="152280" marR="0" rtl="0" algn="l">
              <a:lnSpc>
                <a:spcPct val="100000"/>
              </a:lnSpc>
              <a:spcBef>
                <a:spcPts val="400"/>
              </a:spcBef>
              <a:spcAft>
                <a:spcPts val="0"/>
              </a:spcAft>
              <a:buClr>
                <a:srgbClr val="DEFF9A"/>
              </a:buClr>
              <a:buSzPts val="1100"/>
              <a:buFont typeface="Arial"/>
              <a:buChar char="•"/>
            </a:pPr>
            <a:r>
              <a:rPr b="0" i="0" lang="en-US" sz="1100" u="none" cap="none" strike="noStrike">
                <a:solidFill>
                  <a:schemeClr val="dk2"/>
                </a:solidFill>
                <a:latin typeface="Urbanist"/>
                <a:ea typeface="Urbanist"/>
                <a:cs typeface="Urbanist"/>
                <a:sym typeface="Urbanist"/>
              </a:rPr>
              <a:t>Rick's 2-PC proposal to mitigate hydra crashes</a:t>
            </a:r>
            <a:endParaRPr b="0" i="0" sz="1100" u="none" cap="none" strike="noStrike">
              <a:solidFill>
                <a:srgbClr val="FFFFFF"/>
              </a:solidFill>
              <a:latin typeface="Arial"/>
              <a:ea typeface="Arial"/>
              <a:cs typeface="Arial"/>
              <a:sym typeface="Arial"/>
            </a:endParaRPr>
          </a:p>
          <a:p>
            <a:pPr indent="-152280" lvl="0" marL="152280" marR="0" rtl="0" algn="l">
              <a:lnSpc>
                <a:spcPct val="100000"/>
              </a:lnSpc>
              <a:spcBef>
                <a:spcPts val="400"/>
              </a:spcBef>
              <a:spcAft>
                <a:spcPts val="0"/>
              </a:spcAft>
              <a:buClr>
                <a:srgbClr val="DEFF9A"/>
              </a:buClr>
              <a:buSzPts val="1100"/>
              <a:buFont typeface="Arial"/>
              <a:buChar char="•"/>
            </a:pPr>
            <a:r>
              <a:rPr b="0" i="0" lang="en-US" sz="1100" u="none" cap="none" strike="noStrike">
                <a:solidFill>
                  <a:schemeClr val="dk2"/>
                </a:solidFill>
                <a:latin typeface="Urbanist"/>
                <a:ea typeface="Urbanist"/>
                <a:cs typeface="Urbanist"/>
                <a:sym typeface="Urbanist"/>
              </a:rPr>
              <a:t>The 443 white tower running Hydra, plus GS laptop running GNU Radio</a:t>
            </a:r>
            <a:endParaRPr b="0" i="0" sz="1100" u="none" cap="none" strike="noStrike">
              <a:solidFill>
                <a:srgbClr val="FFFFFF"/>
              </a:solidFill>
              <a:latin typeface="Arial"/>
              <a:ea typeface="Arial"/>
              <a:cs typeface="Arial"/>
              <a:sym typeface="Arial"/>
            </a:endParaRPr>
          </a:p>
        </p:txBody>
      </p:sp>
      <p:sp>
        <p:nvSpPr>
          <p:cNvPr id="229" name="Google Shape;229;p9"/>
          <p:cNvSpPr/>
          <p:nvPr/>
        </p:nvSpPr>
        <p:spPr>
          <a:xfrm>
            <a:off x="4777920" y="896040"/>
            <a:ext cx="4134600" cy="159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400" u="none" cap="none" strike="noStrike">
                <a:solidFill>
                  <a:schemeClr val="dk2"/>
                </a:solidFill>
                <a:latin typeface="Urbanist SemiBold"/>
                <a:ea typeface="Urbanist SemiBold"/>
                <a:cs typeface="Urbanist SemiBold"/>
                <a:sym typeface="Urbanist SemiBold"/>
              </a:rPr>
              <a:t>Currently</a:t>
            </a:r>
            <a:endParaRPr b="0" i="0" sz="1400" u="none" cap="none" strike="noStrike">
              <a:solidFill>
                <a:srgbClr val="FFFFFF"/>
              </a:solidFill>
              <a:latin typeface="Arial"/>
              <a:ea typeface="Arial"/>
              <a:cs typeface="Arial"/>
              <a:sym typeface="Arial"/>
            </a:endParaRPr>
          </a:p>
          <a:p>
            <a:pPr indent="-152280" lvl="0" marL="152280" marR="0" rtl="0" algn="l">
              <a:lnSpc>
                <a:spcPct val="100000"/>
              </a:lnSpc>
              <a:spcBef>
                <a:spcPts val="400"/>
              </a:spcBef>
              <a:spcAft>
                <a:spcPts val="0"/>
              </a:spcAft>
              <a:buClr>
                <a:srgbClr val="DEFF9A"/>
              </a:buClr>
              <a:buSzPts val="1100"/>
              <a:buFont typeface="Arial"/>
              <a:buChar char="•"/>
            </a:pPr>
            <a:r>
              <a:rPr b="0" i="0" lang="en-US" sz="1100" u="none" cap="none" strike="noStrike">
                <a:solidFill>
                  <a:schemeClr val="dk2"/>
                </a:solidFill>
                <a:latin typeface="Urbanist"/>
                <a:ea typeface="Urbanist"/>
                <a:cs typeface="Urbanist"/>
                <a:sym typeface="Urbanist"/>
              </a:rPr>
              <a:t>Scott Palo and Nicholas Rainville lead GS PC development and bring-up</a:t>
            </a:r>
            <a:endParaRPr b="0" i="0" sz="1100" u="none" cap="none" strike="noStrike">
              <a:solidFill>
                <a:srgbClr val="FFFFFF"/>
              </a:solidFill>
              <a:latin typeface="Arial"/>
              <a:ea typeface="Arial"/>
              <a:cs typeface="Arial"/>
              <a:sym typeface="Arial"/>
            </a:endParaRPr>
          </a:p>
          <a:p>
            <a:pPr indent="-152280" lvl="0" marL="152280" marR="0" rtl="0" algn="l">
              <a:lnSpc>
                <a:spcPct val="100000"/>
              </a:lnSpc>
              <a:spcBef>
                <a:spcPts val="400"/>
              </a:spcBef>
              <a:spcAft>
                <a:spcPts val="0"/>
              </a:spcAft>
              <a:buClr>
                <a:srgbClr val="DEFF9A"/>
              </a:buClr>
              <a:buSzPts val="1100"/>
              <a:buFont typeface="Arial"/>
              <a:buChar char="•"/>
            </a:pPr>
            <a:r>
              <a:rPr b="0" i="0" lang="en-US" sz="1100" u="none" cap="none" strike="noStrike">
                <a:solidFill>
                  <a:schemeClr val="dk2"/>
                </a:solidFill>
                <a:latin typeface="Urbanist"/>
                <a:ea typeface="Urbanist"/>
                <a:cs typeface="Urbanist"/>
                <a:sym typeface="Urbanist"/>
              </a:rPr>
              <a:t>My role is verifying it in the comms chain once it works</a:t>
            </a:r>
            <a:endParaRPr b="0" i="0" sz="1100" u="none" cap="none" strike="noStrike">
              <a:solidFill>
                <a:srgbClr val="FFFFFF"/>
              </a:solidFill>
              <a:latin typeface="Arial"/>
              <a:ea typeface="Arial"/>
              <a:cs typeface="Arial"/>
              <a:sym typeface="Arial"/>
            </a:endParaRPr>
          </a:p>
          <a:p>
            <a:pPr indent="-152280" lvl="0" marL="152280" marR="0" rtl="0" algn="l">
              <a:lnSpc>
                <a:spcPct val="100000"/>
              </a:lnSpc>
              <a:spcBef>
                <a:spcPts val="400"/>
              </a:spcBef>
              <a:spcAft>
                <a:spcPts val="0"/>
              </a:spcAft>
              <a:buClr>
                <a:srgbClr val="DEFF9A"/>
              </a:buClr>
              <a:buSzPts val="1100"/>
              <a:buFont typeface="Arial"/>
              <a:buChar char="•"/>
            </a:pPr>
            <a:r>
              <a:rPr b="0" i="0" lang="en-US" sz="1100" u="none" cap="none" strike="noStrike">
                <a:solidFill>
                  <a:schemeClr val="dk2"/>
                </a:solidFill>
                <a:latin typeface="Urbanist"/>
                <a:ea typeface="Urbanist"/>
                <a:cs typeface="Urbanist"/>
                <a:sym typeface="Urbanist"/>
              </a:rPr>
              <a:t>Blocked on development and no ground station licensing for a while</a:t>
            </a:r>
            <a:endParaRPr b="0" i="0" sz="1100" u="none" cap="none" strike="noStrike">
              <a:solidFill>
                <a:srgbClr val="FFFFFF"/>
              </a:solidFill>
              <a:latin typeface="Arial"/>
              <a:ea typeface="Arial"/>
              <a:cs typeface="Arial"/>
              <a:sym typeface="Arial"/>
            </a:endParaRPr>
          </a:p>
        </p:txBody>
      </p:sp>
      <p:pic>
        <p:nvPicPr>
          <p:cNvPr id="230" name="Google Shape;230;p9"/>
          <p:cNvPicPr preferRelativeResize="0"/>
          <p:nvPr/>
        </p:nvPicPr>
        <p:blipFill rotWithShape="1">
          <a:blip r:embed="rId3">
            <a:alphaModFix/>
          </a:blip>
          <a:srcRect b="0" l="0" r="0" t="0"/>
          <a:stretch/>
        </p:blipFill>
        <p:spPr>
          <a:xfrm>
            <a:off x="0" y="2286000"/>
            <a:ext cx="9141840" cy="227052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0"/>
          <p:cNvSpPr txBox="1"/>
          <p:nvPr>
            <p:ph idx="4294967295" type="subTitle"/>
          </p:nvPr>
        </p:nvSpPr>
        <p:spPr>
          <a:xfrm>
            <a:off x="4716720" y="4676040"/>
            <a:ext cx="229140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SWARM EX COMMS Mid Semester Review</a:t>
            </a:r>
            <a:endParaRPr b="0" i="0" sz="700" u="none" cap="none" strike="noStrike">
              <a:solidFill>
                <a:srgbClr val="FFFFFF"/>
              </a:solidFill>
              <a:latin typeface="Arial"/>
              <a:ea typeface="Arial"/>
              <a:cs typeface="Arial"/>
              <a:sym typeface="Arial"/>
            </a:endParaRPr>
          </a:p>
        </p:txBody>
      </p:sp>
      <p:sp>
        <p:nvSpPr>
          <p:cNvPr id="236" name="Google Shape;236;p10"/>
          <p:cNvSpPr txBox="1"/>
          <p:nvPr>
            <p:ph idx="4294967295" type="subTitle"/>
          </p:nvPr>
        </p:nvSpPr>
        <p:spPr>
          <a:xfrm>
            <a:off x="6859080" y="4683600"/>
            <a:ext cx="2053440" cy="225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Fall 2026</a:t>
            </a:r>
            <a:endParaRPr b="0" i="0" sz="700" u="none" cap="none" strike="noStrike">
              <a:solidFill>
                <a:srgbClr val="FFFFFF"/>
              </a:solidFill>
              <a:latin typeface="Arial"/>
              <a:ea typeface="Arial"/>
              <a:cs typeface="Arial"/>
              <a:sym typeface="Arial"/>
            </a:endParaRPr>
          </a:p>
        </p:txBody>
      </p:sp>
      <p:sp>
        <p:nvSpPr>
          <p:cNvPr id="237" name="Google Shape;237;p10"/>
          <p:cNvSpPr txBox="1"/>
          <p:nvPr>
            <p:ph idx="4294967295" type="title"/>
          </p:nvPr>
        </p:nvSpPr>
        <p:spPr>
          <a:xfrm>
            <a:off x="228600" y="263880"/>
            <a:ext cx="7641000" cy="947520"/>
          </a:xfrm>
          <a:prstGeom prst="rect">
            <a:avLst/>
          </a:prstGeom>
          <a:noFill/>
          <a:ln>
            <a:noFill/>
          </a:ln>
        </p:spPr>
        <p:txBody>
          <a:bodyPr anchorCtr="0" anchor="t" bIns="91425" lIns="0" spcFirstLastPara="1" rIns="91425" wrap="square" tIns="0">
            <a:noAutofit/>
          </a:bodyPr>
          <a:lstStyle/>
          <a:p>
            <a:pPr indent="0" lvl="0" marL="0" marR="0" rtl="0" algn="l">
              <a:lnSpc>
                <a:spcPct val="85000"/>
              </a:lnSpc>
              <a:spcBef>
                <a:spcPts val="0"/>
              </a:spcBef>
              <a:spcAft>
                <a:spcPts val="0"/>
              </a:spcAft>
              <a:buClr>
                <a:schemeClr val="dk2"/>
              </a:buClr>
              <a:buSzPts val="3400"/>
              <a:buFont typeface="Urbanist Medium"/>
              <a:buNone/>
            </a:pPr>
            <a:r>
              <a:rPr b="0" i="0" lang="en-US" sz="3400" u="none" cap="none" strike="noStrike">
                <a:solidFill>
                  <a:schemeClr val="dk2"/>
                </a:solidFill>
                <a:latin typeface="Urbanist Medium"/>
                <a:ea typeface="Urbanist Medium"/>
                <a:cs typeface="Urbanist Medium"/>
                <a:sym typeface="Urbanist Medium"/>
              </a:rPr>
              <a:t>Minimum Communications Test</a:t>
            </a:r>
            <a:endParaRPr b="0" i="0" sz="3400" u="none" cap="none" strike="noStrike">
              <a:solidFill>
                <a:srgbClr val="FFFFFF"/>
              </a:solidFill>
              <a:latin typeface="Arial"/>
              <a:ea typeface="Arial"/>
              <a:cs typeface="Arial"/>
              <a:sym typeface="Arial"/>
            </a:endParaRPr>
          </a:p>
        </p:txBody>
      </p:sp>
      <p:sp>
        <p:nvSpPr>
          <p:cNvPr id="238" name="Google Shape;238;p10"/>
          <p:cNvSpPr txBox="1"/>
          <p:nvPr>
            <p:ph idx="4294967295" type="subTitle"/>
          </p:nvPr>
        </p:nvSpPr>
        <p:spPr>
          <a:xfrm>
            <a:off x="320760" y="4676040"/>
            <a:ext cx="2696760" cy="23328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Justin Le</a:t>
            </a:r>
            <a:endParaRPr b="0" i="0" sz="700" u="none" cap="none" strike="noStrike">
              <a:solidFill>
                <a:srgbClr val="FFFFFF"/>
              </a:solidFill>
              <a:latin typeface="Arial"/>
              <a:ea typeface="Arial"/>
              <a:cs typeface="Arial"/>
              <a:sym typeface="Arial"/>
            </a:endParaRPr>
          </a:p>
        </p:txBody>
      </p:sp>
      <p:sp>
        <p:nvSpPr>
          <p:cNvPr id="239" name="Google Shape;239;p10"/>
          <p:cNvSpPr/>
          <p:nvPr/>
        </p:nvSpPr>
        <p:spPr>
          <a:xfrm>
            <a:off x="228600" y="896040"/>
            <a:ext cx="4157280" cy="26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chemeClr val="dk2"/>
                </a:solidFill>
                <a:latin typeface="Urbanist SemiBold"/>
                <a:ea typeface="Urbanist SemiBold"/>
                <a:cs typeface="Urbanist SemiBold"/>
                <a:sym typeface="Urbanist SemiBold"/>
              </a:rPr>
              <a:t>Worked bottom up, one interface at a time</a:t>
            </a:r>
            <a:endParaRPr b="0" i="0" sz="1300" u="none" cap="none" strike="noStrike">
              <a:solidFill>
                <a:srgbClr val="FFFFFF"/>
              </a:solidFill>
              <a:latin typeface="Arial"/>
              <a:ea typeface="Arial"/>
              <a:cs typeface="Arial"/>
              <a:sym typeface="Arial"/>
            </a:endParaRPr>
          </a:p>
          <a:p>
            <a:pPr indent="-228600" lvl="0" marL="228600" marR="0" rtl="0" algn="l">
              <a:lnSpc>
                <a:spcPct val="100000"/>
              </a:lnSpc>
              <a:spcBef>
                <a:spcPts val="400"/>
              </a:spcBef>
              <a:spcAft>
                <a:spcPts val="0"/>
              </a:spcAft>
              <a:buNone/>
            </a:pPr>
            <a:r>
              <a:rPr b="0" i="0" lang="en-US" sz="1100" u="none" cap="none" strike="noStrike">
                <a:solidFill>
                  <a:schemeClr val="dk2"/>
                </a:solidFill>
                <a:latin typeface="Urbanist"/>
                <a:ea typeface="Urbanist"/>
                <a:cs typeface="Urbanist"/>
                <a:sym typeface="Urbanist"/>
              </a:rPr>
              <a:t>1.	Added the Li-2 commands, states and an opcode dictionary to Hydra</a:t>
            </a:r>
            <a:endParaRPr b="0" i="0" sz="1100" u="none" cap="none" strike="noStrike">
              <a:solidFill>
                <a:srgbClr val="FFFFFF"/>
              </a:solidFill>
              <a:latin typeface="Arial"/>
              <a:ea typeface="Arial"/>
              <a:cs typeface="Arial"/>
              <a:sym typeface="Arial"/>
            </a:endParaRPr>
          </a:p>
          <a:p>
            <a:pPr indent="-228600" lvl="0" marL="228600" marR="0" rtl="0" algn="l">
              <a:lnSpc>
                <a:spcPct val="100000"/>
              </a:lnSpc>
              <a:spcBef>
                <a:spcPts val="601"/>
              </a:spcBef>
              <a:spcAft>
                <a:spcPts val="0"/>
              </a:spcAft>
              <a:buNone/>
            </a:pPr>
            <a:r>
              <a:rPr b="0" i="0" lang="en-US" sz="1100" u="none" cap="none" strike="noStrike">
                <a:solidFill>
                  <a:schemeClr val="dk2"/>
                </a:solidFill>
                <a:latin typeface="Urbanist"/>
                <a:ea typeface="Urbanist"/>
                <a:cs typeface="Urbanist"/>
                <a:sym typeface="Urbanist"/>
              </a:rPr>
              <a:t>2.	Hardwired Hydra straight to the Li-2 and confirmed no-op, transmit and reset on the logic analyzer</a:t>
            </a:r>
            <a:endParaRPr b="0" i="0" sz="1100" u="none" cap="none" strike="noStrike">
              <a:solidFill>
                <a:srgbClr val="FFFFFF"/>
              </a:solidFill>
              <a:latin typeface="Arial"/>
              <a:ea typeface="Arial"/>
              <a:cs typeface="Arial"/>
              <a:sym typeface="Arial"/>
            </a:endParaRPr>
          </a:p>
          <a:p>
            <a:pPr indent="-146160" lvl="0" marL="457200" marR="0" rtl="0" algn="l">
              <a:lnSpc>
                <a:spcPct val="100000"/>
              </a:lnSpc>
              <a:spcBef>
                <a:spcPts val="601"/>
              </a:spcBef>
              <a:spcAft>
                <a:spcPts val="0"/>
              </a:spcAft>
              <a:buClr>
                <a:srgbClr val="F5F5F5"/>
              </a:buClr>
              <a:buSzPts val="1100"/>
              <a:buFont typeface="Arial"/>
              <a:buChar char="–"/>
            </a:pPr>
            <a:r>
              <a:rPr b="0" i="0" lang="en-US" sz="1100" u="none" cap="none" strike="noStrike">
                <a:solidFill>
                  <a:schemeClr val="dk2"/>
                </a:solidFill>
                <a:latin typeface="Urbanist"/>
                <a:ea typeface="Urbanist"/>
                <a:cs typeface="Urbanist"/>
                <a:sym typeface="Urbanist"/>
              </a:rPr>
              <a:t>Took longer than planned from documentation gaps and getting familiar with the hardware and software</a:t>
            </a:r>
            <a:endParaRPr b="0" i="0" sz="1100" u="none" cap="none" strike="noStrike">
              <a:solidFill>
                <a:srgbClr val="FFFFFF"/>
              </a:solidFill>
              <a:latin typeface="Arial"/>
              <a:ea typeface="Arial"/>
              <a:cs typeface="Arial"/>
              <a:sym typeface="Arial"/>
            </a:endParaRPr>
          </a:p>
          <a:p>
            <a:pPr indent="-228600" lvl="0" marL="228600" marR="0" rtl="0" algn="l">
              <a:lnSpc>
                <a:spcPct val="100000"/>
              </a:lnSpc>
              <a:spcBef>
                <a:spcPts val="601"/>
              </a:spcBef>
              <a:spcAft>
                <a:spcPts val="0"/>
              </a:spcAft>
              <a:buNone/>
            </a:pPr>
            <a:r>
              <a:rPr b="0" i="0" lang="en-US" sz="1100" u="none" cap="none" strike="noStrike">
                <a:solidFill>
                  <a:schemeClr val="dk2"/>
                </a:solidFill>
                <a:latin typeface="Urbanist"/>
                <a:ea typeface="Urbanist"/>
                <a:cs typeface="Urbanist"/>
                <a:sym typeface="Urbanist"/>
              </a:rPr>
              <a:t>3.	Put the CDH board in the loop. Commands were sent and acknowledged properly</a:t>
            </a:r>
            <a:endParaRPr b="0" i="0" sz="1100" u="none" cap="none" strike="noStrike">
              <a:solidFill>
                <a:srgbClr val="FFFFFF"/>
              </a:solidFill>
              <a:latin typeface="Arial"/>
              <a:ea typeface="Arial"/>
              <a:cs typeface="Arial"/>
              <a:sym typeface="Arial"/>
            </a:endParaRPr>
          </a:p>
        </p:txBody>
      </p:sp>
      <p:sp>
        <p:nvSpPr>
          <p:cNvPr id="240" name="Google Shape;240;p10"/>
          <p:cNvSpPr/>
          <p:nvPr/>
        </p:nvSpPr>
        <p:spPr>
          <a:xfrm>
            <a:off x="228600" y="2880360"/>
            <a:ext cx="4157280" cy="45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chemeClr val="dk2"/>
                </a:solidFill>
                <a:latin typeface="Urbanist SemiBold"/>
                <a:ea typeface="Urbanist SemiBold"/>
                <a:cs typeface="Urbanist SemiBold"/>
                <a:sym typeface="Urbanist SemiBold"/>
              </a:rPr>
              <a:t>Result: commands acknowledged through</a:t>
            </a:r>
            <a:endParaRPr b="0" i="0" sz="13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300" u="none" cap="none" strike="noStrike">
                <a:solidFill>
                  <a:schemeClr val="dk2"/>
                </a:solidFill>
                <a:latin typeface="Urbanist SemiBold"/>
                <a:ea typeface="Urbanist SemiBold"/>
                <a:cs typeface="Urbanist SemiBold"/>
                <a:sym typeface="Urbanist SemiBold"/>
              </a:rPr>
              <a:t>Hydra → CDH → Li-2</a:t>
            </a:r>
            <a:endParaRPr b="0" i="0" sz="1300" u="none" cap="none" strike="noStrike">
              <a:solidFill>
                <a:srgbClr val="FFFFFF"/>
              </a:solidFill>
              <a:latin typeface="Arial"/>
              <a:ea typeface="Arial"/>
              <a:cs typeface="Arial"/>
              <a:sym typeface="Arial"/>
            </a:endParaRPr>
          </a:p>
        </p:txBody>
      </p:sp>
      <p:pic>
        <p:nvPicPr>
          <p:cNvPr id="241" name="Google Shape;241;p10"/>
          <p:cNvPicPr preferRelativeResize="0"/>
          <p:nvPr/>
        </p:nvPicPr>
        <p:blipFill rotWithShape="1">
          <a:blip r:embed="rId3">
            <a:alphaModFix/>
          </a:blip>
          <a:srcRect b="0" l="0" r="0" t="0"/>
          <a:stretch/>
        </p:blipFill>
        <p:spPr>
          <a:xfrm>
            <a:off x="4663440" y="896040"/>
            <a:ext cx="4250160" cy="31870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1"/>
          <p:cNvSpPr txBox="1"/>
          <p:nvPr>
            <p:ph idx="4294967295" type="subTitle"/>
          </p:nvPr>
        </p:nvSpPr>
        <p:spPr>
          <a:xfrm>
            <a:off x="4716720" y="4676040"/>
            <a:ext cx="229140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SWARM EX COMMS Mid Semester Review</a:t>
            </a:r>
            <a:endParaRPr b="0" i="0" sz="700" u="none" cap="none" strike="noStrike">
              <a:solidFill>
                <a:srgbClr val="FFFFFF"/>
              </a:solidFill>
              <a:latin typeface="Arial"/>
              <a:ea typeface="Arial"/>
              <a:cs typeface="Arial"/>
              <a:sym typeface="Arial"/>
            </a:endParaRPr>
          </a:p>
        </p:txBody>
      </p:sp>
      <p:sp>
        <p:nvSpPr>
          <p:cNvPr id="247" name="Google Shape;247;p11"/>
          <p:cNvSpPr txBox="1"/>
          <p:nvPr>
            <p:ph idx="4294967295" type="subTitle"/>
          </p:nvPr>
        </p:nvSpPr>
        <p:spPr>
          <a:xfrm>
            <a:off x="6859080" y="4683600"/>
            <a:ext cx="2053440" cy="225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Fall 2026</a:t>
            </a:r>
            <a:endParaRPr b="0" i="0" sz="700" u="none" cap="none" strike="noStrike">
              <a:solidFill>
                <a:srgbClr val="FFFFFF"/>
              </a:solidFill>
              <a:latin typeface="Arial"/>
              <a:ea typeface="Arial"/>
              <a:cs typeface="Arial"/>
              <a:sym typeface="Arial"/>
            </a:endParaRPr>
          </a:p>
        </p:txBody>
      </p:sp>
      <p:sp>
        <p:nvSpPr>
          <p:cNvPr id="248" name="Google Shape;248;p11"/>
          <p:cNvSpPr txBox="1"/>
          <p:nvPr>
            <p:ph idx="4294967295" type="title"/>
          </p:nvPr>
        </p:nvSpPr>
        <p:spPr>
          <a:xfrm>
            <a:off x="228600" y="263880"/>
            <a:ext cx="7641000" cy="947520"/>
          </a:xfrm>
          <a:prstGeom prst="rect">
            <a:avLst/>
          </a:prstGeom>
          <a:noFill/>
          <a:ln>
            <a:noFill/>
          </a:ln>
        </p:spPr>
        <p:txBody>
          <a:bodyPr anchorCtr="0" anchor="t" bIns="91425" lIns="0" spcFirstLastPara="1" rIns="91425" wrap="square" tIns="0">
            <a:noAutofit/>
          </a:bodyPr>
          <a:lstStyle/>
          <a:p>
            <a:pPr indent="0" lvl="0" marL="0" marR="0" rtl="0" algn="l">
              <a:lnSpc>
                <a:spcPct val="85000"/>
              </a:lnSpc>
              <a:spcBef>
                <a:spcPts val="0"/>
              </a:spcBef>
              <a:spcAft>
                <a:spcPts val="0"/>
              </a:spcAft>
              <a:buClr>
                <a:schemeClr val="dk2"/>
              </a:buClr>
              <a:buSzPts val="3400"/>
              <a:buFont typeface="Urbanist Medium"/>
              <a:buNone/>
            </a:pPr>
            <a:r>
              <a:rPr b="0" i="0" lang="en-US" sz="3400" u="none" cap="none" strike="noStrike">
                <a:solidFill>
                  <a:schemeClr val="dk2"/>
                </a:solidFill>
                <a:latin typeface="Urbanist Medium"/>
                <a:ea typeface="Urbanist Medium"/>
                <a:cs typeface="Urbanist Medium"/>
                <a:sym typeface="Urbanist Medium"/>
              </a:rPr>
              <a:t>MCT: logic analyzer captures</a:t>
            </a:r>
            <a:endParaRPr b="0" i="0" sz="3400" u="none" cap="none" strike="noStrike">
              <a:solidFill>
                <a:srgbClr val="FFFFFF"/>
              </a:solidFill>
              <a:latin typeface="Arial"/>
              <a:ea typeface="Arial"/>
              <a:cs typeface="Arial"/>
              <a:sym typeface="Arial"/>
            </a:endParaRPr>
          </a:p>
        </p:txBody>
      </p:sp>
      <p:sp>
        <p:nvSpPr>
          <p:cNvPr id="249" name="Google Shape;249;p11"/>
          <p:cNvSpPr txBox="1"/>
          <p:nvPr>
            <p:ph idx="4294967295" type="subTitle"/>
          </p:nvPr>
        </p:nvSpPr>
        <p:spPr>
          <a:xfrm>
            <a:off x="320760" y="4676040"/>
            <a:ext cx="2696760" cy="23328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Justin Le</a:t>
            </a:r>
            <a:endParaRPr b="0" i="0" sz="700" u="none" cap="none" strike="noStrike">
              <a:solidFill>
                <a:srgbClr val="FFFFFF"/>
              </a:solidFill>
              <a:latin typeface="Arial"/>
              <a:ea typeface="Arial"/>
              <a:cs typeface="Arial"/>
              <a:sym typeface="Arial"/>
            </a:endParaRPr>
          </a:p>
        </p:txBody>
      </p:sp>
      <p:pic>
        <p:nvPicPr>
          <p:cNvPr id="250" name="Google Shape;250;p11"/>
          <p:cNvPicPr preferRelativeResize="0"/>
          <p:nvPr/>
        </p:nvPicPr>
        <p:blipFill rotWithShape="1">
          <a:blip r:embed="rId3">
            <a:alphaModFix/>
          </a:blip>
          <a:srcRect b="0" l="0" r="0" t="0"/>
          <a:stretch/>
        </p:blipFill>
        <p:spPr>
          <a:xfrm>
            <a:off x="4892040" y="3344760"/>
            <a:ext cx="3838680" cy="1033200"/>
          </a:xfrm>
          <a:prstGeom prst="rect">
            <a:avLst/>
          </a:prstGeom>
          <a:noFill/>
          <a:ln>
            <a:noFill/>
          </a:ln>
        </p:spPr>
      </p:pic>
      <p:pic>
        <p:nvPicPr>
          <p:cNvPr id="251" name="Google Shape;251;p11"/>
          <p:cNvPicPr preferRelativeResize="0"/>
          <p:nvPr/>
        </p:nvPicPr>
        <p:blipFill rotWithShape="1">
          <a:blip r:embed="rId4">
            <a:alphaModFix/>
          </a:blip>
          <a:srcRect b="0" l="0" r="0" t="0"/>
          <a:stretch/>
        </p:blipFill>
        <p:spPr>
          <a:xfrm>
            <a:off x="914400" y="1517760"/>
            <a:ext cx="7313400" cy="1431720"/>
          </a:xfrm>
          <a:prstGeom prst="rect">
            <a:avLst/>
          </a:prstGeom>
          <a:noFill/>
          <a:ln>
            <a:noFill/>
          </a:ln>
        </p:spPr>
      </p:pic>
      <p:pic>
        <p:nvPicPr>
          <p:cNvPr id="252" name="Google Shape;252;p11"/>
          <p:cNvPicPr preferRelativeResize="0"/>
          <p:nvPr/>
        </p:nvPicPr>
        <p:blipFill rotWithShape="1">
          <a:blip r:embed="rId5">
            <a:alphaModFix/>
          </a:blip>
          <a:srcRect b="0" l="0" r="0" t="0"/>
          <a:stretch/>
        </p:blipFill>
        <p:spPr>
          <a:xfrm>
            <a:off x="411480" y="3344760"/>
            <a:ext cx="3838680" cy="1043280"/>
          </a:xfrm>
          <a:prstGeom prst="rect">
            <a:avLst/>
          </a:prstGeom>
          <a:noFill/>
          <a:ln>
            <a:noFill/>
          </a:ln>
        </p:spPr>
      </p:pic>
      <p:sp>
        <p:nvSpPr>
          <p:cNvPr id="253" name="Google Shape;253;p11"/>
          <p:cNvSpPr/>
          <p:nvPr/>
        </p:nvSpPr>
        <p:spPr>
          <a:xfrm>
            <a:off x="228600" y="896040"/>
            <a:ext cx="8685000" cy="16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00" u="none" cap="none" strike="noStrike">
                <a:solidFill>
                  <a:srgbClr val="F5F5F5"/>
                </a:solidFill>
                <a:latin typeface="Urbanist"/>
                <a:ea typeface="Urbanist"/>
                <a:cs typeface="Urbanist"/>
                <a:sym typeface="Urbanist"/>
              </a:rPr>
              <a:t>Top trace: command sent to the Li-2.  Bottom trace: the Li-2’s reply</a:t>
            </a:r>
            <a:endParaRPr b="0" i="0" sz="1100" u="none" cap="none" strike="noStrike">
              <a:solidFill>
                <a:srgbClr val="FFFFFF"/>
              </a:solidFill>
              <a:latin typeface="Arial"/>
              <a:ea typeface="Arial"/>
              <a:cs typeface="Arial"/>
              <a:sym typeface="Arial"/>
            </a:endParaRPr>
          </a:p>
        </p:txBody>
      </p:sp>
      <p:sp>
        <p:nvSpPr>
          <p:cNvPr id="254" name="Google Shape;254;p11"/>
          <p:cNvSpPr/>
          <p:nvPr/>
        </p:nvSpPr>
        <p:spPr>
          <a:xfrm>
            <a:off x="914400" y="1261800"/>
            <a:ext cx="7313400" cy="182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F5F5F5"/>
                </a:solidFill>
                <a:latin typeface="Urbanist SemiBold"/>
                <a:ea typeface="Urbanist SemiBold"/>
                <a:cs typeface="Urbanist SemiBold"/>
                <a:sym typeface="Urbanist SemiBold"/>
              </a:rPr>
              <a:t>Transmit (0x03) with a </a:t>
            </a:r>
            <a:r>
              <a:rPr lang="en-US" sz="1200">
                <a:solidFill>
                  <a:srgbClr val="F5F5F5"/>
                </a:solidFill>
                <a:latin typeface="Urbanist SemiBold"/>
                <a:ea typeface="Urbanist SemiBold"/>
                <a:cs typeface="Urbanist SemiBold"/>
                <a:sym typeface="Urbanist SemiBold"/>
              </a:rPr>
              <a:t>payload</a:t>
            </a:r>
            <a:endParaRPr b="0" i="0" sz="1200" u="none" cap="none" strike="noStrike">
              <a:solidFill>
                <a:srgbClr val="FFFFFF"/>
              </a:solidFill>
              <a:latin typeface="Arial"/>
              <a:ea typeface="Arial"/>
              <a:cs typeface="Arial"/>
              <a:sym typeface="Arial"/>
            </a:endParaRPr>
          </a:p>
        </p:txBody>
      </p:sp>
      <p:sp>
        <p:nvSpPr>
          <p:cNvPr id="255" name="Google Shape;255;p11"/>
          <p:cNvSpPr/>
          <p:nvPr/>
        </p:nvSpPr>
        <p:spPr>
          <a:xfrm>
            <a:off x="411480" y="3088440"/>
            <a:ext cx="3838680" cy="182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F5F5F5"/>
                </a:solidFill>
                <a:latin typeface="Urbanist SemiBold"/>
                <a:ea typeface="Urbanist SemiBold"/>
                <a:cs typeface="Urbanist SemiBold"/>
                <a:sym typeface="Urbanist SemiBold"/>
              </a:rPr>
              <a:t>No-op (0x01)</a:t>
            </a:r>
            <a:endParaRPr b="0" i="0" sz="1200" u="none" cap="none" strike="noStrike">
              <a:solidFill>
                <a:srgbClr val="FFFFFF"/>
              </a:solidFill>
              <a:latin typeface="Arial"/>
              <a:ea typeface="Arial"/>
              <a:cs typeface="Arial"/>
              <a:sym typeface="Arial"/>
            </a:endParaRPr>
          </a:p>
        </p:txBody>
      </p:sp>
      <p:sp>
        <p:nvSpPr>
          <p:cNvPr id="256" name="Google Shape;256;p11"/>
          <p:cNvSpPr/>
          <p:nvPr/>
        </p:nvSpPr>
        <p:spPr>
          <a:xfrm>
            <a:off x="4892040" y="3088440"/>
            <a:ext cx="3838680" cy="182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F5F5F5"/>
                </a:solidFill>
                <a:latin typeface="Urbanist SemiBold"/>
                <a:ea typeface="Urbanist SemiBold"/>
                <a:cs typeface="Urbanist SemiBold"/>
                <a:sym typeface="Urbanist SemiBold"/>
              </a:rPr>
              <a:t>Reset (0x02)</a:t>
            </a:r>
            <a:endParaRPr b="0" i="0" sz="1200" u="none" cap="none" strike="noStrike">
              <a:solidFill>
                <a:srgbClr val="FFFF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2"/>
          <p:cNvSpPr txBox="1"/>
          <p:nvPr>
            <p:ph idx="4294967295" type="subTitle"/>
          </p:nvPr>
        </p:nvSpPr>
        <p:spPr>
          <a:xfrm>
            <a:off x="4716720" y="4676040"/>
            <a:ext cx="229140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SWARM EX COMMS Mid Semester Review</a:t>
            </a:r>
            <a:endParaRPr b="0" i="0" sz="700" u="none" cap="none" strike="noStrike">
              <a:solidFill>
                <a:srgbClr val="FFFFFF"/>
              </a:solidFill>
              <a:latin typeface="Arial"/>
              <a:ea typeface="Arial"/>
              <a:cs typeface="Arial"/>
              <a:sym typeface="Arial"/>
            </a:endParaRPr>
          </a:p>
        </p:txBody>
      </p:sp>
      <p:sp>
        <p:nvSpPr>
          <p:cNvPr id="262" name="Google Shape;262;p12"/>
          <p:cNvSpPr txBox="1"/>
          <p:nvPr>
            <p:ph idx="4294967295" type="subTitle"/>
          </p:nvPr>
        </p:nvSpPr>
        <p:spPr>
          <a:xfrm>
            <a:off x="6859080" y="4683600"/>
            <a:ext cx="2053440" cy="225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Fall 2026</a:t>
            </a:r>
            <a:endParaRPr b="0" i="0" sz="700" u="none" cap="none" strike="noStrike">
              <a:solidFill>
                <a:srgbClr val="FFFFFF"/>
              </a:solidFill>
              <a:latin typeface="Arial"/>
              <a:ea typeface="Arial"/>
              <a:cs typeface="Arial"/>
              <a:sym typeface="Arial"/>
            </a:endParaRPr>
          </a:p>
        </p:txBody>
      </p:sp>
      <p:sp>
        <p:nvSpPr>
          <p:cNvPr id="263" name="Google Shape;263;p12"/>
          <p:cNvSpPr txBox="1"/>
          <p:nvPr>
            <p:ph idx="4294967295" type="title"/>
          </p:nvPr>
        </p:nvSpPr>
        <p:spPr>
          <a:xfrm>
            <a:off x="228600" y="263880"/>
            <a:ext cx="3901320" cy="947520"/>
          </a:xfrm>
          <a:prstGeom prst="rect">
            <a:avLst/>
          </a:prstGeom>
          <a:noFill/>
          <a:ln>
            <a:noFill/>
          </a:ln>
        </p:spPr>
        <p:txBody>
          <a:bodyPr anchorCtr="0" anchor="t" bIns="91425" lIns="0" spcFirstLastPara="1" rIns="91425" wrap="square" tIns="0">
            <a:noAutofit/>
          </a:bodyPr>
          <a:lstStyle/>
          <a:p>
            <a:pPr indent="0" lvl="0" marL="0" marR="0" rtl="0" algn="l">
              <a:lnSpc>
                <a:spcPct val="85000"/>
              </a:lnSpc>
              <a:spcBef>
                <a:spcPts val="0"/>
              </a:spcBef>
              <a:spcAft>
                <a:spcPts val="0"/>
              </a:spcAft>
              <a:buClr>
                <a:schemeClr val="dk2"/>
              </a:buClr>
              <a:buSzPts val="3400"/>
              <a:buFont typeface="Urbanist Medium"/>
              <a:buNone/>
            </a:pPr>
            <a:r>
              <a:rPr b="0" i="0" lang="en-US" sz="3400" u="none" cap="none" strike="noStrike">
                <a:solidFill>
                  <a:schemeClr val="dk2"/>
                </a:solidFill>
                <a:latin typeface="Urbanist Medium"/>
                <a:ea typeface="Urbanist Medium"/>
                <a:cs typeface="Urbanist Medium"/>
                <a:sym typeface="Urbanist Medium"/>
              </a:rPr>
              <a:t>Ground Station PC</a:t>
            </a:r>
            <a:endParaRPr b="0" i="0" sz="3400" u="none" cap="none" strike="noStrike">
              <a:solidFill>
                <a:srgbClr val="FFFFFF"/>
              </a:solidFill>
              <a:latin typeface="Arial"/>
              <a:ea typeface="Arial"/>
              <a:cs typeface="Arial"/>
              <a:sym typeface="Arial"/>
            </a:endParaRPr>
          </a:p>
        </p:txBody>
      </p:sp>
      <p:sp>
        <p:nvSpPr>
          <p:cNvPr id="264" name="Google Shape;264;p12"/>
          <p:cNvSpPr txBox="1"/>
          <p:nvPr>
            <p:ph idx="4294967295" type="subTitle"/>
          </p:nvPr>
        </p:nvSpPr>
        <p:spPr>
          <a:xfrm>
            <a:off x="320760" y="4676040"/>
            <a:ext cx="2696760" cy="23328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Justin Le</a:t>
            </a:r>
            <a:endParaRPr b="0" i="0" sz="700" u="none" cap="none" strike="noStrike">
              <a:solidFill>
                <a:srgbClr val="FFFFFF"/>
              </a:solidFill>
              <a:latin typeface="Arial"/>
              <a:ea typeface="Arial"/>
              <a:cs typeface="Arial"/>
              <a:sym typeface="Arial"/>
            </a:endParaRPr>
          </a:p>
        </p:txBody>
      </p:sp>
      <p:sp>
        <p:nvSpPr>
          <p:cNvPr id="265" name="Google Shape;265;p12"/>
          <p:cNvSpPr/>
          <p:nvPr/>
        </p:nvSpPr>
        <p:spPr>
          <a:xfrm>
            <a:off x="4343400" y="896040"/>
            <a:ext cx="4568760" cy="352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chemeClr val="dk2"/>
                </a:solidFill>
                <a:latin typeface="Urbanist SemiBold"/>
                <a:ea typeface="Urbanist SemiBold"/>
                <a:cs typeface="Urbanist SemiBold"/>
                <a:sym typeface="Urbanist SemiBold"/>
              </a:rPr>
              <a:t>Created a STIG GS PC status doc</a:t>
            </a:r>
            <a:endParaRPr b="0" i="0" sz="13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100" u="none" cap="none" strike="noStrike">
                <a:solidFill>
                  <a:schemeClr val="dk2"/>
                </a:solidFill>
                <a:latin typeface="Urbanist"/>
                <a:ea typeface="Urbanist"/>
                <a:cs typeface="Urbanist"/>
                <a:sym typeface="Urbanist"/>
              </a:rPr>
              <a:t>Covers the current setup, why it was built that way, the issues, who is involved, options and open questions. It became the shared picture for Palo, Rainville, and the MAXWELL and SWARM-EX COMMs teams.</a:t>
            </a:r>
            <a:endParaRPr b="0" i="0" sz="1100" u="none" cap="none" strike="noStrike">
              <a:solidFill>
                <a:srgbClr val="FFFFFF"/>
              </a:solidFill>
              <a:latin typeface="Arial"/>
              <a:ea typeface="Arial"/>
              <a:cs typeface="Arial"/>
              <a:sym typeface="Arial"/>
            </a:endParaRPr>
          </a:p>
          <a:p>
            <a:pPr indent="0" lvl="0" marL="0" marR="0" rtl="0" algn="l">
              <a:lnSpc>
                <a:spcPct val="100000"/>
              </a:lnSpc>
              <a:spcBef>
                <a:spcPts val="1401"/>
              </a:spcBef>
              <a:spcAft>
                <a:spcPts val="0"/>
              </a:spcAft>
              <a:buNone/>
            </a:pPr>
            <a:r>
              <a:rPr b="0" i="0" lang="en-US" sz="1300" u="none" cap="none" strike="noStrike">
                <a:solidFill>
                  <a:schemeClr val="dk2"/>
                </a:solidFill>
                <a:latin typeface="Urbanist SemiBold"/>
                <a:ea typeface="Urbanist SemiBold"/>
                <a:cs typeface="Urbanist SemiBold"/>
                <a:sym typeface="Urbanist SemiBold"/>
              </a:rPr>
              <a:t>Issues at start of the semester</a:t>
            </a:r>
            <a:endParaRPr b="0" i="0" sz="1300" u="none" cap="none" strike="noStrike">
              <a:solidFill>
                <a:srgbClr val="FFFFFF"/>
              </a:solidFill>
              <a:latin typeface="Arial"/>
              <a:ea typeface="Arial"/>
              <a:cs typeface="Arial"/>
              <a:sym typeface="Arial"/>
            </a:endParaRPr>
          </a:p>
          <a:p>
            <a:pPr indent="-152280" lvl="0" marL="152280" marR="0" rtl="0" algn="l">
              <a:lnSpc>
                <a:spcPct val="100000"/>
              </a:lnSpc>
              <a:spcBef>
                <a:spcPts val="400"/>
              </a:spcBef>
              <a:spcAft>
                <a:spcPts val="0"/>
              </a:spcAft>
              <a:buClr>
                <a:srgbClr val="DEFF9A"/>
              </a:buClr>
              <a:buSzPts val="1100"/>
              <a:buFont typeface="Arial"/>
              <a:buChar char="•"/>
            </a:pPr>
            <a:r>
              <a:rPr b="0" i="0" lang="en-US" sz="1100" u="none" cap="none" strike="noStrike">
                <a:solidFill>
                  <a:schemeClr val="dk2"/>
                </a:solidFill>
                <a:latin typeface="Urbanist"/>
                <a:ea typeface="Urbanist"/>
                <a:cs typeface="Urbanist"/>
                <a:sym typeface="Urbanist"/>
              </a:rPr>
              <a:t>The VMs can’t talk to each other</a:t>
            </a:r>
            <a:endParaRPr b="0" i="0" sz="1100" u="none" cap="none" strike="noStrike">
              <a:solidFill>
                <a:srgbClr val="FFFFFF"/>
              </a:solidFill>
              <a:latin typeface="Arial"/>
              <a:ea typeface="Arial"/>
              <a:cs typeface="Arial"/>
              <a:sym typeface="Arial"/>
            </a:endParaRPr>
          </a:p>
          <a:p>
            <a:pPr indent="-152280" lvl="0" marL="152280" marR="0" rtl="0" algn="l">
              <a:lnSpc>
                <a:spcPct val="100000"/>
              </a:lnSpc>
              <a:spcBef>
                <a:spcPts val="201"/>
              </a:spcBef>
              <a:spcAft>
                <a:spcPts val="0"/>
              </a:spcAft>
              <a:buClr>
                <a:srgbClr val="DEFF9A"/>
              </a:buClr>
              <a:buSzPts val="1100"/>
              <a:buFont typeface="Arial"/>
              <a:buChar char="•"/>
            </a:pPr>
            <a:r>
              <a:rPr b="0" i="0" lang="en-US" sz="1100" u="none" cap="none" strike="noStrike">
                <a:solidFill>
                  <a:schemeClr val="dk2"/>
                </a:solidFill>
                <a:latin typeface="Urbanist"/>
                <a:ea typeface="Urbanist"/>
                <a:cs typeface="Urbanist"/>
                <a:sym typeface="Urbanist"/>
              </a:rPr>
              <a:t>VPN problems</a:t>
            </a:r>
            <a:endParaRPr b="0" i="0" sz="1100" u="none" cap="none" strike="noStrike">
              <a:solidFill>
                <a:srgbClr val="FFFFFF"/>
              </a:solidFill>
              <a:latin typeface="Arial"/>
              <a:ea typeface="Arial"/>
              <a:cs typeface="Arial"/>
              <a:sym typeface="Arial"/>
            </a:endParaRPr>
          </a:p>
          <a:p>
            <a:pPr indent="-152281" lvl="0" marL="152281" marR="0" rtl="0" algn="l">
              <a:lnSpc>
                <a:spcPct val="100000"/>
              </a:lnSpc>
              <a:spcBef>
                <a:spcPts val="201"/>
              </a:spcBef>
              <a:spcAft>
                <a:spcPts val="0"/>
              </a:spcAft>
              <a:buClr>
                <a:srgbClr val="DEFF9A"/>
              </a:buClr>
              <a:buSzPts val="1100"/>
              <a:buFont typeface="Arial"/>
              <a:buChar char="•"/>
            </a:pPr>
            <a:r>
              <a:rPr b="0" i="0" lang="en-US" sz="1100" u="none" cap="none" strike="noStrike">
                <a:solidFill>
                  <a:schemeClr val="dk2"/>
                </a:solidFill>
                <a:latin typeface="Urbanist"/>
                <a:ea typeface="Urbanist"/>
                <a:cs typeface="Urbanist"/>
                <a:sym typeface="Urbanist"/>
              </a:rPr>
              <a:t>Our GNU Radio file can’t run natively on Ubuntu 24</a:t>
            </a:r>
            <a:endParaRPr b="0" i="0" sz="1100" u="none" cap="none" strike="noStrike">
              <a:solidFill>
                <a:schemeClr val="dk2"/>
              </a:solidFill>
              <a:latin typeface="Urbanist"/>
              <a:ea typeface="Urbanist"/>
              <a:cs typeface="Urbanist"/>
              <a:sym typeface="Urbanist"/>
            </a:endParaRPr>
          </a:p>
          <a:p>
            <a:pPr indent="-152281" lvl="0" marL="152281" rtl="0" algn="l">
              <a:spcBef>
                <a:spcPts val="201"/>
              </a:spcBef>
              <a:spcAft>
                <a:spcPts val="0"/>
              </a:spcAft>
              <a:buClr>
                <a:schemeClr val="accent3"/>
              </a:buClr>
              <a:buSzPts val="1100"/>
              <a:buChar char="•"/>
            </a:pPr>
            <a:r>
              <a:rPr lang="en-US" sz="1100">
                <a:solidFill>
                  <a:schemeClr val="dk2"/>
                </a:solidFill>
                <a:latin typeface="Urbanist"/>
                <a:ea typeface="Urbanist"/>
                <a:cs typeface="Urbanist"/>
                <a:sym typeface="Urbanist"/>
              </a:rPr>
              <a:t>There has been recent development and it can communicate with the SDR both ways</a:t>
            </a:r>
            <a:endParaRPr sz="1100">
              <a:solidFill>
                <a:schemeClr val="dk2"/>
              </a:solidFill>
              <a:latin typeface="Urbanist"/>
              <a:ea typeface="Urbanist"/>
              <a:cs typeface="Urbanist"/>
              <a:sym typeface="Urbanist"/>
            </a:endParaRPr>
          </a:p>
          <a:p>
            <a:pPr indent="0" lvl="0" marL="0" marR="0" rtl="0" algn="l">
              <a:lnSpc>
                <a:spcPct val="100000"/>
              </a:lnSpc>
              <a:spcBef>
                <a:spcPts val="1202"/>
              </a:spcBef>
              <a:spcAft>
                <a:spcPts val="0"/>
              </a:spcAft>
              <a:buNone/>
            </a:pPr>
            <a:r>
              <a:rPr b="0" i="0" lang="en-US" sz="1300" u="none" cap="none" strike="noStrike">
                <a:solidFill>
                  <a:schemeClr val="dk2"/>
                </a:solidFill>
                <a:latin typeface="Urbanist SemiBold"/>
                <a:ea typeface="Urbanist SemiBold"/>
                <a:cs typeface="Urbanist SemiBold"/>
                <a:sym typeface="Urbanist SemiBold"/>
              </a:rPr>
              <a:t>Verification</a:t>
            </a:r>
            <a:endParaRPr b="0" i="0" sz="1300" u="none" cap="none" strike="noStrike">
              <a:solidFill>
                <a:srgbClr val="FFFFFF"/>
              </a:solidFill>
              <a:latin typeface="Arial"/>
              <a:ea typeface="Arial"/>
              <a:cs typeface="Arial"/>
              <a:sym typeface="Arial"/>
            </a:endParaRPr>
          </a:p>
          <a:p>
            <a:pPr indent="-228600" lvl="0" marL="228600" marR="0" rtl="0" algn="l">
              <a:lnSpc>
                <a:spcPct val="100000"/>
              </a:lnSpc>
              <a:spcBef>
                <a:spcPts val="400"/>
              </a:spcBef>
              <a:spcAft>
                <a:spcPts val="0"/>
              </a:spcAft>
              <a:buNone/>
            </a:pPr>
            <a:r>
              <a:rPr b="0" i="0" lang="en-US" sz="1100" u="none" cap="none" strike="noStrike">
                <a:solidFill>
                  <a:schemeClr val="dk2"/>
                </a:solidFill>
                <a:latin typeface="Urbanist"/>
                <a:ea typeface="Urbanist"/>
                <a:cs typeface="Urbanist"/>
                <a:sym typeface="Urbanist"/>
              </a:rPr>
              <a:t>1.	USRP → GNU Radio</a:t>
            </a:r>
            <a:endParaRPr b="0" i="0" sz="1100" u="none" cap="none" strike="noStrike">
              <a:solidFill>
                <a:srgbClr val="FFFFFF"/>
              </a:solidFill>
              <a:latin typeface="Arial"/>
              <a:ea typeface="Arial"/>
              <a:cs typeface="Arial"/>
              <a:sym typeface="Arial"/>
            </a:endParaRPr>
          </a:p>
          <a:p>
            <a:pPr indent="-228600" lvl="0" marL="228600" marR="0" rtl="0" algn="l">
              <a:lnSpc>
                <a:spcPct val="100000"/>
              </a:lnSpc>
              <a:spcBef>
                <a:spcPts val="201"/>
              </a:spcBef>
              <a:spcAft>
                <a:spcPts val="0"/>
              </a:spcAft>
              <a:buNone/>
            </a:pPr>
            <a:r>
              <a:rPr b="0" i="0" lang="en-US" sz="1100" u="none" cap="none" strike="noStrike">
                <a:solidFill>
                  <a:schemeClr val="dk2"/>
                </a:solidFill>
                <a:latin typeface="Urbanist"/>
                <a:ea typeface="Urbanist"/>
                <a:cs typeface="Urbanist"/>
                <a:sym typeface="Urbanist"/>
              </a:rPr>
              <a:t>2.	GNU Radio ↔ Hydra</a:t>
            </a:r>
            <a:endParaRPr b="0" i="0" sz="1100" u="none" cap="none" strike="noStrike">
              <a:solidFill>
                <a:srgbClr val="FFFFFF"/>
              </a:solidFill>
              <a:latin typeface="Arial"/>
              <a:ea typeface="Arial"/>
              <a:cs typeface="Arial"/>
              <a:sym typeface="Arial"/>
            </a:endParaRPr>
          </a:p>
          <a:p>
            <a:pPr indent="-228600" lvl="0" marL="228600" marR="0" rtl="0" algn="l">
              <a:lnSpc>
                <a:spcPct val="100000"/>
              </a:lnSpc>
              <a:spcBef>
                <a:spcPts val="201"/>
              </a:spcBef>
              <a:spcAft>
                <a:spcPts val="0"/>
              </a:spcAft>
              <a:buNone/>
            </a:pPr>
            <a:r>
              <a:rPr b="0" i="0" lang="en-US" sz="1100" u="none" cap="none" strike="noStrike">
                <a:solidFill>
                  <a:schemeClr val="dk2"/>
                </a:solidFill>
                <a:latin typeface="Urbanist"/>
                <a:ea typeface="Urbanist"/>
                <a:cs typeface="Urbanist"/>
                <a:sym typeface="Urbanist"/>
              </a:rPr>
              <a:t>3.	The whole ground side with the station hardware</a:t>
            </a:r>
            <a:endParaRPr b="0" i="0" sz="1100" u="none" cap="none" strike="noStrike">
              <a:solidFill>
                <a:srgbClr val="FFFFFF"/>
              </a:solidFill>
              <a:latin typeface="Arial"/>
              <a:ea typeface="Arial"/>
              <a:cs typeface="Arial"/>
              <a:sym typeface="Arial"/>
            </a:endParaRPr>
          </a:p>
        </p:txBody>
      </p:sp>
      <p:pic>
        <p:nvPicPr>
          <p:cNvPr id="266" name="Google Shape;266;p12"/>
          <p:cNvPicPr preferRelativeResize="0"/>
          <p:nvPr/>
        </p:nvPicPr>
        <p:blipFill rotWithShape="1">
          <a:blip r:embed="rId3">
            <a:alphaModFix/>
          </a:blip>
          <a:srcRect b="0" l="0" r="0" t="0"/>
          <a:stretch/>
        </p:blipFill>
        <p:spPr>
          <a:xfrm>
            <a:off x="0" y="1828800"/>
            <a:ext cx="4154400" cy="157212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3"/>
          <p:cNvSpPr txBox="1"/>
          <p:nvPr>
            <p:ph idx="4294967295" type="subTitle"/>
          </p:nvPr>
        </p:nvSpPr>
        <p:spPr>
          <a:xfrm>
            <a:off x="4716720" y="4676040"/>
            <a:ext cx="229140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SWARM EX COMMS Mid Semester Review</a:t>
            </a:r>
            <a:endParaRPr b="0" i="0" sz="700" u="none" cap="none" strike="noStrike">
              <a:solidFill>
                <a:srgbClr val="FFFFFF"/>
              </a:solidFill>
              <a:latin typeface="Arial"/>
              <a:ea typeface="Arial"/>
              <a:cs typeface="Arial"/>
              <a:sym typeface="Arial"/>
            </a:endParaRPr>
          </a:p>
        </p:txBody>
      </p:sp>
      <p:sp>
        <p:nvSpPr>
          <p:cNvPr id="272" name="Google Shape;272;p13"/>
          <p:cNvSpPr txBox="1"/>
          <p:nvPr>
            <p:ph idx="4294967295" type="subTitle"/>
          </p:nvPr>
        </p:nvSpPr>
        <p:spPr>
          <a:xfrm>
            <a:off x="6859080" y="4683600"/>
            <a:ext cx="2053440" cy="225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Fall 2026</a:t>
            </a:r>
            <a:endParaRPr b="0" i="0" sz="700" u="none" cap="none" strike="noStrike">
              <a:solidFill>
                <a:srgbClr val="FFFFFF"/>
              </a:solidFill>
              <a:latin typeface="Arial"/>
              <a:ea typeface="Arial"/>
              <a:cs typeface="Arial"/>
              <a:sym typeface="Arial"/>
            </a:endParaRPr>
          </a:p>
        </p:txBody>
      </p:sp>
      <p:sp>
        <p:nvSpPr>
          <p:cNvPr id="273" name="Google Shape;273;p13"/>
          <p:cNvSpPr txBox="1"/>
          <p:nvPr>
            <p:ph idx="4294967295" type="title"/>
          </p:nvPr>
        </p:nvSpPr>
        <p:spPr>
          <a:xfrm>
            <a:off x="228600" y="263880"/>
            <a:ext cx="3901320" cy="947520"/>
          </a:xfrm>
          <a:prstGeom prst="rect">
            <a:avLst/>
          </a:prstGeom>
          <a:noFill/>
          <a:ln>
            <a:noFill/>
          </a:ln>
        </p:spPr>
        <p:txBody>
          <a:bodyPr anchorCtr="0" anchor="t" bIns="91425" lIns="0" spcFirstLastPara="1" rIns="91425" wrap="square" tIns="0">
            <a:noAutofit/>
          </a:bodyPr>
          <a:lstStyle/>
          <a:p>
            <a:pPr indent="0" lvl="0" marL="0" marR="0" rtl="0" algn="l">
              <a:lnSpc>
                <a:spcPct val="85000"/>
              </a:lnSpc>
              <a:spcBef>
                <a:spcPts val="0"/>
              </a:spcBef>
              <a:spcAft>
                <a:spcPts val="0"/>
              </a:spcAft>
              <a:buClr>
                <a:schemeClr val="dk2"/>
              </a:buClr>
              <a:buSzPts val="3400"/>
              <a:buFont typeface="Urbanist Medium"/>
              <a:buNone/>
            </a:pPr>
            <a:r>
              <a:rPr b="0" i="0" lang="en-US" sz="3400" u="none" cap="none" strike="noStrike">
                <a:solidFill>
                  <a:schemeClr val="dk2"/>
                </a:solidFill>
                <a:latin typeface="Urbanist Medium"/>
                <a:ea typeface="Urbanist Medium"/>
                <a:cs typeface="Urbanist Medium"/>
                <a:sym typeface="Urbanist Medium"/>
              </a:rPr>
              <a:t>Lead work</a:t>
            </a:r>
            <a:endParaRPr b="0" i="0" sz="3400" u="none" cap="none" strike="noStrike">
              <a:solidFill>
                <a:srgbClr val="FFFFFF"/>
              </a:solidFill>
              <a:latin typeface="Arial"/>
              <a:ea typeface="Arial"/>
              <a:cs typeface="Arial"/>
              <a:sym typeface="Arial"/>
            </a:endParaRPr>
          </a:p>
        </p:txBody>
      </p:sp>
      <p:sp>
        <p:nvSpPr>
          <p:cNvPr id="274" name="Google Shape;274;p13"/>
          <p:cNvSpPr txBox="1"/>
          <p:nvPr>
            <p:ph idx="4294967295" type="subTitle"/>
          </p:nvPr>
        </p:nvSpPr>
        <p:spPr>
          <a:xfrm>
            <a:off x="320760" y="4676040"/>
            <a:ext cx="2696760" cy="23328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Justin Le</a:t>
            </a:r>
            <a:endParaRPr b="0" i="0" sz="700" u="none" cap="none" strike="noStrike">
              <a:solidFill>
                <a:srgbClr val="FFFFFF"/>
              </a:solidFill>
              <a:latin typeface="Arial"/>
              <a:ea typeface="Arial"/>
              <a:cs typeface="Arial"/>
              <a:sym typeface="Arial"/>
            </a:endParaRPr>
          </a:p>
        </p:txBody>
      </p:sp>
      <p:sp>
        <p:nvSpPr>
          <p:cNvPr id="275" name="Google Shape;275;p13"/>
          <p:cNvSpPr/>
          <p:nvPr/>
        </p:nvSpPr>
        <p:spPr>
          <a:xfrm>
            <a:off x="228600" y="914400"/>
            <a:ext cx="2711160" cy="3473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800" u="none" cap="none" strike="noStrike">
                <a:solidFill>
                  <a:schemeClr val="dk2"/>
                </a:solidFill>
                <a:latin typeface="Urbanist SemiBold"/>
                <a:ea typeface="Urbanist SemiBold"/>
                <a:cs typeface="Urbanist SemiBold"/>
                <a:sym typeface="Urbanist SemiBold"/>
              </a:rPr>
              <a:t>Team</a:t>
            </a:r>
            <a:endParaRPr b="0" i="0" sz="1800" u="none" cap="none" strike="noStrike">
              <a:solidFill>
                <a:srgbClr val="FFFFFF"/>
              </a:solidFill>
              <a:latin typeface="Arial"/>
              <a:ea typeface="Arial"/>
              <a:cs typeface="Arial"/>
              <a:sym typeface="Arial"/>
            </a:endParaRPr>
          </a:p>
          <a:p>
            <a:pPr indent="-152280" lvl="0" marL="152280" marR="0" rtl="0" algn="l">
              <a:lnSpc>
                <a:spcPct val="100000"/>
              </a:lnSpc>
              <a:spcBef>
                <a:spcPts val="601"/>
              </a:spcBef>
              <a:spcAft>
                <a:spcPts val="0"/>
              </a:spcAft>
              <a:buClr>
                <a:srgbClr val="DEFF9A"/>
              </a:buClr>
              <a:buSzPts val="1400"/>
              <a:buFont typeface="Arial"/>
              <a:buChar char="•"/>
            </a:pPr>
            <a:r>
              <a:rPr b="0" i="0" lang="en-US" sz="1400" u="none" cap="none" strike="noStrike">
                <a:solidFill>
                  <a:schemeClr val="dk2"/>
                </a:solidFill>
                <a:latin typeface="Urbanist"/>
                <a:ea typeface="Urbanist"/>
                <a:cs typeface="Urbanist"/>
                <a:sym typeface="Urbanist"/>
              </a:rPr>
              <a:t>Onboarded Edin, Elsa, Atharv and Ian</a:t>
            </a:r>
            <a:endParaRPr b="0" i="0" sz="1400" u="none" cap="none" strike="noStrike">
              <a:solidFill>
                <a:srgbClr val="FFFFFF"/>
              </a:solidFill>
              <a:latin typeface="Arial"/>
              <a:ea typeface="Arial"/>
              <a:cs typeface="Arial"/>
              <a:sym typeface="Arial"/>
            </a:endParaRPr>
          </a:p>
          <a:p>
            <a:pPr indent="-152280" lvl="0" marL="152280" marR="0" rtl="0" algn="l">
              <a:lnSpc>
                <a:spcPct val="100000"/>
              </a:lnSpc>
              <a:spcBef>
                <a:spcPts val="901"/>
              </a:spcBef>
              <a:spcAft>
                <a:spcPts val="0"/>
              </a:spcAft>
              <a:buClr>
                <a:srgbClr val="DEFF9A"/>
              </a:buClr>
              <a:buSzPts val="1400"/>
              <a:buFont typeface="Arial"/>
              <a:buChar char="•"/>
            </a:pPr>
            <a:r>
              <a:rPr b="0" i="0" lang="en-US" sz="1400" u="none" cap="none" strike="noStrike">
                <a:solidFill>
                  <a:schemeClr val="dk2"/>
                </a:solidFill>
                <a:latin typeface="Urbanist"/>
                <a:ea typeface="Urbanist"/>
                <a:cs typeface="Urbanist"/>
                <a:sym typeface="Urbanist"/>
              </a:rPr>
              <a:t>Elsa working on satellite tracking</a:t>
            </a:r>
            <a:endParaRPr b="0" i="0" sz="1400" u="none" cap="none" strike="noStrike">
              <a:solidFill>
                <a:srgbClr val="FFFFFF"/>
              </a:solidFill>
              <a:latin typeface="Arial"/>
              <a:ea typeface="Arial"/>
              <a:cs typeface="Arial"/>
              <a:sym typeface="Arial"/>
            </a:endParaRPr>
          </a:p>
          <a:p>
            <a:pPr indent="-152280" lvl="0" marL="152280" marR="0" rtl="0" algn="l">
              <a:lnSpc>
                <a:spcPct val="100000"/>
              </a:lnSpc>
              <a:spcBef>
                <a:spcPts val="901"/>
              </a:spcBef>
              <a:spcAft>
                <a:spcPts val="0"/>
              </a:spcAft>
              <a:buClr>
                <a:srgbClr val="DEFF9A"/>
              </a:buClr>
              <a:buSzPts val="1400"/>
              <a:buFont typeface="Arial"/>
              <a:buChar char="•"/>
            </a:pPr>
            <a:r>
              <a:rPr b="0" i="0" lang="en-US" sz="1400" u="none" cap="none" strike="noStrike">
                <a:solidFill>
                  <a:schemeClr val="dk2"/>
                </a:solidFill>
                <a:latin typeface="Urbanist"/>
                <a:ea typeface="Urbanist"/>
                <a:cs typeface="Urbanist"/>
                <a:sym typeface="Urbanist"/>
              </a:rPr>
              <a:t>Edin working on ground station bring up</a:t>
            </a:r>
            <a:endParaRPr b="0" i="0" sz="1400" u="none" cap="none" strike="noStrike">
              <a:solidFill>
                <a:srgbClr val="FFFFFF"/>
              </a:solidFill>
              <a:latin typeface="Arial"/>
              <a:ea typeface="Arial"/>
              <a:cs typeface="Arial"/>
              <a:sym typeface="Arial"/>
            </a:endParaRPr>
          </a:p>
          <a:p>
            <a:pPr indent="-152280" lvl="0" marL="152280" marR="0" rtl="0" algn="l">
              <a:lnSpc>
                <a:spcPct val="100000"/>
              </a:lnSpc>
              <a:spcBef>
                <a:spcPts val="901"/>
              </a:spcBef>
              <a:spcAft>
                <a:spcPts val="0"/>
              </a:spcAft>
              <a:buClr>
                <a:srgbClr val="DEFF9A"/>
              </a:buClr>
              <a:buSzPts val="1400"/>
              <a:buFont typeface="Arial"/>
              <a:buChar char="•"/>
            </a:pPr>
            <a:r>
              <a:rPr b="0" i="0" lang="en-US" sz="1400" u="none" cap="none" strike="noStrike">
                <a:solidFill>
                  <a:schemeClr val="dk2"/>
                </a:solidFill>
                <a:latin typeface="Urbanist"/>
                <a:ea typeface="Urbanist"/>
                <a:cs typeface="Urbanist"/>
                <a:sym typeface="Urbanist"/>
              </a:rPr>
              <a:t>Gave Atharv the SWARM-EX and ground station block diagrams</a:t>
            </a:r>
            <a:endParaRPr b="0" i="0" sz="1400" u="none" cap="none" strike="noStrike">
              <a:solidFill>
                <a:srgbClr val="FFFFFF"/>
              </a:solidFill>
              <a:latin typeface="Arial"/>
              <a:ea typeface="Arial"/>
              <a:cs typeface="Arial"/>
              <a:sym typeface="Arial"/>
            </a:endParaRPr>
          </a:p>
          <a:p>
            <a:pPr indent="-152280" lvl="0" marL="152280" marR="0" rtl="0" algn="l">
              <a:lnSpc>
                <a:spcPct val="100000"/>
              </a:lnSpc>
              <a:spcBef>
                <a:spcPts val="901"/>
              </a:spcBef>
              <a:spcAft>
                <a:spcPts val="0"/>
              </a:spcAft>
              <a:buClr>
                <a:srgbClr val="DEFF9A"/>
              </a:buClr>
              <a:buSzPts val="1400"/>
              <a:buFont typeface="Arial"/>
              <a:buChar char="•"/>
            </a:pPr>
            <a:r>
              <a:rPr b="0" i="0" lang="en-US" sz="1400" u="none" cap="none" strike="noStrike">
                <a:solidFill>
                  <a:schemeClr val="dk2"/>
                </a:solidFill>
                <a:latin typeface="Urbanist"/>
                <a:ea typeface="Urbanist"/>
                <a:cs typeface="Urbanist"/>
                <a:sym typeface="Urbanist"/>
              </a:rPr>
              <a:t>Gave Ian the SCT documents for the SCT procedures</a:t>
            </a:r>
            <a:endParaRPr b="0" i="0" sz="1400" u="none" cap="none" strike="noStrike">
              <a:solidFill>
                <a:srgbClr val="FFFFFF"/>
              </a:solidFill>
              <a:latin typeface="Arial"/>
              <a:ea typeface="Arial"/>
              <a:cs typeface="Arial"/>
              <a:sym typeface="Arial"/>
            </a:endParaRPr>
          </a:p>
        </p:txBody>
      </p:sp>
      <p:sp>
        <p:nvSpPr>
          <p:cNvPr id="276" name="Google Shape;276;p13"/>
          <p:cNvSpPr/>
          <p:nvPr/>
        </p:nvSpPr>
        <p:spPr>
          <a:xfrm>
            <a:off x="3215520" y="914400"/>
            <a:ext cx="2711160" cy="3473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800" u="none" cap="none" strike="noStrike">
                <a:solidFill>
                  <a:schemeClr val="dk2"/>
                </a:solidFill>
                <a:latin typeface="Urbanist SemiBold"/>
                <a:ea typeface="Urbanist SemiBold"/>
                <a:cs typeface="Urbanist SemiBold"/>
                <a:sym typeface="Urbanist SemiBold"/>
              </a:rPr>
              <a:t>Tracking</a:t>
            </a:r>
            <a:endParaRPr b="0" i="0" sz="1800" u="none" cap="none" strike="noStrike">
              <a:solidFill>
                <a:srgbClr val="FFFFFF"/>
              </a:solidFill>
              <a:latin typeface="Arial"/>
              <a:ea typeface="Arial"/>
              <a:cs typeface="Arial"/>
              <a:sym typeface="Arial"/>
            </a:endParaRPr>
          </a:p>
          <a:p>
            <a:pPr indent="-152280" lvl="0" marL="152280" marR="0" rtl="0" algn="l">
              <a:lnSpc>
                <a:spcPct val="100000"/>
              </a:lnSpc>
              <a:spcBef>
                <a:spcPts val="601"/>
              </a:spcBef>
              <a:spcAft>
                <a:spcPts val="0"/>
              </a:spcAft>
              <a:buClr>
                <a:srgbClr val="DEFF9A"/>
              </a:buClr>
              <a:buSzPts val="1400"/>
              <a:buFont typeface="Arial"/>
              <a:buChar char="•"/>
            </a:pPr>
            <a:r>
              <a:rPr b="0" i="0" lang="en-US" sz="1400" u="none" cap="none" strike="noStrike">
                <a:solidFill>
                  <a:schemeClr val="dk2"/>
                </a:solidFill>
                <a:latin typeface="Urbanist"/>
                <a:ea typeface="Urbanist"/>
                <a:cs typeface="Urbanist"/>
                <a:sym typeface="Urbanist"/>
              </a:rPr>
              <a:t>Tracking action items from the whole team along with ongoing issues</a:t>
            </a:r>
            <a:endParaRPr b="0" i="0" sz="1400" u="none" cap="none" strike="noStrike">
              <a:solidFill>
                <a:srgbClr val="FFFFFF"/>
              </a:solidFill>
              <a:latin typeface="Arial"/>
              <a:ea typeface="Arial"/>
              <a:cs typeface="Arial"/>
              <a:sym typeface="Arial"/>
            </a:endParaRPr>
          </a:p>
          <a:p>
            <a:pPr indent="-152280" lvl="0" marL="152280" marR="0" rtl="0" algn="l">
              <a:lnSpc>
                <a:spcPct val="100000"/>
              </a:lnSpc>
              <a:spcBef>
                <a:spcPts val="901"/>
              </a:spcBef>
              <a:spcAft>
                <a:spcPts val="0"/>
              </a:spcAft>
              <a:buClr>
                <a:srgbClr val="DEFF9A"/>
              </a:buClr>
              <a:buSzPts val="1400"/>
              <a:buFont typeface="Arial"/>
              <a:buChar char="•"/>
            </a:pPr>
            <a:r>
              <a:rPr b="0" i="0" lang="en-US" sz="1400" u="none" cap="none" strike="noStrike">
                <a:solidFill>
                  <a:schemeClr val="dk2"/>
                </a:solidFill>
                <a:latin typeface="Urbanist"/>
                <a:ea typeface="Urbanist"/>
                <a:cs typeface="Urbanist"/>
                <a:sym typeface="Urbanist"/>
              </a:rPr>
              <a:t>Weekly quad charts for COMMs as a whole and a Gantt chart</a:t>
            </a:r>
            <a:endParaRPr b="0" i="0" sz="1400" u="none" cap="none" strike="noStrike">
              <a:solidFill>
                <a:srgbClr val="FFFFFF"/>
              </a:solidFill>
              <a:latin typeface="Arial"/>
              <a:ea typeface="Arial"/>
              <a:cs typeface="Arial"/>
              <a:sym typeface="Arial"/>
            </a:endParaRPr>
          </a:p>
          <a:p>
            <a:pPr indent="-152280" lvl="0" marL="152280" marR="0" rtl="0" algn="l">
              <a:lnSpc>
                <a:spcPct val="100000"/>
              </a:lnSpc>
              <a:spcBef>
                <a:spcPts val="901"/>
              </a:spcBef>
              <a:spcAft>
                <a:spcPts val="0"/>
              </a:spcAft>
              <a:buClr>
                <a:srgbClr val="DEFF9A"/>
              </a:buClr>
              <a:buSzPts val="1400"/>
              <a:buFont typeface="Arial"/>
              <a:buChar char="•"/>
            </a:pPr>
            <a:r>
              <a:rPr b="0" i="0" lang="en-US" sz="1400" u="none" cap="none" strike="noStrike">
                <a:solidFill>
                  <a:schemeClr val="dk2"/>
                </a:solidFill>
                <a:latin typeface="Urbanist"/>
                <a:ea typeface="Urbanist"/>
                <a:cs typeface="Urbanist"/>
                <a:sym typeface="Urbanist"/>
              </a:rPr>
              <a:t>Managing blockers, dependencies, and rescheduling tasks for the team</a:t>
            </a:r>
            <a:endParaRPr b="0" i="0" sz="1400" u="none" cap="none" strike="noStrike">
              <a:solidFill>
                <a:srgbClr val="FFFFFF"/>
              </a:solidFill>
              <a:latin typeface="Arial"/>
              <a:ea typeface="Arial"/>
              <a:cs typeface="Arial"/>
              <a:sym typeface="Arial"/>
            </a:endParaRPr>
          </a:p>
        </p:txBody>
      </p:sp>
      <p:sp>
        <p:nvSpPr>
          <p:cNvPr id="277" name="Google Shape;277;p13"/>
          <p:cNvSpPr/>
          <p:nvPr/>
        </p:nvSpPr>
        <p:spPr>
          <a:xfrm>
            <a:off x="6202800" y="914400"/>
            <a:ext cx="2711160" cy="3473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800" u="none" cap="none" strike="noStrike">
                <a:solidFill>
                  <a:schemeClr val="dk2"/>
                </a:solidFill>
                <a:latin typeface="Urbanist SemiBold"/>
                <a:ea typeface="Urbanist SemiBold"/>
                <a:cs typeface="Urbanist SemiBold"/>
                <a:sym typeface="Urbanist SemiBold"/>
              </a:rPr>
              <a:t>Coordination</a:t>
            </a:r>
            <a:endParaRPr b="0" i="0" sz="1800" u="none" cap="none" strike="noStrike">
              <a:solidFill>
                <a:srgbClr val="FFFFFF"/>
              </a:solidFill>
              <a:latin typeface="Arial"/>
              <a:ea typeface="Arial"/>
              <a:cs typeface="Arial"/>
              <a:sym typeface="Arial"/>
            </a:endParaRPr>
          </a:p>
          <a:p>
            <a:pPr indent="-152280" lvl="0" marL="152280" marR="0" rtl="0" algn="l">
              <a:lnSpc>
                <a:spcPct val="100000"/>
              </a:lnSpc>
              <a:spcBef>
                <a:spcPts val="601"/>
              </a:spcBef>
              <a:spcAft>
                <a:spcPts val="0"/>
              </a:spcAft>
              <a:buClr>
                <a:srgbClr val="DEFF9A"/>
              </a:buClr>
              <a:buSzPts val="1400"/>
              <a:buFont typeface="Arial"/>
              <a:buChar char="•"/>
            </a:pPr>
            <a:r>
              <a:rPr b="0" i="0" lang="en-US" sz="1400" u="none" cap="none" strike="noStrike">
                <a:solidFill>
                  <a:schemeClr val="dk2"/>
                </a:solidFill>
                <a:latin typeface="Urbanist"/>
                <a:ea typeface="Urbanist"/>
                <a:cs typeface="Urbanist"/>
                <a:sym typeface="Urbanist"/>
              </a:rPr>
              <a:t>Skye (MAXWELL)</a:t>
            </a:r>
            <a:endParaRPr b="0" i="0" sz="1400" u="none" cap="none" strike="noStrike">
              <a:solidFill>
                <a:srgbClr val="FFFFFF"/>
              </a:solidFill>
              <a:latin typeface="Arial"/>
              <a:ea typeface="Arial"/>
              <a:cs typeface="Arial"/>
              <a:sym typeface="Arial"/>
            </a:endParaRPr>
          </a:p>
          <a:p>
            <a:pPr indent="-152280" lvl="0" marL="152280" marR="0" rtl="0" algn="l">
              <a:lnSpc>
                <a:spcPct val="100000"/>
              </a:lnSpc>
              <a:spcBef>
                <a:spcPts val="901"/>
              </a:spcBef>
              <a:spcAft>
                <a:spcPts val="0"/>
              </a:spcAft>
              <a:buClr>
                <a:srgbClr val="DEFF9A"/>
              </a:buClr>
              <a:buSzPts val="1400"/>
              <a:buFont typeface="Arial"/>
              <a:buChar char="•"/>
            </a:pPr>
            <a:r>
              <a:rPr b="0" i="0" lang="en-US" sz="1400" u="none" cap="none" strike="noStrike">
                <a:solidFill>
                  <a:schemeClr val="dk2"/>
                </a:solidFill>
                <a:latin typeface="Urbanist"/>
                <a:ea typeface="Urbanist"/>
                <a:cs typeface="Urbanist"/>
                <a:sym typeface="Urbanist"/>
              </a:rPr>
              <a:t>Alex Burns (former MAXWELL COMMs lead)</a:t>
            </a:r>
            <a:endParaRPr b="0" i="0" sz="1400" u="none" cap="none" strike="noStrike">
              <a:solidFill>
                <a:srgbClr val="FFFFFF"/>
              </a:solidFill>
              <a:latin typeface="Arial"/>
              <a:ea typeface="Arial"/>
              <a:cs typeface="Arial"/>
              <a:sym typeface="Arial"/>
            </a:endParaRPr>
          </a:p>
          <a:p>
            <a:pPr indent="-152280" lvl="0" marL="152280" marR="0" rtl="0" algn="l">
              <a:lnSpc>
                <a:spcPct val="100000"/>
              </a:lnSpc>
              <a:spcBef>
                <a:spcPts val="901"/>
              </a:spcBef>
              <a:spcAft>
                <a:spcPts val="0"/>
              </a:spcAft>
              <a:buClr>
                <a:srgbClr val="DEFF9A"/>
              </a:buClr>
              <a:buSzPts val="1400"/>
              <a:buFont typeface="Arial"/>
              <a:buChar char="•"/>
            </a:pPr>
            <a:r>
              <a:rPr b="0" i="0" lang="en-US" sz="1400" u="none" cap="none" strike="noStrike">
                <a:solidFill>
                  <a:schemeClr val="dk2"/>
                </a:solidFill>
                <a:latin typeface="Urbanist"/>
                <a:ea typeface="Urbanist"/>
                <a:cs typeface="Urbanist"/>
                <a:sym typeface="Urbanist"/>
              </a:rPr>
              <a:t>Dhruva (former SWARM EX COMMs lead)</a:t>
            </a:r>
            <a:endParaRPr b="0" i="0" sz="1400" u="none" cap="none" strike="noStrike">
              <a:solidFill>
                <a:srgbClr val="FFFFFF"/>
              </a:solidFill>
              <a:latin typeface="Arial"/>
              <a:ea typeface="Arial"/>
              <a:cs typeface="Arial"/>
              <a:sym typeface="Arial"/>
            </a:endParaRPr>
          </a:p>
          <a:p>
            <a:pPr indent="-152280" lvl="0" marL="152280" marR="0" rtl="0" algn="l">
              <a:lnSpc>
                <a:spcPct val="100000"/>
              </a:lnSpc>
              <a:spcBef>
                <a:spcPts val="901"/>
              </a:spcBef>
              <a:spcAft>
                <a:spcPts val="0"/>
              </a:spcAft>
              <a:buClr>
                <a:srgbClr val="DEFF9A"/>
              </a:buClr>
              <a:buSzPts val="1400"/>
              <a:buFont typeface="Arial"/>
              <a:buChar char="•"/>
            </a:pPr>
            <a:r>
              <a:rPr b="0" i="0" lang="en-US" sz="1400" u="none" cap="none" strike="noStrike">
                <a:solidFill>
                  <a:schemeClr val="dk2"/>
                </a:solidFill>
                <a:latin typeface="Urbanist"/>
                <a:ea typeface="Urbanist"/>
                <a:cs typeface="Urbanist"/>
                <a:sym typeface="Urbanist"/>
              </a:rPr>
              <a:t>Scott Gennari (LASP) </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4"/>
          <p:cNvSpPr txBox="1"/>
          <p:nvPr>
            <p:ph idx="4294967295" type="subTitle"/>
          </p:nvPr>
        </p:nvSpPr>
        <p:spPr>
          <a:xfrm>
            <a:off x="4716720" y="4676040"/>
            <a:ext cx="229140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SWARM EX COMMS Mid Semester Review</a:t>
            </a:r>
            <a:endParaRPr b="0" i="0" sz="700" u="none" cap="none" strike="noStrike">
              <a:solidFill>
                <a:srgbClr val="FFFFFF"/>
              </a:solidFill>
              <a:latin typeface="Arial"/>
              <a:ea typeface="Arial"/>
              <a:cs typeface="Arial"/>
              <a:sym typeface="Arial"/>
            </a:endParaRPr>
          </a:p>
        </p:txBody>
      </p:sp>
      <p:sp>
        <p:nvSpPr>
          <p:cNvPr id="283" name="Google Shape;283;p14"/>
          <p:cNvSpPr txBox="1"/>
          <p:nvPr>
            <p:ph idx="4294967295" type="subTitle"/>
          </p:nvPr>
        </p:nvSpPr>
        <p:spPr>
          <a:xfrm>
            <a:off x="6859080" y="4683600"/>
            <a:ext cx="2053440" cy="225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Fall 2026</a:t>
            </a:r>
            <a:endParaRPr b="0" i="0" sz="700" u="none" cap="none" strike="noStrike">
              <a:solidFill>
                <a:srgbClr val="FFFFFF"/>
              </a:solidFill>
              <a:latin typeface="Arial"/>
              <a:ea typeface="Arial"/>
              <a:cs typeface="Arial"/>
              <a:sym typeface="Arial"/>
            </a:endParaRPr>
          </a:p>
        </p:txBody>
      </p:sp>
      <p:sp>
        <p:nvSpPr>
          <p:cNvPr id="284" name="Google Shape;284;p14"/>
          <p:cNvSpPr txBox="1"/>
          <p:nvPr>
            <p:ph idx="4294967295" type="title"/>
          </p:nvPr>
        </p:nvSpPr>
        <p:spPr>
          <a:xfrm>
            <a:off x="228600" y="263880"/>
            <a:ext cx="3901320" cy="947520"/>
          </a:xfrm>
          <a:prstGeom prst="rect">
            <a:avLst/>
          </a:prstGeom>
          <a:noFill/>
          <a:ln>
            <a:noFill/>
          </a:ln>
        </p:spPr>
        <p:txBody>
          <a:bodyPr anchorCtr="0" anchor="t" bIns="91425" lIns="0" spcFirstLastPara="1" rIns="91425" wrap="square" tIns="0">
            <a:noAutofit/>
          </a:bodyPr>
          <a:lstStyle/>
          <a:p>
            <a:pPr indent="0" lvl="0" marL="0" marR="0" rtl="0" algn="l">
              <a:lnSpc>
                <a:spcPct val="85000"/>
              </a:lnSpc>
              <a:spcBef>
                <a:spcPts val="0"/>
              </a:spcBef>
              <a:spcAft>
                <a:spcPts val="0"/>
              </a:spcAft>
              <a:buClr>
                <a:schemeClr val="dk2"/>
              </a:buClr>
              <a:buSzPts val="3400"/>
              <a:buFont typeface="Urbanist Medium"/>
              <a:buNone/>
            </a:pPr>
            <a:r>
              <a:rPr b="0" i="0" lang="en-US" sz="3400" u="none" cap="none" strike="noStrike">
                <a:solidFill>
                  <a:schemeClr val="dk2"/>
                </a:solidFill>
                <a:latin typeface="Urbanist Medium"/>
                <a:ea typeface="Urbanist Medium"/>
                <a:cs typeface="Urbanist Medium"/>
                <a:sym typeface="Urbanist Medium"/>
              </a:rPr>
              <a:t>Schedule</a:t>
            </a:r>
            <a:endParaRPr b="0" i="0" sz="3400" u="none" cap="none" strike="noStrike">
              <a:solidFill>
                <a:srgbClr val="FFFFFF"/>
              </a:solidFill>
              <a:latin typeface="Arial"/>
              <a:ea typeface="Arial"/>
              <a:cs typeface="Arial"/>
              <a:sym typeface="Arial"/>
            </a:endParaRPr>
          </a:p>
        </p:txBody>
      </p:sp>
      <p:sp>
        <p:nvSpPr>
          <p:cNvPr id="285" name="Google Shape;285;p14"/>
          <p:cNvSpPr txBox="1"/>
          <p:nvPr>
            <p:ph idx="4294967295" type="subTitle"/>
          </p:nvPr>
        </p:nvSpPr>
        <p:spPr>
          <a:xfrm>
            <a:off x="320760" y="4676040"/>
            <a:ext cx="2696760" cy="23328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Justin Le</a:t>
            </a:r>
            <a:endParaRPr b="0" i="0" sz="700" u="none" cap="none" strike="noStrike">
              <a:solidFill>
                <a:srgbClr val="FFFFFF"/>
              </a:solidFill>
              <a:latin typeface="Arial"/>
              <a:ea typeface="Arial"/>
              <a:cs typeface="Arial"/>
              <a:sym typeface="Arial"/>
            </a:endParaRPr>
          </a:p>
        </p:txBody>
      </p:sp>
      <p:sp>
        <p:nvSpPr>
          <p:cNvPr id="286" name="Google Shape;286;p14"/>
          <p:cNvSpPr/>
          <p:nvPr/>
        </p:nvSpPr>
        <p:spPr>
          <a:xfrm>
            <a:off x="228600" y="896040"/>
            <a:ext cx="1962720" cy="1368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chemeClr val="dk2"/>
                </a:solidFill>
                <a:latin typeface="Urbanist SemiBold"/>
                <a:ea typeface="Urbanist SemiBold"/>
                <a:cs typeface="Urbanist SemiBold"/>
                <a:sym typeface="Urbanist SemiBold"/>
              </a:rPr>
              <a:t>SCT-1</a:t>
            </a:r>
            <a:endParaRPr b="0" i="0" sz="13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100" u="none" cap="none" strike="noStrike">
                <a:solidFill>
                  <a:schemeClr val="dk2"/>
                </a:solidFill>
                <a:latin typeface="Urbanist"/>
                <a:ea typeface="Urbanist"/>
                <a:cs typeface="Urbanist"/>
                <a:sym typeface="Urbanist"/>
              </a:rPr>
              <a:t>10/16 – 10/22</a:t>
            </a:r>
            <a:endParaRPr b="0" i="0" sz="11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050" u="none" cap="none" strike="noStrike">
                <a:solidFill>
                  <a:schemeClr val="dk2"/>
                </a:solidFill>
                <a:latin typeface="Urbanist"/>
                <a:ea typeface="Urbanist"/>
                <a:cs typeface="Urbanist"/>
                <a:sym typeface="Urbanist"/>
              </a:rPr>
              <a:t>Bench setup 10/16, practice run 10/19, full run 10/20–10/21, troubleshooting 10/22</a:t>
            </a:r>
            <a:endParaRPr b="0" i="0" sz="1050" u="none" cap="none" strike="noStrike">
              <a:solidFill>
                <a:srgbClr val="FFFFFF"/>
              </a:solidFill>
              <a:latin typeface="Arial"/>
              <a:ea typeface="Arial"/>
              <a:cs typeface="Arial"/>
              <a:sym typeface="Arial"/>
            </a:endParaRPr>
          </a:p>
        </p:txBody>
      </p:sp>
      <p:sp>
        <p:nvSpPr>
          <p:cNvPr id="287" name="Google Shape;287;p14"/>
          <p:cNvSpPr/>
          <p:nvPr/>
        </p:nvSpPr>
        <p:spPr>
          <a:xfrm>
            <a:off x="2468880" y="896040"/>
            <a:ext cx="1962720" cy="1368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chemeClr val="dk2"/>
                </a:solidFill>
                <a:latin typeface="Urbanist SemiBold"/>
                <a:ea typeface="Urbanist SemiBold"/>
                <a:cs typeface="Urbanist SemiBold"/>
                <a:sym typeface="Urbanist SemiBold"/>
              </a:rPr>
              <a:t>GS PC verification</a:t>
            </a:r>
            <a:endParaRPr b="0" i="0" sz="13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100" u="none" cap="none" strike="noStrike">
                <a:solidFill>
                  <a:schemeClr val="dk2"/>
                </a:solidFill>
                <a:latin typeface="Urbanist"/>
                <a:ea typeface="Urbanist"/>
                <a:cs typeface="Urbanist"/>
                <a:sym typeface="Urbanist"/>
              </a:rPr>
              <a:t>10/30 – 11/6</a:t>
            </a:r>
            <a:endParaRPr b="0" i="0" sz="11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050" u="none" cap="none" strike="noStrike">
                <a:solidFill>
                  <a:schemeClr val="dk2"/>
                </a:solidFill>
                <a:latin typeface="Urbanist"/>
                <a:ea typeface="Urbanist"/>
                <a:cs typeface="Urbanist"/>
                <a:sym typeface="Urbanist"/>
              </a:rPr>
              <a:t>Once Palo and Rainville </a:t>
            </a:r>
            <a:r>
              <a:rPr lang="en-US" sz="1050">
                <a:solidFill>
                  <a:schemeClr val="dk2"/>
                </a:solidFill>
                <a:latin typeface="Urbanist"/>
                <a:ea typeface="Urbanist"/>
                <a:cs typeface="Urbanist"/>
                <a:sym typeface="Urbanist"/>
              </a:rPr>
              <a:t>are ready to transfer to COSGC</a:t>
            </a:r>
            <a:r>
              <a:rPr b="0" i="0" lang="en-US" sz="1050" u="none" cap="none" strike="noStrike">
                <a:solidFill>
                  <a:schemeClr val="dk2"/>
                </a:solidFill>
                <a:latin typeface="Urbanist"/>
                <a:ea typeface="Urbanist"/>
                <a:cs typeface="Urbanist"/>
                <a:sym typeface="Urbanist"/>
              </a:rPr>
              <a:t>. Meanwhile, update GNU Radio and check its state for SCT-2</a:t>
            </a:r>
            <a:endParaRPr b="0" i="0" sz="1050" u="none" cap="none" strike="noStrike">
              <a:solidFill>
                <a:srgbClr val="FFFFFF"/>
              </a:solidFill>
              <a:latin typeface="Arial"/>
              <a:ea typeface="Arial"/>
              <a:cs typeface="Arial"/>
              <a:sym typeface="Arial"/>
            </a:endParaRPr>
          </a:p>
        </p:txBody>
      </p:sp>
      <p:sp>
        <p:nvSpPr>
          <p:cNvPr id="288" name="Google Shape;288;p14"/>
          <p:cNvSpPr/>
          <p:nvPr/>
        </p:nvSpPr>
        <p:spPr>
          <a:xfrm>
            <a:off x="4709160" y="896040"/>
            <a:ext cx="1962720" cy="1368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chemeClr val="dk2"/>
                </a:solidFill>
                <a:latin typeface="Urbanist SemiBold"/>
                <a:ea typeface="Urbanist SemiBold"/>
                <a:cs typeface="Urbanist SemiBold"/>
                <a:sym typeface="Urbanist SemiBold"/>
              </a:rPr>
              <a:t>SCT-2</a:t>
            </a:r>
            <a:endParaRPr b="0" i="0" sz="13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100" u="none" cap="none" strike="noStrike">
                <a:solidFill>
                  <a:schemeClr val="dk2"/>
                </a:solidFill>
                <a:latin typeface="Urbanist"/>
                <a:ea typeface="Urbanist"/>
                <a:cs typeface="Urbanist"/>
                <a:sym typeface="Urbanist"/>
              </a:rPr>
              <a:t>10/2</a:t>
            </a:r>
            <a:r>
              <a:rPr lang="en-US" sz="1100">
                <a:solidFill>
                  <a:schemeClr val="dk2"/>
                </a:solidFill>
                <a:latin typeface="Urbanist"/>
                <a:ea typeface="Urbanist"/>
                <a:cs typeface="Urbanist"/>
                <a:sym typeface="Urbanist"/>
              </a:rPr>
              <a:t>6</a:t>
            </a:r>
            <a:r>
              <a:rPr b="0" i="0" lang="en-US" sz="1100" u="none" cap="none" strike="noStrike">
                <a:solidFill>
                  <a:schemeClr val="dk2"/>
                </a:solidFill>
                <a:latin typeface="Urbanist"/>
                <a:ea typeface="Urbanist"/>
                <a:cs typeface="Urbanist"/>
                <a:sym typeface="Urbanist"/>
              </a:rPr>
              <a:t> – 12/3</a:t>
            </a:r>
            <a:endParaRPr b="0" i="0" sz="11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050" u="none" cap="none" strike="noStrike">
                <a:solidFill>
                  <a:schemeClr val="dk2"/>
                </a:solidFill>
                <a:latin typeface="Urbanist"/>
                <a:ea typeface="Urbanist"/>
                <a:cs typeface="Urbanist"/>
                <a:sym typeface="Urbanist"/>
              </a:rPr>
              <a:t>Procedure review 10/23, Hydra dev 10/27–11/2, practice 11/13, full run 11/17–11/20</a:t>
            </a:r>
            <a:endParaRPr b="0" i="0" sz="1050" u="none" cap="none" strike="noStrike">
              <a:solidFill>
                <a:srgbClr val="FFFFFF"/>
              </a:solidFill>
              <a:latin typeface="Arial"/>
              <a:ea typeface="Arial"/>
              <a:cs typeface="Arial"/>
              <a:sym typeface="Arial"/>
            </a:endParaRPr>
          </a:p>
        </p:txBody>
      </p:sp>
      <p:sp>
        <p:nvSpPr>
          <p:cNvPr id="289" name="Google Shape;289;p14"/>
          <p:cNvSpPr/>
          <p:nvPr/>
        </p:nvSpPr>
        <p:spPr>
          <a:xfrm>
            <a:off x="6949440" y="896040"/>
            <a:ext cx="1962720" cy="1368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chemeClr val="dk2"/>
                </a:solidFill>
                <a:latin typeface="Urbanist SemiBold"/>
                <a:ea typeface="Urbanist SemiBold"/>
                <a:cs typeface="Urbanist SemiBold"/>
                <a:sym typeface="Urbanist SemiBold"/>
              </a:rPr>
              <a:t>Wrap-up</a:t>
            </a:r>
            <a:endParaRPr b="0" i="0" sz="13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100" u="none" cap="none" strike="noStrike">
                <a:solidFill>
                  <a:schemeClr val="dk2"/>
                </a:solidFill>
                <a:latin typeface="Urbanist"/>
                <a:ea typeface="Urbanist"/>
                <a:cs typeface="Urbanist"/>
                <a:sym typeface="Urbanist"/>
              </a:rPr>
              <a:t>Weeks of 12/7 and 12/14</a:t>
            </a:r>
            <a:endParaRPr b="0" i="0" sz="11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050" u="none" cap="none" strike="noStrike">
                <a:solidFill>
                  <a:schemeClr val="dk2"/>
                </a:solidFill>
                <a:latin typeface="Urbanist"/>
                <a:ea typeface="Urbanist"/>
                <a:cs typeface="Urbanist"/>
                <a:sym typeface="Urbanist"/>
              </a:rPr>
              <a:t>End-of-semester review, transition document and final report</a:t>
            </a:r>
            <a:endParaRPr b="0" i="0" sz="1050" u="none" cap="none" strike="noStrike">
              <a:solidFill>
                <a:srgbClr val="FFFFFF"/>
              </a:solidFill>
              <a:latin typeface="Arial"/>
              <a:ea typeface="Arial"/>
              <a:cs typeface="Arial"/>
              <a:sym typeface="Arial"/>
            </a:endParaRPr>
          </a:p>
        </p:txBody>
      </p:sp>
      <p:graphicFrame>
        <p:nvGraphicFramePr>
          <p:cNvPr id="290" name="Google Shape;290;p14"/>
          <p:cNvGraphicFramePr/>
          <p:nvPr/>
        </p:nvGraphicFramePr>
        <p:xfrm>
          <a:off x="228600" y="2496240"/>
          <a:ext cx="3000000" cy="3000000"/>
        </p:xfrm>
        <a:graphic>
          <a:graphicData uri="http://schemas.openxmlformats.org/drawingml/2006/table">
            <a:tbl>
              <a:tblPr>
                <a:noFill/>
                <a:tableStyleId>{F86CA7DC-4FE8-48BA-B72C-03DD2859EF67}</a:tableStyleId>
              </a:tblPr>
              <a:tblGrid>
                <a:gridCol w="2743200"/>
                <a:gridCol w="1828800"/>
                <a:gridCol w="4114800"/>
              </a:tblGrid>
              <a:tr h="374750">
                <a:tc>
                  <a:txBody>
                    <a:bodyPr/>
                    <a:lstStyle/>
                    <a:p>
                      <a:pPr indent="0" lvl="0" marL="0" marR="0" rtl="0" algn="l">
                        <a:lnSpc>
                          <a:spcPct val="100000"/>
                        </a:lnSpc>
                        <a:spcBef>
                          <a:spcPts val="0"/>
                        </a:spcBef>
                        <a:spcAft>
                          <a:spcPts val="0"/>
                        </a:spcAft>
                        <a:buNone/>
                      </a:pPr>
                      <a:r>
                        <a:rPr b="0" lang="en-US" sz="1100" u="none" cap="none" strike="noStrike">
                          <a:solidFill>
                            <a:schemeClr val="dk2"/>
                          </a:solidFill>
                          <a:latin typeface="Urbanist SemiBold"/>
                          <a:ea typeface="Urbanist SemiBold"/>
                          <a:cs typeface="Urbanist SemiBold"/>
                          <a:sym typeface="Urbanist SemiBold"/>
                        </a:rPr>
                        <a:t>Milestone</a:t>
                      </a:r>
                      <a:endParaRPr b="0" sz="1100" u="none" cap="none" strike="noStrike">
                        <a:solidFill>
                          <a:srgbClr val="FFFFFF"/>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434343">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100" u="none" cap="none" strike="noStrike">
                          <a:solidFill>
                            <a:schemeClr val="dk2"/>
                          </a:solidFill>
                          <a:latin typeface="Urbanist SemiBold"/>
                          <a:ea typeface="Urbanist SemiBold"/>
                          <a:cs typeface="Urbanist SemiBold"/>
                          <a:sym typeface="Urbanist SemiBold"/>
                        </a:rPr>
                        <a:t>Planned</a:t>
                      </a:r>
                      <a:endParaRPr b="0" sz="1100" u="none" cap="none" strike="noStrike">
                        <a:solidFill>
                          <a:srgbClr val="FFFFFF"/>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434343">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100" u="none" cap="none" strike="noStrike">
                          <a:solidFill>
                            <a:schemeClr val="dk2"/>
                          </a:solidFill>
                          <a:latin typeface="Urbanist SemiBold"/>
                          <a:ea typeface="Urbanist SemiBold"/>
                          <a:cs typeface="Urbanist SemiBold"/>
                          <a:sym typeface="Urbanist SemiBold"/>
                        </a:rPr>
                        <a:t>Now</a:t>
                      </a:r>
                      <a:endParaRPr b="0" sz="1100" u="none" cap="none" strike="noStrike">
                        <a:solidFill>
                          <a:srgbClr val="FFFFFF"/>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434343">
                          <a:alpha val="0"/>
                        </a:srgbClr>
                      </a:solidFill>
                      <a:prstDash val="solid"/>
                      <a:round/>
                      <a:headEnd len="sm" w="sm" type="none"/>
                      <a:tailEnd len="sm" w="sm" type="none"/>
                    </a:lnB>
                  </a:tcPr>
                </a:tc>
              </a:tr>
              <a:tr h="385550">
                <a:tc>
                  <a:txBody>
                    <a:bodyPr/>
                    <a:lstStyle/>
                    <a:p>
                      <a:pPr indent="0" lvl="0" marL="0" marR="0" rtl="0" algn="l">
                        <a:lnSpc>
                          <a:spcPct val="100000"/>
                        </a:lnSpc>
                        <a:spcBef>
                          <a:spcPts val="0"/>
                        </a:spcBef>
                        <a:spcAft>
                          <a:spcPts val="0"/>
                        </a:spcAft>
                        <a:buNone/>
                      </a:pPr>
                      <a:r>
                        <a:rPr b="0" lang="en-US" sz="1100" u="none" cap="none" strike="noStrike">
                          <a:solidFill>
                            <a:schemeClr val="dk2"/>
                          </a:solidFill>
                          <a:latin typeface="Urbanist"/>
                          <a:ea typeface="Urbanist"/>
                          <a:cs typeface="Urbanist"/>
                          <a:sym typeface="Urbanist"/>
                        </a:rPr>
                        <a:t>Re-run MCT</a:t>
                      </a:r>
                      <a:endParaRPr b="0" sz="1100" u="none" cap="none" strike="noStrike">
                        <a:solidFill>
                          <a:srgbClr val="FFFFFF"/>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34343">
                          <a:alpha val="0"/>
                        </a:srgbClr>
                      </a:solidFill>
                      <a:prstDash val="solid"/>
                      <a:round/>
                      <a:headEnd len="sm" w="sm" type="none"/>
                      <a:tailEnd len="sm" w="sm" type="none"/>
                    </a:lnT>
                    <a:lnB cap="flat" cmpd="sng" w="9525">
                      <a:solidFill>
                        <a:srgbClr val="434343">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100" u="none" cap="none" strike="noStrike">
                          <a:solidFill>
                            <a:schemeClr val="dk2"/>
                          </a:solidFill>
                          <a:latin typeface="Urbanist"/>
                          <a:ea typeface="Urbanist"/>
                          <a:cs typeface="Urbanist"/>
                          <a:sym typeface="Urbanist"/>
                        </a:rPr>
                        <a:t>9/21</a:t>
                      </a:r>
                      <a:endParaRPr b="0" sz="1100" u="none" cap="none" strike="noStrike">
                        <a:solidFill>
                          <a:srgbClr val="FFFFFF"/>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34343">
                          <a:alpha val="0"/>
                        </a:srgbClr>
                      </a:solidFill>
                      <a:prstDash val="solid"/>
                      <a:round/>
                      <a:headEnd len="sm" w="sm" type="none"/>
                      <a:tailEnd len="sm" w="sm" type="none"/>
                    </a:lnT>
                    <a:lnB cap="flat" cmpd="sng" w="9525">
                      <a:solidFill>
                        <a:srgbClr val="434343">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100" u="none" cap="none" strike="noStrike">
                          <a:solidFill>
                            <a:schemeClr val="dk2"/>
                          </a:solidFill>
                          <a:latin typeface="Urbanist"/>
                          <a:ea typeface="Urbanist"/>
                          <a:cs typeface="Urbanist"/>
                          <a:sym typeface="Urbanist"/>
                        </a:rPr>
                        <a:t>Done 10/8</a:t>
                      </a:r>
                      <a:endParaRPr b="0" sz="1100" u="none" cap="none" strike="noStrike">
                        <a:solidFill>
                          <a:srgbClr val="FFFFFF"/>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34343">
                          <a:alpha val="0"/>
                        </a:srgbClr>
                      </a:solidFill>
                      <a:prstDash val="solid"/>
                      <a:round/>
                      <a:headEnd len="sm" w="sm" type="none"/>
                      <a:tailEnd len="sm" w="sm" type="none"/>
                    </a:lnT>
                    <a:lnB cap="flat" cmpd="sng" w="9525">
                      <a:solidFill>
                        <a:srgbClr val="434343">
                          <a:alpha val="0"/>
                        </a:srgbClr>
                      </a:solidFill>
                      <a:prstDash val="solid"/>
                      <a:round/>
                      <a:headEnd len="sm" w="sm" type="none"/>
                      <a:tailEnd len="sm" w="sm" type="none"/>
                    </a:lnB>
                  </a:tcPr>
                </a:tc>
              </a:tr>
              <a:tr h="385550">
                <a:tc>
                  <a:txBody>
                    <a:bodyPr/>
                    <a:lstStyle/>
                    <a:p>
                      <a:pPr indent="0" lvl="0" marL="0" marR="0" rtl="0" algn="l">
                        <a:lnSpc>
                          <a:spcPct val="100000"/>
                        </a:lnSpc>
                        <a:spcBef>
                          <a:spcPts val="0"/>
                        </a:spcBef>
                        <a:spcAft>
                          <a:spcPts val="0"/>
                        </a:spcAft>
                        <a:buNone/>
                      </a:pPr>
                      <a:r>
                        <a:rPr b="0" lang="en-US" sz="1100" u="none" cap="none" strike="noStrike">
                          <a:solidFill>
                            <a:schemeClr val="dk2"/>
                          </a:solidFill>
                          <a:latin typeface="Urbanist"/>
                          <a:ea typeface="Urbanist"/>
                          <a:cs typeface="Urbanist"/>
                          <a:sym typeface="Urbanist"/>
                        </a:rPr>
                        <a:t>GS PC test</a:t>
                      </a:r>
                      <a:endParaRPr b="0" sz="1100" u="none" cap="none" strike="noStrike">
                        <a:solidFill>
                          <a:srgbClr val="FFFFFF"/>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34343">
                          <a:alpha val="0"/>
                        </a:srgbClr>
                      </a:solidFill>
                      <a:prstDash val="solid"/>
                      <a:round/>
                      <a:headEnd len="sm" w="sm" type="none"/>
                      <a:tailEnd len="sm" w="sm" type="none"/>
                    </a:lnT>
                    <a:lnB cap="flat" cmpd="sng" w="9525">
                      <a:solidFill>
                        <a:srgbClr val="434343">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100" u="none" cap="none" strike="noStrike">
                          <a:solidFill>
                            <a:schemeClr val="dk2"/>
                          </a:solidFill>
                          <a:latin typeface="Urbanist"/>
                          <a:ea typeface="Urbanist"/>
                          <a:cs typeface="Urbanist"/>
                          <a:sym typeface="Urbanist"/>
                        </a:rPr>
                        <a:t>9/23</a:t>
                      </a:r>
                      <a:endParaRPr b="0" sz="1100" u="none" cap="none" strike="noStrike">
                        <a:solidFill>
                          <a:srgbClr val="FFFFFF"/>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34343">
                          <a:alpha val="0"/>
                        </a:srgbClr>
                      </a:solidFill>
                      <a:prstDash val="solid"/>
                      <a:round/>
                      <a:headEnd len="sm" w="sm" type="none"/>
                      <a:tailEnd len="sm" w="sm" type="none"/>
                    </a:lnT>
                    <a:lnB cap="flat" cmpd="sng" w="9525">
                      <a:solidFill>
                        <a:srgbClr val="434343">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100" u="none" cap="none" strike="noStrike">
                          <a:solidFill>
                            <a:schemeClr val="dk2"/>
                          </a:solidFill>
                          <a:latin typeface="Urbanist"/>
                          <a:ea typeface="Urbanist"/>
                          <a:cs typeface="Urbanist"/>
                          <a:sym typeface="Urbanist"/>
                        </a:rPr>
                        <a:t>10/30 – 11/6</a:t>
                      </a:r>
                      <a:endParaRPr b="0" sz="1100" u="none" cap="none" strike="noStrike">
                        <a:solidFill>
                          <a:srgbClr val="FFFFFF"/>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34343">
                          <a:alpha val="0"/>
                        </a:srgbClr>
                      </a:solidFill>
                      <a:prstDash val="solid"/>
                      <a:round/>
                      <a:headEnd len="sm" w="sm" type="none"/>
                      <a:tailEnd len="sm" w="sm" type="none"/>
                    </a:lnT>
                    <a:lnB cap="flat" cmpd="sng" w="9525">
                      <a:solidFill>
                        <a:srgbClr val="434343">
                          <a:alpha val="0"/>
                        </a:srgbClr>
                      </a:solidFill>
                      <a:prstDash val="solid"/>
                      <a:round/>
                      <a:headEnd len="sm" w="sm" type="none"/>
                      <a:tailEnd len="sm" w="sm" type="none"/>
                    </a:lnB>
                  </a:tcPr>
                </a:tc>
              </a:tr>
              <a:tr h="385550">
                <a:tc>
                  <a:txBody>
                    <a:bodyPr/>
                    <a:lstStyle/>
                    <a:p>
                      <a:pPr indent="0" lvl="0" marL="0" marR="0" rtl="0" algn="l">
                        <a:lnSpc>
                          <a:spcPct val="100000"/>
                        </a:lnSpc>
                        <a:spcBef>
                          <a:spcPts val="0"/>
                        </a:spcBef>
                        <a:spcAft>
                          <a:spcPts val="0"/>
                        </a:spcAft>
                        <a:buNone/>
                      </a:pPr>
                      <a:r>
                        <a:rPr b="0" lang="en-US" sz="1100" u="none" cap="none" strike="noStrike">
                          <a:solidFill>
                            <a:schemeClr val="dk2"/>
                          </a:solidFill>
                          <a:latin typeface="Urbanist"/>
                          <a:ea typeface="Urbanist"/>
                          <a:cs typeface="Urbanist"/>
                          <a:sym typeface="Urbanist"/>
                        </a:rPr>
                        <a:t>Re-run SCT-1</a:t>
                      </a:r>
                      <a:endParaRPr b="0" sz="1100" u="none" cap="none" strike="noStrike">
                        <a:solidFill>
                          <a:srgbClr val="FFFFFF"/>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34343">
                          <a:alpha val="0"/>
                        </a:srgbClr>
                      </a:solidFill>
                      <a:prstDash val="solid"/>
                      <a:round/>
                      <a:headEnd len="sm" w="sm" type="none"/>
                      <a:tailEnd len="sm" w="sm" type="none"/>
                    </a:lnT>
                    <a:lnB cap="flat" cmpd="sng" w="9525">
                      <a:solidFill>
                        <a:srgbClr val="434343">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100" u="none" cap="none" strike="noStrike">
                          <a:solidFill>
                            <a:schemeClr val="dk2"/>
                          </a:solidFill>
                          <a:latin typeface="Urbanist"/>
                          <a:ea typeface="Urbanist"/>
                          <a:cs typeface="Urbanist"/>
                          <a:sym typeface="Urbanist"/>
                        </a:rPr>
                        <a:t>9/30</a:t>
                      </a:r>
                      <a:endParaRPr b="0" sz="1100" u="none" cap="none" strike="noStrike">
                        <a:solidFill>
                          <a:srgbClr val="FFFFFF"/>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34343">
                          <a:alpha val="0"/>
                        </a:srgbClr>
                      </a:solidFill>
                      <a:prstDash val="solid"/>
                      <a:round/>
                      <a:headEnd len="sm" w="sm" type="none"/>
                      <a:tailEnd len="sm" w="sm" type="none"/>
                    </a:lnT>
                    <a:lnB cap="flat" cmpd="sng" w="9525">
                      <a:solidFill>
                        <a:srgbClr val="434343">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100" u="none" cap="none" strike="noStrike">
                          <a:solidFill>
                            <a:schemeClr val="dk2"/>
                          </a:solidFill>
                          <a:latin typeface="Urbanist"/>
                          <a:ea typeface="Urbanist"/>
                          <a:cs typeface="Urbanist"/>
                          <a:sym typeface="Urbanist"/>
                        </a:rPr>
                        <a:t>10/20</a:t>
                      </a:r>
                      <a:endParaRPr b="0" sz="1100" u="none" cap="none" strike="noStrike">
                        <a:solidFill>
                          <a:srgbClr val="FFFFFF"/>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34343">
                          <a:alpha val="0"/>
                        </a:srgbClr>
                      </a:solidFill>
                      <a:prstDash val="solid"/>
                      <a:round/>
                      <a:headEnd len="sm" w="sm" type="none"/>
                      <a:tailEnd len="sm" w="sm" type="none"/>
                    </a:lnT>
                    <a:lnB cap="flat" cmpd="sng" w="9525">
                      <a:solidFill>
                        <a:srgbClr val="434343">
                          <a:alpha val="0"/>
                        </a:srgbClr>
                      </a:solidFill>
                      <a:prstDash val="solid"/>
                      <a:round/>
                      <a:headEnd len="sm" w="sm" type="none"/>
                      <a:tailEnd len="sm" w="sm" type="none"/>
                    </a:lnB>
                  </a:tcPr>
                </a:tc>
              </a:tr>
              <a:tr h="385550">
                <a:tc>
                  <a:txBody>
                    <a:bodyPr/>
                    <a:lstStyle/>
                    <a:p>
                      <a:pPr indent="0" lvl="0" marL="0" marR="0" rtl="0" algn="l">
                        <a:lnSpc>
                          <a:spcPct val="100000"/>
                        </a:lnSpc>
                        <a:spcBef>
                          <a:spcPts val="0"/>
                        </a:spcBef>
                        <a:spcAft>
                          <a:spcPts val="0"/>
                        </a:spcAft>
                        <a:buNone/>
                      </a:pPr>
                      <a:r>
                        <a:rPr b="0" lang="en-US" sz="1100" u="none" cap="none" strike="noStrike">
                          <a:solidFill>
                            <a:schemeClr val="dk2"/>
                          </a:solidFill>
                          <a:latin typeface="Urbanist"/>
                          <a:ea typeface="Urbanist"/>
                          <a:cs typeface="Urbanist"/>
                          <a:sym typeface="Urbanist"/>
                        </a:rPr>
                        <a:t>SCT-2</a:t>
                      </a:r>
                      <a:endParaRPr b="0" sz="1100" u="none" cap="none" strike="noStrike">
                        <a:solidFill>
                          <a:srgbClr val="FFFFFF"/>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34343">
                          <a:alpha val="0"/>
                        </a:srgbClr>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100" u="none" cap="none" strike="noStrike">
                          <a:solidFill>
                            <a:schemeClr val="dk2"/>
                          </a:solidFill>
                          <a:latin typeface="Urbanist"/>
                          <a:ea typeface="Urbanist"/>
                          <a:cs typeface="Urbanist"/>
                          <a:sym typeface="Urbanist"/>
                        </a:rPr>
                        <a:t>10/31</a:t>
                      </a:r>
                      <a:endParaRPr b="0" sz="1100" u="none" cap="none" strike="noStrike">
                        <a:solidFill>
                          <a:srgbClr val="FFFFFF"/>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34343">
                          <a:alpha val="0"/>
                        </a:srgbClr>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1100" u="none" cap="none" strike="noStrike">
                          <a:solidFill>
                            <a:schemeClr val="dk2"/>
                          </a:solidFill>
                          <a:latin typeface="Urbanist"/>
                          <a:ea typeface="Urbanist"/>
                          <a:cs typeface="Urbanist"/>
                          <a:sym typeface="Urbanist"/>
                        </a:rPr>
                        <a:t>11/17 – 11/20</a:t>
                      </a:r>
                      <a:endParaRPr b="0" sz="1100" u="none" cap="none" strike="noStrike">
                        <a:solidFill>
                          <a:srgbClr val="FFFFFF"/>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34343">
                          <a:alpha val="0"/>
                        </a:srgbClr>
                      </a:solidFill>
                      <a:prstDash val="solid"/>
                      <a:round/>
                      <a:headEnd len="sm" w="sm" type="none"/>
                      <a:tailEnd len="sm" w="sm" type="none"/>
                    </a:lnT>
                    <a:lnB cap="flat" cmpd="sng" w="9525">
                      <a:solidFill>
                        <a:srgbClr val="434343"/>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5"/>
          <p:cNvSpPr txBox="1"/>
          <p:nvPr>
            <p:ph idx="4294967295" type="subTitle"/>
          </p:nvPr>
        </p:nvSpPr>
        <p:spPr>
          <a:xfrm>
            <a:off x="4716720" y="4676040"/>
            <a:ext cx="229140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SWARM EX COMMS Mid Semester Review</a:t>
            </a:r>
            <a:endParaRPr b="0" i="0" sz="700" u="none" cap="none" strike="noStrike">
              <a:solidFill>
                <a:srgbClr val="FFFFFF"/>
              </a:solidFill>
              <a:latin typeface="Arial"/>
              <a:ea typeface="Arial"/>
              <a:cs typeface="Arial"/>
              <a:sym typeface="Arial"/>
            </a:endParaRPr>
          </a:p>
        </p:txBody>
      </p:sp>
      <p:sp>
        <p:nvSpPr>
          <p:cNvPr id="296" name="Google Shape;296;p15"/>
          <p:cNvSpPr txBox="1"/>
          <p:nvPr>
            <p:ph idx="4294967295" type="subTitle"/>
          </p:nvPr>
        </p:nvSpPr>
        <p:spPr>
          <a:xfrm>
            <a:off x="6859080" y="4683600"/>
            <a:ext cx="2053440" cy="225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Fall 2026</a:t>
            </a:r>
            <a:endParaRPr b="0" i="0" sz="700" u="none" cap="none" strike="noStrike">
              <a:solidFill>
                <a:srgbClr val="FFFFFF"/>
              </a:solidFill>
              <a:latin typeface="Arial"/>
              <a:ea typeface="Arial"/>
              <a:cs typeface="Arial"/>
              <a:sym typeface="Arial"/>
            </a:endParaRPr>
          </a:p>
        </p:txBody>
      </p:sp>
      <p:sp>
        <p:nvSpPr>
          <p:cNvPr id="297" name="Google Shape;297;p15"/>
          <p:cNvSpPr txBox="1"/>
          <p:nvPr>
            <p:ph idx="4294967295" type="title"/>
          </p:nvPr>
        </p:nvSpPr>
        <p:spPr>
          <a:xfrm>
            <a:off x="228600" y="263880"/>
            <a:ext cx="3901320" cy="947520"/>
          </a:xfrm>
          <a:prstGeom prst="rect">
            <a:avLst/>
          </a:prstGeom>
          <a:noFill/>
          <a:ln>
            <a:noFill/>
          </a:ln>
        </p:spPr>
        <p:txBody>
          <a:bodyPr anchorCtr="0" anchor="t" bIns="91425" lIns="0" spcFirstLastPara="1" rIns="91425" wrap="square" tIns="0">
            <a:noAutofit/>
          </a:bodyPr>
          <a:lstStyle/>
          <a:p>
            <a:pPr indent="0" lvl="0" marL="0" marR="0" rtl="0" algn="l">
              <a:lnSpc>
                <a:spcPct val="85000"/>
              </a:lnSpc>
              <a:spcBef>
                <a:spcPts val="0"/>
              </a:spcBef>
              <a:spcAft>
                <a:spcPts val="0"/>
              </a:spcAft>
              <a:buClr>
                <a:schemeClr val="dk2"/>
              </a:buClr>
              <a:buSzPts val="3400"/>
              <a:buFont typeface="Urbanist Medium"/>
              <a:buNone/>
            </a:pPr>
            <a:r>
              <a:rPr b="0" i="0" lang="en-US" sz="3400" u="none" cap="none" strike="noStrike">
                <a:solidFill>
                  <a:schemeClr val="dk2"/>
                </a:solidFill>
                <a:latin typeface="Urbanist Medium"/>
                <a:ea typeface="Urbanist Medium"/>
                <a:cs typeface="Urbanist Medium"/>
                <a:sym typeface="Urbanist Medium"/>
              </a:rPr>
              <a:t>SWARM EX Impact</a:t>
            </a:r>
            <a:endParaRPr b="0" i="0" sz="3400" u="none" cap="none" strike="noStrike">
              <a:solidFill>
                <a:srgbClr val="FFFFFF"/>
              </a:solidFill>
              <a:latin typeface="Arial"/>
              <a:ea typeface="Arial"/>
              <a:cs typeface="Arial"/>
              <a:sym typeface="Arial"/>
            </a:endParaRPr>
          </a:p>
        </p:txBody>
      </p:sp>
      <p:sp>
        <p:nvSpPr>
          <p:cNvPr id="298" name="Google Shape;298;p15"/>
          <p:cNvSpPr txBox="1"/>
          <p:nvPr>
            <p:ph idx="4294967295" type="subTitle"/>
          </p:nvPr>
        </p:nvSpPr>
        <p:spPr>
          <a:xfrm>
            <a:off x="320760" y="4676040"/>
            <a:ext cx="2696760" cy="23328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Justin Le</a:t>
            </a:r>
            <a:endParaRPr b="0" i="0" sz="700" u="none" cap="none" strike="noStrike">
              <a:solidFill>
                <a:srgbClr val="FFFFFF"/>
              </a:solidFill>
              <a:latin typeface="Arial"/>
              <a:ea typeface="Arial"/>
              <a:cs typeface="Arial"/>
              <a:sym typeface="Arial"/>
            </a:endParaRPr>
          </a:p>
        </p:txBody>
      </p:sp>
      <p:sp>
        <p:nvSpPr>
          <p:cNvPr id="299" name="Google Shape;299;p15"/>
          <p:cNvSpPr/>
          <p:nvPr/>
        </p:nvSpPr>
        <p:spPr>
          <a:xfrm>
            <a:off x="228600" y="914400"/>
            <a:ext cx="2709720" cy="3471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800">
                <a:solidFill>
                  <a:schemeClr val="dk2"/>
                </a:solidFill>
                <a:latin typeface="Urbanist SemiBold"/>
                <a:ea typeface="Urbanist SemiBold"/>
                <a:cs typeface="Urbanist SemiBold"/>
                <a:sym typeface="Urbanist SemiBold"/>
              </a:rPr>
              <a:t>OnSat </a:t>
            </a:r>
            <a:r>
              <a:rPr b="0" i="0" lang="en-US" sz="1800" u="none" cap="none" strike="noStrike">
                <a:solidFill>
                  <a:schemeClr val="dk2"/>
                </a:solidFill>
                <a:latin typeface="Urbanist SemiBold"/>
                <a:ea typeface="Urbanist SemiBold"/>
                <a:cs typeface="Urbanist SemiBold"/>
                <a:sym typeface="Urbanist SemiBold"/>
              </a:rPr>
              <a:t>Comms</a:t>
            </a:r>
            <a:endParaRPr b="0" i="0" sz="1800" u="none" cap="none" strike="noStrike">
              <a:solidFill>
                <a:srgbClr val="FFFFFF"/>
              </a:solidFill>
              <a:latin typeface="Arial"/>
              <a:ea typeface="Arial"/>
              <a:cs typeface="Arial"/>
              <a:sym typeface="Arial"/>
            </a:endParaRPr>
          </a:p>
          <a:p>
            <a:pPr indent="-152280" lvl="0" marL="152280" marR="0" rtl="0" algn="l">
              <a:lnSpc>
                <a:spcPct val="100000"/>
              </a:lnSpc>
              <a:spcBef>
                <a:spcPts val="601"/>
              </a:spcBef>
              <a:spcAft>
                <a:spcPts val="0"/>
              </a:spcAft>
              <a:buClr>
                <a:srgbClr val="DEFF9A"/>
              </a:buClr>
              <a:buSzPts val="1500"/>
              <a:buFont typeface="Arial"/>
              <a:buChar char="•"/>
            </a:pPr>
            <a:r>
              <a:rPr b="0" i="0" lang="en-US" sz="1500" u="none" cap="none" strike="noStrike">
                <a:solidFill>
                  <a:schemeClr val="dk2"/>
                </a:solidFill>
                <a:latin typeface="Urbanist"/>
                <a:ea typeface="Urbanist"/>
                <a:cs typeface="Urbanist"/>
                <a:sym typeface="Urbanist"/>
              </a:rPr>
              <a:t>Li-2 - CDH comms state was unclear</a:t>
            </a:r>
            <a:endParaRPr b="0" i="0" sz="1500" u="none" cap="none" strike="noStrike">
              <a:solidFill>
                <a:srgbClr val="FFFFFF"/>
              </a:solidFill>
              <a:latin typeface="Arial"/>
              <a:ea typeface="Arial"/>
              <a:cs typeface="Arial"/>
              <a:sym typeface="Arial"/>
            </a:endParaRPr>
          </a:p>
          <a:p>
            <a:pPr indent="-152280" lvl="0" marL="152280" marR="0" rtl="0" algn="l">
              <a:lnSpc>
                <a:spcPct val="100000"/>
              </a:lnSpc>
              <a:spcBef>
                <a:spcPts val="1199"/>
              </a:spcBef>
              <a:spcAft>
                <a:spcPts val="0"/>
              </a:spcAft>
              <a:buClr>
                <a:srgbClr val="DEFF9A"/>
              </a:buClr>
              <a:buSzPts val="1500"/>
              <a:buFont typeface="Arial"/>
              <a:buChar char="•"/>
            </a:pPr>
            <a:r>
              <a:rPr b="0" i="0" lang="en-US" sz="1500" u="none" cap="none" strike="noStrike">
                <a:solidFill>
                  <a:schemeClr val="dk2"/>
                </a:solidFill>
                <a:latin typeface="Urbanist"/>
                <a:ea typeface="Urbanist"/>
                <a:cs typeface="Urbanist"/>
                <a:sym typeface="Urbanist"/>
              </a:rPr>
              <a:t>Earlier semesters ran MCT and SCT but never reached SCT-2</a:t>
            </a:r>
            <a:endParaRPr b="0" i="0" sz="1500" u="none" cap="none" strike="noStrike">
              <a:solidFill>
                <a:srgbClr val="FFFFFF"/>
              </a:solidFill>
              <a:latin typeface="Arial"/>
              <a:ea typeface="Arial"/>
              <a:cs typeface="Arial"/>
              <a:sym typeface="Arial"/>
            </a:endParaRPr>
          </a:p>
          <a:p>
            <a:pPr indent="-152280" lvl="0" marL="152280" marR="0" rtl="0" algn="l">
              <a:lnSpc>
                <a:spcPct val="100000"/>
              </a:lnSpc>
              <a:spcBef>
                <a:spcPts val="1199"/>
              </a:spcBef>
              <a:spcAft>
                <a:spcPts val="0"/>
              </a:spcAft>
              <a:buClr>
                <a:srgbClr val="DEFF9A"/>
              </a:buClr>
              <a:buSzPts val="1500"/>
              <a:buFont typeface="Arial"/>
              <a:buChar char="•"/>
            </a:pPr>
            <a:r>
              <a:rPr b="0" i="0" lang="en-US" sz="1500" u="none" cap="none" strike="noStrike">
                <a:solidFill>
                  <a:schemeClr val="dk2"/>
                </a:solidFill>
                <a:latin typeface="Urbanist"/>
                <a:ea typeface="Urbanist"/>
                <a:cs typeface="Urbanist"/>
                <a:sym typeface="Urbanist"/>
              </a:rPr>
              <a:t>Re-verifying MCT and SCT gives a clear starting point for SCT-2</a:t>
            </a:r>
            <a:endParaRPr b="0" i="0" sz="1500" u="none" cap="none" strike="noStrike">
              <a:solidFill>
                <a:srgbClr val="FFFFFF"/>
              </a:solidFill>
              <a:latin typeface="Arial"/>
              <a:ea typeface="Arial"/>
              <a:cs typeface="Arial"/>
              <a:sym typeface="Arial"/>
            </a:endParaRPr>
          </a:p>
        </p:txBody>
      </p:sp>
      <p:sp>
        <p:nvSpPr>
          <p:cNvPr id="300" name="Google Shape;300;p15"/>
          <p:cNvSpPr/>
          <p:nvPr/>
        </p:nvSpPr>
        <p:spPr>
          <a:xfrm>
            <a:off x="3215520" y="914400"/>
            <a:ext cx="2709720" cy="3471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800" u="none" cap="none" strike="noStrike">
                <a:solidFill>
                  <a:schemeClr val="dk2"/>
                </a:solidFill>
                <a:latin typeface="Urbanist SemiBold"/>
                <a:ea typeface="Urbanist SemiBold"/>
                <a:cs typeface="Urbanist SemiBold"/>
                <a:sym typeface="Urbanist SemiBold"/>
              </a:rPr>
              <a:t>Ground station PC</a:t>
            </a:r>
            <a:endParaRPr b="0" i="0" sz="1800" u="none" cap="none" strike="noStrike">
              <a:solidFill>
                <a:srgbClr val="FFFFFF"/>
              </a:solidFill>
              <a:latin typeface="Arial"/>
              <a:ea typeface="Arial"/>
              <a:cs typeface="Arial"/>
              <a:sym typeface="Arial"/>
            </a:endParaRPr>
          </a:p>
          <a:p>
            <a:pPr indent="-152280" lvl="0" marL="152280" marR="0" rtl="0" algn="l">
              <a:lnSpc>
                <a:spcPct val="100000"/>
              </a:lnSpc>
              <a:spcBef>
                <a:spcPts val="601"/>
              </a:spcBef>
              <a:spcAft>
                <a:spcPts val="0"/>
              </a:spcAft>
              <a:buClr>
                <a:srgbClr val="DEFF9A"/>
              </a:buClr>
              <a:buSzPts val="1500"/>
              <a:buFont typeface="Arial"/>
              <a:buChar char="•"/>
            </a:pPr>
            <a:r>
              <a:rPr b="0" i="0" lang="en-US" sz="1500" u="none" cap="none" strike="noStrike">
                <a:solidFill>
                  <a:schemeClr val="dk2"/>
                </a:solidFill>
                <a:latin typeface="Urbanist"/>
                <a:ea typeface="Urbanist"/>
                <a:cs typeface="Urbanist"/>
                <a:sym typeface="Urbanist"/>
              </a:rPr>
              <a:t>Long-running pain point for COMMs</a:t>
            </a:r>
            <a:endParaRPr b="0" i="0" sz="1500" u="none" cap="none" strike="noStrike">
              <a:solidFill>
                <a:srgbClr val="FFFFFF"/>
              </a:solidFill>
              <a:latin typeface="Arial"/>
              <a:ea typeface="Arial"/>
              <a:cs typeface="Arial"/>
              <a:sym typeface="Arial"/>
            </a:endParaRPr>
          </a:p>
          <a:p>
            <a:pPr indent="-152280" lvl="0" marL="152280" marR="0" rtl="0" algn="l">
              <a:lnSpc>
                <a:spcPct val="100000"/>
              </a:lnSpc>
              <a:spcBef>
                <a:spcPts val="1199"/>
              </a:spcBef>
              <a:spcAft>
                <a:spcPts val="0"/>
              </a:spcAft>
              <a:buClr>
                <a:srgbClr val="DEFF9A"/>
              </a:buClr>
              <a:buSzPts val="1500"/>
              <a:buFont typeface="Arial"/>
              <a:buChar char="•"/>
            </a:pPr>
            <a:r>
              <a:rPr b="0" i="0" lang="en-US" sz="1500" u="none" cap="none" strike="noStrike">
                <a:solidFill>
                  <a:schemeClr val="dk2"/>
                </a:solidFill>
                <a:latin typeface="Urbanist"/>
                <a:ea typeface="Urbanist"/>
                <a:cs typeface="Urbanist"/>
                <a:sym typeface="Urbanist"/>
              </a:rPr>
              <a:t>STIG doc turned it into an issue list </a:t>
            </a:r>
            <a:r>
              <a:rPr lang="en-US" sz="1500">
                <a:solidFill>
                  <a:schemeClr val="dk2"/>
                </a:solidFill>
                <a:latin typeface="Urbanist"/>
                <a:ea typeface="Urbanist"/>
                <a:cs typeface="Urbanist"/>
                <a:sym typeface="Urbanist"/>
              </a:rPr>
              <a:t>that can be addressed</a:t>
            </a:r>
            <a:endParaRPr b="0" i="0" sz="1500" u="none" cap="none" strike="noStrike">
              <a:solidFill>
                <a:srgbClr val="FFFFFF"/>
              </a:solidFill>
              <a:latin typeface="Arial"/>
              <a:ea typeface="Arial"/>
              <a:cs typeface="Arial"/>
              <a:sym typeface="Arial"/>
            </a:endParaRPr>
          </a:p>
          <a:p>
            <a:pPr indent="-152280" lvl="0" marL="152280" marR="0" rtl="0" algn="l">
              <a:lnSpc>
                <a:spcPct val="100000"/>
              </a:lnSpc>
              <a:spcBef>
                <a:spcPts val="1199"/>
              </a:spcBef>
              <a:spcAft>
                <a:spcPts val="0"/>
              </a:spcAft>
              <a:buClr>
                <a:srgbClr val="DEFF9A"/>
              </a:buClr>
              <a:buSzPts val="1500"/>
              <a:buFont typeface="Arial"/>
              <a:buChar char="•"/>
            </a:pPr>
            <a:r>
              <a:rPr b="0" i="0" lang="en-US" sz="1500" u="none" cap="none" strike="noStrike">
                <a:solidFill>
                  <a:schemeClr val="dk2"/>
                </a:solidFill>
                <a:latin typeface="Urbanist"/>
                <a:ea typeface="Urbanist"/>
                <a:cs typeface="Urbanist"/>
                <a:sym typeface="Urbanist"/>
              </a:rPr>
              <a:t>Palo and Rainville bringing it up, needed for MAXWELL’s February launch</a:t>
            </a:r>
            <a:endParaRPr b="0" i="0" sz="1500" u="none" cap="none" strike="noStrike">
              <a:solidFill>
                <a:srgbClr val="FFFFFF"/>
              </a:solidFill>
              <a:latin typeface="Arial"/>
              <a:ea typeface="Arial"/>
              <a:cs typeface="Arial"/>
              <a:sym typeface="Arial"/>
            </a:endParaRPr>
          </a:p>
        </p:txBody>
      </p:sp>
      <p:sp>
        <p:nvSpPr>
          <p:cNvPr id="301" name="Google Shape;301;p15"/>
          <p:cNvSpPr/>
          <p:nvPr/>
        </p:nvSpPr>
        <p:spPr>
          <a:xfrm>
            <a:off x="6202800" y="914400"/>
            <a:ext cx="2709720" cy="3471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800" u="none" cap="none" strike="noStrike">
                <a:solidFill>
                  <a:schemeClr val="dk2"/>
                </a:solidFill>
                <a:latin typeface="Urbanist SemiBold"/>
                <a:ea typeface="Urbanist SemiBold"/>
                <a:cs typeface="Urbanist SemiBold"/>
                <a:sym typeface="Urbanist SemiBold"/>
              </a:rPr>
              <a:t>COMMs lead</a:t>
            </a:r>
            <a:endParaRPr b="0" i="0" sz="1800" u="none" cap="none" strike="noStrike">
              <a:solidFill>
                <a:srgbClr val="FFFFFF"/>
              </a:solidFill>
              <a:latin typeface="Arial"/>
              <a:ea typeface="Arial"/>
              <a:cs typeface="Arial"/>
              <a:sym typeface="Arial"/>
            </a:endParaRPr>
          </a:p>
          <a:p>
            <a:pPr indent="-152280" lvl="0" marL="152280" marR="0" rtl="0" algn="l">
              <a:lnSpc>
                <a:spcPct val="100000"/>
              </a:lnSpc>
              <a:spcBef>
                <a:spcPts val="601"/>
              </a:spcBef>
              <a:spcAft>
                <a:spcPts val="0"/>
              </a:spcAft>
              <a:buClr>
                <a:srgbClr val="DEFF9A"/>
              </a:buClr>
              <a:buSzPts val="1500"/>
              <a:buFont typeface="Arial"/>
              <a:buChar char="•"/>
            </a:pPr>
            <a:r>
              <a:rPr b="0" i="0" lang="en-US" sz="1500" u="none" cap="none" strike="noStrike">
                <a:solidFill>
                  <a:schemeClr val="dk2"/>
                </a:solidFill>
                <a:latin typeface="Urbanist"/>
                <a:ea typeface="Urbanist"/>
                <a:cs typeface="Urbanist"/>
                <a:sym typeface="Urbanist"/>
              </a:rPr>
              <a:t>Manage the tasks COMMs needs for SWARM-EX</a:t>
            </a:r>
            <a:endParaRPr b="0" i="0" sz="1500" u="none" cap="none" strike="noStrike">
              <a:solidFill>
                <a:srgbClr val="FFFFFF"/>
              </a:solidFill>
              <a:latin typeface="Arial"/>
              <a:ea typeface="Arial"/>
              <a:cs typeface="Arial"/>
              <a:sym typeface="Arial"/>
            </a:endParaRPr>
          </a:p>
          <a:p>
            <a:pPr indent="-152280" lvl="0" marL="152280" marR="0" rtl="0" algn="l">
              <a:lnSpc>
                <a:spcPct val="100000"/>
              </a:lnSpc>
              <a:spcBef>
                <a:spcPts val="1199"/>
              </a:spcBef>
              <a:spcAft>
                <a:spcPts val="0"/>
              </a:spcAft>
              <a:buClr>
                <a:srgbClr val="DEFF9A"/>
              </a:buClr>
              <a:buSzPts val="1500"/>
              <a:buFont typeface="Arial"/>
              <a:buChar char="•"/>
            </a:pPr>
            <a:r>
              <a:rPr b="0" i="0" lang="en-US" sz="1500" u="none" cap="none" strike="noStrike">
                <a:solidFill>
                  <a:schemeClr val="dk2"/>
                </a:solidFill>
                <a:latin typeface="Urbanist"/>
                <a:ea typeface="Urbanist"/>
                <a:cs typeface="Urbanist"/>
                <a:sym typeface="Urbanist"/>
              </a:rPr>
              <a:t>Team work tracked week to week</a:t>
            </a:r>
            <a:endParaRPr b="0" i="0" sz="1500" u="none" cap="none" strike="noStrike">
              <a:solidFill>
                <a:srgbClr val="FFFFFF"/>
              </a:solidFill>
              <a:latin typeface="Arial"/>
              <a:ea typeface="Arial"/>
              <a:cs typeface="Arial"/>
              <a:sym typeface="Arial"/>
            </a:endParaRPr>
          </a:p>
          <a:p>
            <a:pPr indent="-152280" lvl="0" marL="152280" marR="0" rtl="0" algn="l">
              <a:lnSpc>
                <a:spcPct val="100000"/>
              </a:lnSpc>
              <a:spcBef>
                <a:spcPts val="1199"/>
              </a:spcBef>
              <a:spcAft>
                <a:spcPts val="0"/>
              </a:spcAft>
              <a:buClr>
                <a:srgbClr val="DEFF9A"/>
              </a:buClr>
              <a:buSzPts val="1500"/>
              <a:buFont typeface="Arial"/>
              <a:buChar char="•"/>
            </a:pPr>
            <a:r>
              <a:rPr b="0" i="0" lang="en-US" sz="1500" u="none" cap="none" strike="noStrike">
                <a:solidFill>
                  <a:schemeClr val="dk2"/>
                </a:solidFill>
                <a:latin typeface="Urbanist"/>
                <a:ea typeface="Urbanist"/>
                <a:cs typeface="Urbanist"/>
                <a:sym typeface="Urbanist"/>
              </a:rPr>
              <a:t>Blockers addressed and routed to the right person (</a:t>
            </a:r>
            <a:r>
              <a:rPr lang="en-US" sz="1500">
                <a:solidFill>
                  <a:schemeClr val="dk2"/>
                </a:solidFill>
                <a:latin typeface="Urbanist"/>
                <a:ea typeface="Urbanist"/>
                <a:cs typeface="Urbanist"/>
                <a:sym typeface="Urbanist"/>
              </a:rPr>
              <a:t>other subsystems</a:t>
            </a:r>
            <a:r>
              <a:rPr b="0" i="0" lang="en-US" sz="1500" u="none" cap="none" strike="noStrike">
                <a:solidFill>
                  <a:schemeClr val="dk2"/>
                </a:solidFill>
                <a:latin typeface="Urbanist"/>
                <a:ea typeface="Urbanist"/>
                <a:cs typeface="Urbanist"/>
                <a:sym typeface="Urbanist"/>
              </a:rPr>
              <a:t>, Palo, LASP, MAXWELL)</a:t>
            </a:r>
            <a:endParaRPr b="0" i="0" sz="1500" u="none" cap="none" strike="noStrike">
              <a:solidFill>
                <a:srgbClr val="FFFFFF"/>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6"/>
          <p:cNvSpPr txBox="1"/>
          <p:nvPr>
            <p:ph idx="4294967295" type="subTitle"/>
          </p:nvPr>
        </p:nvSpPr>
        <p:spPr>
          <a:xfrm>
            <a:off x="4716720" y="4676040"/>
            <a:ext cx="2291400" cy="2332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SWARM EX COMMS Mid Semester Review</a:t>
            </a:r>
            <a:endParaRPr b="0" i="0" sz="700" u="none" cap="none" strike="noStrike">
              <a:solidFill>
                <a:srgbClr val="FFFFFF"/>
              </a:solidFill>
              <a:latin typeface="Arial"/>
              <a:ea typeface="Arial"/>
              <a:cs typeface="Arial"/>
              <a:sym typeface="Arial"/>
            </a:endParaRPr>
          </a:p>
        </p:txBody>
      </p:sp>
      <p:sp>
        <p:nvSpPr>
          <p:cNvPr id="307" name="Google Shape;307;p16"/>
          <p:cNvSpPr txBox="1"/>
          <p:nvPr>
            <p:ph idx="4294967295" type="subTitle"/>
          </p:nvPr>
        </p:nvSpPr>
        <p:spPr>
          <a:xfrm>
            <a:off x="6859080" y="4683600"/>
            <a:ext cx="2053440" cy="2253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r>
              <a:rPr b="0" i="0" lang="en-US" sz="700" u="none" cap="none" strike="noStrike">
                <a:solidFill>
                  <a:schemeClr val="dk2"/>
                </a:solidFill>
                <a:latin typeface="Urbanist Medium"/>
                <a:ea typeface="Urbanist Medium"/>
                <a:cs typeface="Urbanist Medium"/>
                <a:sym typeface="Urbanist Medium"/>
              </a:rPr>
              <a:t>Fall 2026</a:t>
            </a:r>
            <a:endParaRPr b="0" i="0" sz="700" u="none" cap="none" strike="noStrike">
              <a:solidFill>
                <a:srgbClr val="FFFFFF"/>
              </a:solidFill>
              <a:latin typeface="Arial"/>
              <a:ea typeface="Arial"/>
              <a:cs typeface="Arial"/>
              <a:sym typeface="Arial"/>
            </a:endParaRPr>
          </a:p>
        </p:txBody>
      </p:sp>
      <p:sp>
        <p:nvSpPr>
          <p:cNvPr id="308" name="Google Shape;308;p16"/>
          <p:cNvSpPr txBox="1"/>
          <p:nvPr>
            <p:ph idx="4294967295" type="title"/>
          </p:nvPr>
        </p:nvSpPr>
        <p:spPr>
          <a:xfrm>
            <a:off x="228600" y="263880"/>
            <a:ext cx="3901320" cy="969480"/>
          </a:xfrm>
          <a:prstGeom prst="rect">
            <a:avLst/>
          </a:prstGeom>
          <a:noFill/>
          <a:ln>
            <a:noFill/>
          </a:ln>
        </p:spPr>
        <p:txBody>
          <a:bodyPr anchorCtr="0" anchor="t" bIns="91425" lIns="0" spcFirstLastPara="1" rIns="91425" wrap="square" tIns="0">
            <a:noAutofit/>
          </a:bodyPr>
          <a:lstStyle/>
          <a:p>
            <a:pPr indent="0" lvl="0" marL="0" marR="0" rtl="0" algn="l">
              <a:lnSpc>
                <a:spcPct val="85000"/>
              </a:lnSpc>
              <a:spcBef>
                <a:spcPts val="0"/>
              </a:spcBef>
              <a:spcAft>
                <a:spcPts val="0"/>
              </a:spcAft>
              <a:buClr>
                <a:schemeClr val="dk2"/>
              </a:buClr>
              <a:buSzPts val="3400"/>
              <a:buFont typeface="Urbanist Medium"/>
              <a:buNone/>
            </a:pPr>
            <a:r>
              <a:rPr b="0" i="0" lang="en-US" sz="3400" u="none" cap="none" strike="noStrike">
                <a:solidFill>
                  <a:schemeClr val="dk2"/>
                </a:solidFill>
                <a:latin typeface="Urbanist Medium"/>
                <a:ea typeface="Urbanist Medium"/>
                <a:cs typeface="Urbanist Medium"/>
                <a:sym typeface="Urbanist Medium"/>
              </a:rPr>
              <a:t>Risks and Concerns</a:t>
            </a:r>
            <a:endParaRPr b="0" i="0" sz="3400" u="none" cap="none" strike="noStrike">
              <a:solidFill>
                <a:srgbClr val="FFFFFF"/>
              </a:solidFill>
              <a:latin typeface="Arial"/>
              <a:ea typeface="Arial"/>
              <a:cs typeface="Arial"/>
              <a:sym typeface="Arial"/>
            </a:endParaRPr>
          </a:p>
        </p:txBody>
      </p:sp>
      <p:sp>
        <p:nvSpPr>
          <p:cNvPr id="309" name="Google Shape;309;p16"/>
          <p:cNvSpPr txBox="1"/>
          <p:nvPr>
            <p:ph idx="4294967295" type="subTitle"/>
          </p:nvPr>
        </p:nvSpPr>
        <p:spPr>
          <a:xfrm>
            <a:off x="320760" y="4676040"/>
            <a:ext cx="2696760" cy="23328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Clr>
                <a:schemeClr val="dk2"/>
              </a:buClr>
              <a:buSzPts val="700"/>
              <a:buFont typeface="Urbanist Medium"/>
              <a:buNone/>
            </a:pPr>
            <a:r>
              <a:rPr b="0" i="0" lang="en-US" sz="700" u="none" cap="none" strike="noStrike">
                <a:solidFill>
                  <a:schemeClr val="dk2"/>
                </a:solidFill>
                <a:latin typeface="Urbanist Medium"/>
                <a:ea typeface="Urbanist Medium"/>
                <a:cs typeface="Urbanist Medium"/>
                <a:sym typeface="Urbanist Medium"/>
              </a:rPr>
              <a:t>Justin Le</a:t>
            </a:r>
            <a:endParaRPr b="0" i="0" sz="700" u="none" cap="none" strike="noStrike">
              <a:solidFill>
                <a:srgbClr val="FFFFFF"/>
              </a:solidFill>
              <a:latin typeface="Arial"/>
              <a:ea typeface="Arial"/>
              <a:cs typeface="Arial"/>
              <a:sym typeface="Arial"/>
            </a:endParaRPr>
          </a:p>
        </p:txBody>
      </p:sp>
      <p:sp>
        <p:nvSpPr>
          <p:cNvPr id="310" name="Google Shape;310;p16"/>
          <p:cNvSpPr/>
          <p:nvPr/>
        </p:nvSpPr>
        <p:spPr>
          <a:xfrm>
            <a:off x="5074920" y="914400"/>
            <a:ext cx="3839400" cy="3519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chemeClr val="dk2"/>
                </a:solidFill>
                <a:latin typeface="Urbanist SemiBold"/>
                <a:ea typeface="Urbanist SemiBold"/>
                <a:cs typeface="Urbanist SemiBold"/>
                <a:sym typeface="Urbanist SemiBold"/>
              </a:rPr>
              <a:t>1.  SCT-1 is delayed, which delays SCT-2</a:t>
            </a:r>
            <a:endParaRPr b="0" i="0" sz="12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050" u="none" cap="none" strike="noStrike">
                <a:solidFill>
                  <a:schemeClr val="dk2"/>
                </a:solidFill>
                <a:latin typeface="Urbanist"/>
                <a:ea typeface="Urbanist"/>
                <a:cs typeface="Urbanist"/>
                <a:sym typeface="Urbanist"/>
              </a:rPr>
              <a:t>Mitigation: prep SCT-2 in parallel (procedure reviews, GNU Radio development) while SCT-1 finishes</a:t>
            </a:r>
            <a:endParaRPr b="0" i="0" sz="1050" u="none" cap="none" strike="noStrike">
              <a:solidFill>
                <a:srgbClr val="FFFFFF"/>
              </a:solidFill>
              <a:latin typeface="Arial"/>
              <a:ea typeface="Arial"/>
              <a:cs typeface="Arial"/>
              <a:sym typeface="Arial"/>
            </a:endParaRPr>
          </a:p>
          <a:p>
            <a:pPr indent="0" lvl="0" marL="0" marR="0" rtl="0" algn="l">
              <a:lnSpc>
                <a:spcPct val="100000"/>
              </a:lnSpc>
              <a:spcBef>
                <a:spcPts val="901"/>
              </a:spcBef>
              <a:spcAft>
                <a:spcPts val="0"/>
              </a:spcAft>
              <a:buNone/>
            </a:pPr>
            <a:r>
              <a:rPr b="0" i="0" lang="en-US" sz="1200" u="none" cap="none" strike="noStrike">
                <a:solidFill>
                  <a:schemeClr val="dk2"/>
                </a:solidFill>
                <a:latin typeface="Urbanist SemiBold"/>
                <a:ea typeface="Urbanist SemiBold"/>
                <a:cs typeface="Urbanist SemiBold"/>
                <a:sym typeface="Urbanist SemiBold"/>
              </a:rPr>
              <a:t>2.  SCT-2 needs more development than planned</a:t>
            </a:r>
            <a:endParaRPr b="0" i="0" sz="12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050" u="none" cap="none" strike="noStrike">
                <a:solidFill>
                  <a:schemeClr val="dk2"/>
                </a:solidFill>
                <a:latin typeface="Urbanist"/>
                <a:ea typeface="Urbanist"/>
                <a:cs typeface="Urbanist"/>
                <a:sym typeface="Urbanist"/>
              </a:rPr>
              <a:t>Mitigation: </a:t>
            </a:r>
            <a:r>
              <a:rPr lang="en-US" sz="1050">
                <a:solidFill>
                  <a:schemeClr val="dk2"/>
                </a:solidFill>
                <a:latin typeface="Urbanist"/>
                <a:ea typeface="Urbanist"/>
                <a:cs typeface="Urbanist"/>
                <a:sym typeface="Urbanist"/>
              </a:rPr>
              <a:t>reaching out to Dhruva, Palo, or MAXWELL for support</a:t>
            </a:r>
            <a:endParaRPr b="0" i="0" sz="1050" u="none" cap="none" strike="noStrike">
              <a:solidFill>
                <a:srgbClr val="FFFFFF"/>
              </a:solidFill>
              <a:latin typeface="Arial"/>
              <a:ea typeface="Arial"/>
              <a:cs typeface="Arial"/>
              <a:sym typeface="Arial"/>
            </a:endParaRPr>
          </a:p>
          <a:p>
            <a:pPr indent="0" lvl="0" marL="0" marR="0" rtl="0" algn="l">
              <a:lnSpc>
                <a:spcPct val="100000"/>
              </a:lnSpc>
              <a:spcBef>
                <a:spcPts val="901"/>
              </a:spcBef>
              <a:spcAft>
                <a:spcPts val="0"/>
              </a:spcAft>
              <a:buNone/>
            </a:pPr>
            <a:r>
              <a:rPr b="0" i="0" lang="en-US" sz="1200" u="none" cap="none" strike="noStrike">
                <a:solidFill>
                  <a:schemeClr val="dk2"/>
                </a:solidFill>
                <a:latin typeface="Urbanist SemiBold"/>
                <a:ea typeface="Urbanist SemiBold"/>
                <a:cs typeface="Urbanist SemiBold"/>
                <a:sym typeface="Urbanist SemiBold"/>
              </a:rPr>
              <a:t>3.  Motor interface can’t be resolved or bypassed</a:t>
            </a:r>
            <a:endParaRPr b="0" i="0" sz="12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050" u="none" cap="none" strike="noStrike">
                <a:solidFill>
                  <a:schemeClr val="dk2"/>
                </a:solidFill>
                <a:latin typeface="Urbanist"/>
                <a:ea typeface="Urbanist"/>
                <a:cs typeface="Urbanist"/>
                <a:sym typeface="Urbanist"/>
              </a:rPr>
              <a:t>Mitigation: Elsa is looking into working with Palo and getting help from LASP</a:t>
            </a:r>
            <a:endParaRPr b="0" i="0" sz="1050" u="none" cap="none" strike="noStrike">
              <a:solidFill>
                <a:srgbClr val="FFFFFF"/>
              </a:solidFill>
              <a:latin typeface="Arial"/>
              <a:ea typeface="Arial"/>
              <a:cs typeface="Arial"/>
              <a:sym typeface="Arial"/>
            </a:endParaRPr>
          </a:p>
          <a:p>
            <a:pPr indent="0" lvl="0" marL="0" marR="0" rtl="0" algn="l">
              <a:lnSpc>
                <a:spcPct val="100000"/>
              </a:lnSpc>
              <a:spcBef>
                <a:spcPts val="901"/>
              </a:spcBef>
              <a:spcAft>
                <a:spcPts val="0"/>
              </a:spcAft>
              <a:buNone/>
            </a:pPr>
            <a:r>
              <a:rPr b="0" i="0" lang="en-US" sz="1200" u="none" cap="none" strike="noStrike">
                <a:solidFill>
                  <a:schemeClr val="dk2"/>
                </a:solidFill>
                <a:latin typeface="Urbanist SemiBold"/>
                <a:ea typeface="Urbanist SemiBold"/>
                <a:cs typeface="Urbanist SemiBold"/>
                <a:sym typeface="Urbanist SemiBold"/>
              </a:rPr>
              <a:t>4.  Delays in ground station bring-up</a:t>
            </a:r>
            <a:endParaRPr b="0" i="0" sz="12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050" u="none" cap="none" strike="noStrike">
                <a:solidFill>
                  <a:schemeClr val="dk2"/>
                </a:solidFill>
                <a:latin typeface="Urbanist"/>
                <a:ea typeface="Urbanist"/>
                <a:cs typeface="Urbanist"/>
                <a:sym typeface="Urbanist"/>
              </a:rPr>
              <a:t>Mitigation: </a:t>
            </a:r>
            <a:r>
              <a:rPr lang="en-US" sz="1050">
                <a:solidFill>
                  <a:schemeClr val="dk2"/>
                </a:solidFill>
                <a:latin typeface="Urbanist"/>
                <a:ea typeface="Urbanist"/>
                <a:cs typeface="Urbanist"/>
                <a:sym typeface="Urbanist"/>
              </a:rPr>
              <a:t>Allocating</a:t>
            </a:r>
            <a:r>
              <a:rPr lang="en-US" sz="1050">
                <a:solidFill>
                  <a:schemeClr val="dk2"/>
                </a:solidFill>
                <a:latin typeface="Urbanist"/>
                <a:ea typeface="Urbanist"/>
                <a:cs typeface="Urbanist"/>
                <a:sym typeface="Urbanist"/>
              </a:rPr>
              <a:t> more people and time to focus more on the ground station</a:t>
            </a:r>
            <a:endParaRPr b="0" i="0" sz="1050" u="none" cap="none" strike="noStrike">
              <a:solidFill>
                <a:srgbClr val="FFFFFF"/>
              </a:solidFill>
              <a:latin typeface="Arial"/>
              <a:ea typeface="Arial"/>
              <a:cs typeface="Arial"/>
              <a:sym typeface="Arial"/>
            </a:endParaRPr>
          </a:p>
          <a:p>
            <a:pPr indent="0" lvl="0" marL="0" marR="0" rtl="0" algn="l">
              <a:lnSpc>
                <a:spcPct val="100000"/>
              </a:lnSpc>
              <a:spcBef>
                <a:spcPts val="901"/>
              </a:spcBef>
              <a:spcAft>
                <a:spcPts val="0"/>
              </a:spcAft>
              <a:buNone/>
            </a:pPr>
            <a:r>
              <a:rPr b="0" i="0" lang="en-US" sz="1200" u="none" cap="none" strike="noStrike">
                <a:solidFill>
                  <a:schemeClr val="dk2"/>
                </a:solidFill>
                <a:latin typeface="Urbanist SemiBold"/>
                <a:ea typeface="Urbanist SemiBold"/>
                <a:cs typeface="Urbanist SemiBold"/>
                <a:sym typeface="Urbanist SemiBold"/>
              </a:rPr>
              <a:t>5.  Issues verifying the GS PC at COSGC</a:t>
            </a:r>
            <a:endParaRPr b="0" i="0" sz="1200" u="none" cap="none" strike="noStrike">
              <a:solidFill>
                <a:srgbClr val="FFFFFF"/>
              </a:solidFill>
              <a:latin typeface="Arial"/>
              <a:ea typeface="Arial"/>
              <a:cs typeface="Arial"/>
              <a:sym typeface="Arial"/>
            </a:endParaRPr>
          </a:p>
          <a:p>
            <a:pPr indent="0" lvl="0" marL="0" marR="0" rtl="0" algn="l">
              <a:lnSpc>
                <a:spcPct val="100000"/>
              </a:lnSpc>
              <a:spcBef>
                <a:spcPts val="400"/>
              </a:spcBef>
              <a:spcAft>
                <a:spcPts val="0"/>
              </a:spcAft>
              <a:buNone/>
            </a:pPr>
            <a:r>
              <a:rPr b="0" i="0" lang="en-US" sz="1050" u="none" cap="none" strike="noStrike">
                <a:solidFill>
                  <a:schemeClr val="dk2"/>
                </a:solidFill>
                <a:latin typeface="Urbanist"/>
                <a:ea typeface="Urbanist"/>
                <a:cs typeface="Urbanist"/>
                <a:sym typeface="Urbanist"/>
              </a:rPr>
              <a:t>Mitigation: verify bottom up, with the interim laptop as a fallback</a:t>
            </a:r>
            <a:endParaRPr b="0" i="0" sz="1050" u="none" cap="none" strike="noStrike">
              <a:solidFill>
                <a:srgbClr val="FFFFFF"/>
              </a:solidFill>
              <a:latin typeface="Arial"/>
              <a:ea typeface="Arial"/>
              <a:cs typeface="Arial"/>
              <a:sym typeface="Arial"/>
            </a:endParaRPr>
          </a:p>
        </p:txBody>
      </p:sp>
      <p:pic>
        <p:nvPicPr>
          <p:cNvPr descr="riskchart2.png" id="311" name="Google Shape;311;p16"/>
          <p:cNvPicPr preferRelativeResize="0"/>
          <p:nvPr/>
        </p:nvPicPr>
        <p:blipFill rotWithShape="1">
          <a:blip r:embed="rId3">
            <a:alphaModFix/>
          </a:blip>
          <a:srcRect b="0" l="0" r="0" t="0"/>
          <a:stretch/>
        </p:blipFill>
        <p:spPr>
          <a:xfrm>
            <a:off x="228600" y="1435320"/>
            <a:ext cx="4570920" cy="252288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7"/>
          <p:cNvSpPr txBox="1"/>
          <p:nvPr>
            <p:ph idx="4294967295" type="title"/>
          </p:nvPr>
        </p:nvSpPr>
        <p:spPr>
          <a:xfrm>
            <a:off x="228600" y="290520"/>
            <a:ext cx="3652560" cy="1038960"/>
          </a:xfrm>
          <a:prstGeom prst="rect">
            <a:avLst/>
          </a:prstGeom>
          <a:noFill/>
          <a:ln>
            <a:noFill/>
          </a:ln>
        </p:spPr>
        <p:txBody>
          <a:bodyPr anchorCtr="0" anchor="t" bIns="91425" lIns="0" spcFirstLastPara="1" rIns="91425" wrap="square" tIns="91425">
            <a:noAutofit/>
          </a:bodyPr>
          <a:lstStyle/>
          <a:p>
            <a:pPr indent="0" lvl="0" marL="0" marR="0" rtl="0" algn="l">
              <a:lnSpc>
                <a:spcPct val="85000"/>
              </a:lnSpc>
              <a:spcBef>
                <a:spcPts val="0"/>
              </a:spcBef>
              <a:spcAft>
                <a:spcPts val="0"/>
              </a:spcAft>
              <a:buClr>
                <a:schemeClr val="lt1"/>
              </a:buClr>
              <a:buSzPts val="4800"/>
              <a:buFont typeface="Urbanist Medium"/>
              <a:buNone/>
            </a:pPr>
            <a:r>
              <a:rPr b="0" i="0" lang="en-US" sz="4800" u="none" cap="none" strike="noStrike">
                <a:solidFill>
                  <a:schemeClr val="lt1"/>
                </a:solidFill>
                <a:latin typeface="Urbanist Medium"/>
                <a:ea typeface="Urbanist Medium"/>
                <a:cs typeface="Urbanist Medium"/>
                <a:sym typeface="Urbanist Medium"/>
              </a:rPr>
              <a:t>Thank you</a:t>
            </a:r>
            <a:endParaRPr b="0" i="0" sz="4800" u="none" cap="none" strike="noStrike">
              <a:solidFill>
                <a:srgbClr val="FFFFFF"/>
              </a:solidFill>
              <a:latin typeface="Arial"/>
              <a:ea typeface="Arial"/>
              <a:cs typeface="Arial"/>
              <a:sym typeface="Arial"/>
            </a:endParaRPr>
          </a:p>
        </p:txBody>
      </p:sp>
      <p:sp>
        <p:nvSpPr>
          <p:cNvPr id="317" name="Google Shape;317;p17"/>
          <p:cNvSpPr/>
          <p:nvPr/>
        </p:nvSpPr>
        <p:spPr>
          <a:xfrm>
            <a:off x="228600" y="3299760"/>
            <a:ext cx="843840" cy="225360"/>
          </a:xfrm>
          <a:prstGeom prst="rect">
            <a:avLst/>
          </a:prstGeom>
          <a:no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6.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7.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8.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9.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0.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1.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2.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3.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4.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5.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7.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8.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9.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

<file path=docProps/custom.xml><?xml version="1.0" encoding="utf-8"?>
<Properties xmlns="http://schemas.openxmlformats.org/officeDocument/2006/custom-properties" xmlns:vt="http://schemas.openxmlformats.org/officeDocument/2006/docPropsVTypes"/>
</file>