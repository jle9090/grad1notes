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7.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11.xml.rels" ContentType="application/vnd.openxmlformats-package.relationships+xml"/>
  <Override PartName="/ppt/slideMasters/_rels/slideMaster35.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33.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2.xml" ContentType="application/vnd.openxmlformats-officedocument.presentationml.slideMaster+xml"/>
  <Override PartName="/ppt/slideMasters/slideMaster34.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5.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34.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1.xml.rels" ContentType="application/vnd.openxmlformats-package.relationships+xml"/>
  <Override PartName="/ppt/slideLayouts/_rels/slideLayout39.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25.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Lst>
  <p:notesMasterIdLst>
    <p:notesMasterId r:id="rId41"/>
  </p:notesMasterIdLst>
  <p:sldIdLst>
    <p:sldId id="256" r:id="rId42"/>
    <p:sldId id="257" r:id="rId43"/>
    <p:sldId id="258" r:id="rId44"/>
    <p:sldId id="259" r:id="rId45"/>
    <p:sldId id="260" r:id="rId46"/>
    <p:sldId id="261" r:id="rId47"/>
    <p:sldId id="262" r:id="rId48"/>
    <p:sldId id="263" r:id="rId49"/>
    <p:sldId id="264" r:id="rId50"/>
    <p:sldId id="265" r:id="rId51"/>
    <p:sldId id="266" r:id="rId52"/>
    <p:sldId id="267" r:id="rId53"/>
    <p:sldId id="268" r:id="rId54"/>
    <p:sldId id="269" r:id="rId55"/>
    <p:sldId id="270" r:id="rId56"/>
    <p:sldId id="271" r:id="rId57"/>
    <p:sldId id="272" r:id="rId5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notesMaster" Target="notesMasters/notesMaster1.xml"/><Relationship Id="rId42" Type="http://schemas.openxmlformats.org/officeDocument/2006/relationships/slide" Target="slides/slide1.xml"/><Relationship Id="rId43" Type="http://schemas.openxmlformats.org/officeDocument/2006/relationships/slide" Target="slides/slide2.xml"/><Relationship Id="rId44" Type="http://schemas.openxmlformats.org/officeDocument/2006/relationships/slide" Target="slides/slide3.xml"/><Relationship Id="rId45" Type="http://schemas.openxmlformats.org/officeDocument/2006/relationships/slide" Target="slides/slide4.xml"/><Relationship Id="rId46" Type="http://schemas.openxmlformats.org/officeDocument/2006/relationships/slide" Target="slides/slide5.xml"/><Relationship Id="rId47" Type="http://schemas.openxmlformats.org/officeDocument/2006/relationships/slide" Target="slides/slide6.xml"/><Relationship Id="rId48" Type="http://schemas.openxmlformats.org/officeDocument/2006/relationships/slide" Target="slides/slide7.xml"/><Relationship Id="rId49" Type="http://schemas.openxmlformats.org/officeDocument/2006/relationships/slide" Target="slides/slide8.xml"/><Relationship Id="rId50" Type="http://schemas.openxmlformats.org/officeDocument/2006/relationships/slide" Target="slides/slide9.xml"/><Relationship Id="rId51" Type="http://schemas.openxmlformats.org/officeDocument/2006/relationships/slide" Target="slides/slide10.xml"/><Relationship Id="rId52" Type="http://schemas.openxmlformats.org/officeDocument/2006/relationships/slide" Target="slides/slide11.xml"/><Relationship Id="rId53" Type="http://schemas.openxmlformats.org/officeDocument/2006/relationships/slide" Target="slides/slide12.xml"/><Relationship Id="rId54" Type="http://schemas.openxmlformats.org/officeDocument/2006/relationships/slide" Target="slides/slide13.xml"/><Relationship Id="rId55" Type="http://schemas.openxmlformats.org/officeDocument/2006/relationships/slide" Target="slides/slide14.xml"/><Relationship Id="rId56" Type="http://schemas.openxmlformats.org/officeDocument/2006/relationships/slide" Target="slides/slide15.xml"/><Relationship Id="rId57" Type="http://schemas.openxmlformats.org/officeDocument/2006/relationships/slide" Target="slides/slide16.xml"/><Relationship Id="rId58" Type="http://schemas.openxmlformats.org/officeDocument/2006/relationships/slide" Target="slides/slide17.xml"/><Relationship Id="rId5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9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61031ED-DDD9-43BA-AE15-3196EAF7BD2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381240" y="685800"/>
            <a:ext cx="6092640" cy="3425760"/>
          </a:xfrm>
          <a:prstGeom prst="rect">
            <a:avLst/>
          </a:prstGeom>
          <a:ln w="0">
            <a:noFill/>
          </a:ln>
        </p:spPr>
      </p:sp>
      <p:sp>
        <p:nvSpPr>
          <p:cNvPr id="222"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I'm Justin Le, the COMMs lead for SWARM-EX this semester. This review covers my original plan, how the tests build on each other, what I've done so far, my schedule for the rest of the semester, the impact on the team, and the risks I'm tracking.</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Most of my work is aimed at getting SCT and CET ready for the SWARM-EX Pre-Integration Review in early 2027.</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381240" y="685800"/>
            <a:ext cx="6092640" cy="3425760"/>
          </a:xfrm>
          <a:prstGeom prst="rect">
            <a:avLst/>
          </a:prstGeom>
          <a:ln w="0">
            <a:noFill/>
          </a:ln>
        </p:spPr>
      </p:sp>
      <p:sp>
        <p:nvSpPr>
          <p:cNvPr id="224"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At the start of the semester my plan had three parts. As COMMs lead I'd manage and track COMMs work and monitor the ground station bring-up. On the technical side I'd work toward SCT-2, with the Lithium-2 radio and the software defined radio in the loop, by re-running MCT, re-running SCT-1 and then running SCT-2. I'd also set up the ground station PC as two machines, one Windows machine for Hydra and one Ubuntu 16 machine for GNU Radio, and verify that setup in the ground station chain.</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milestones from my first quad chart were re-running MCT by 9/21, testing the GS PC by 9/23, re-running SCT-1 by 9/30 and running SCT-2 by 10/31, with SCT-3 and CET as stretch goals.</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My personal goals were to get comfortable developing in Hydra, understand the packet chain end to end, build embedded debugging skills, and get better at scoping and tracking work for a team.</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381240" y="685800"/>
            <a:ext cx="6092640" cy="3425760"/>
          </a:xfrm>
          <a:prstGeom prst="rect">
            <a:avLst/>
          </a:prstGeom>
          <a:ln w="0">
            <a:noFill/>
          </a:ln>
        </p:spPr>
      </p:sp>
      <p:sp>
        <p:nvSpPr>
          <p:cNvPr id="226"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Each test adds to the one before it. MCT sends commands from Hydra through CDH to the Li-2 over UART. SCT-1 hardwires CDH and Hydra. SCT-2 adds the Li-2 and the SDR, with the signal decoded through GNU Radio into Hydra. SCT-3 adds the antennas over a short range, and SCT-4 is the same setup over a long range.</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All of it works toward CET and DITL. The next five slides show each test setup.</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381240" y="685800"/>
            <a:ext cx="6092640" cy="3425760"/>
          </a:xfrm>
          <a:prstGeom prst="rect">
            <a:avLst/>
          </a:prstGeom>
          <a:ln w="0">
            <a:noFill/>
          </a:ln>
        </p:spPr>
      </p:sp>
      <p:sp>
        <p:nvSpPr>
          <p:cNvPr id="228"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In MCT, Hydra on the ground side sends commands to CDH over a hardwired link, CDH passes them to the Li-2, and the acknowledgments come back to Hydra.</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A logic analyzer on the UART lines between CDH and the Li-2 checks the no-op, transmit and reset commands.</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381240" y="685800"/>
            <a:ext cx="6092640" cy="3425760"/>
          </a:xfrm>
          <a:prstGeom prst="rect">
            <a:avLst/>
          </a:prstGeom>
          <a:ln w="0">
            <a:noFill/>
          </a:ln>
        </p:spPr>
      </p:sp>
      <p:sp>
        <p:nvSpPr>
          <p:cNvPr id="230"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SCT-1 checks the hardwired link between CDH and Hydra, without wireless communication as a factor. The point is that CDH correctly reads the command bytes coming from Hydra, and Hydra correctly reads the telemetry bytes coming back from CDH.</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Hydra sends a command requesting a housekeeping packet, the CDH terminal confirms the command arrived, and then the packet shows up in Hydra telemetry.</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381240" y="685800"/>
            <a:ext cx="6092640" cy="3425760"/>
          </a:xfrm>
          <a:prstGeom prst="rect">
            <a:avLst/>
          </a:prstGeom>
          <a:ln w="0">
            <a:noFill/>
          </a:ln>
        </p:spPr>
      </p:sp>
      <p:sp>
        <p:nvSpPr>
          <p:cNvPr id="232"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SCT-2 runs the whole chain with only the antenna out of the loop. A message goes through Hydra, GNU Radio and the SDR on the ground side, over a hardlined RF connection to the Li-2, and on to CDH, with the CDH terminal confirming the command was received.</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point is to show a message can be sent in both directions through the hardware and software.</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381240" y="685800"/>
            <a:ext cx="6092640" cy="3425760"/>
          </a:xfrm>
          <a:prstGeom prst="rect">
            <a:avLst/>
          </a:prstGeom>
          <a:ln w="0">
            <a:noFill/>
          </a:ln>
        </p:spPr>
      </p:sp>
      <p:sp>
        <p:nvSpPr>
          <p:cNvPr id="234"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SCT-3 adds the antennas over a short range. The flatsat goes to the parking garage across from the DLC, and the SWARM-EX Hydra and GNU Radio instances run in the COSGC Ground Station, with the ground antenna talking to the flatsat antenna over the air.</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point is to verify antenna and ground station performance and that we can close the link.</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381240" y="685800"/>
            <a:ext cx="6092640" cy="3425760"/>
          </a:xfrm>
          <a:prstGeom prst="rect">
            <a:avLst/>
          </a:prstGeom>
          <a:ln w="0">
            <a:noFill/>
          </a:ln>
        </p:spPr>
      </p:sp>
      <p:sp>
        <p:nvSpPr>
          <p:cNvPr id="236"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SCT-4 is the same setup as SCT-3. The only difference is a longer distance between the flatsat and the ground station, to check antenna and ground station performance and that the link still closes over a longer range.</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381240" y="685800"/>
            <a:ext cx="6092640" cy="3425760"/>
          </a:xfrm>
          <a:prstGeom prst="rect">
            <a:avLst/>
          </a:prstGeom>
          <a:ln w="0">
            <a:noFill/>
          </a:ln>
        </p:spPr>
      </p:sp>
      <p:sp>
        <p:nvSpPr>
          <p:cNvPr id="238"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The plan changed early on. At the start of the semester I was developing the GS PC architecture that would be implemented. Rick proposed a two-PC setup, and I proposed the 443 white tower running Hydra plus a ground station laptop running GNU Radio.</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Now Scott Palo and Nicholas Rainville lead GS PC development and bring-up, and my role is verifying it in the comms chain once it works. That's blocked on their development for now, and we won't have ground station licensing for a while.</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waterfall excerpt shows the change. The MCT rows are complete, and the GS PC setup rows are struck through since they're no longer mine.</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381240" y="685800"/>
            <a:ext cx="6092640" cy="3425760"/>
          </a:xfrm>
          <a:prstGeom prst="rect">
            <a:avLst/>
          </a:prstGeom>
          <a:ln w="0">
            <a:noFill/>
          </a:ln>
        </p:spPr>
      </p:sp>
      <p:sp>
        <p:nvSpPr>
          <p:cNvPr id="240"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MCT is my main technical result so far. I worked bottom up, one interface at a time. First I added the Li-2 commands, states and an opcode dictionary to Hydra. Then I hardwired Hydra straight to the Li-2 and confirmed no-op, transmit and reset on the logic analyzer. That step took longer than planned because of documentation gaps and getting familiar with the hardware. Last, I put the CDH board in the loop, and the commands were sent and acknowledged properly.</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result is that commands are acknowledged through Hydra, CDH and the Li-2. The photo is the bench setup I used.</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381240" y="685800"/>
            <a:ext cx="6092640" cy="3425760"/>
          </a:xfrm>
          <a:prstGeom prst="rect">
            <a:avLst/>
          </a:prstGeom>
          <a:ln w="0">
            <a:noFill/>
          </a:ln>
        </p:spPr>
      </p:sp>
      <p:sp>
        <p:nvSpPr>
          <p:cNvPr id="242"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These are the logic analyzer captures from MCT. In each one, the top trace is the command going to the Li-2 and the bottom trace is the Li-2's reply.</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transmit command carries a 6-byte payload, and the no-op and reset commands have none. Every reply ends in 0x0A 0x0A, the Li-2's acknowledgment, so all three commands were received and acknowledged.</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381240" y="685800"/>
            <a:ext cx="6092640" cy="3425760"/>
          </a:xfrm>
          <a:prstGeom prst="rect">
            <a:avLst/>
          </a:prstGeom>
          <a:ln w="0">
            <a:noFill/>
          </a:ln>
        </p:spPr>
      </p:sp>
      <p:sp>
        <p:nvSpPr>
          <p:cNvPr id="244"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For the ground station PC, I created a status doc on the STIG GS PC. It covers the current setup, why it was built that way, the issues, who's involved, the options and the open questions, and it became the shared picture for Palo and the MAXWELL and SWARM-EX COMMs teams.</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diagram shows the setup: an Ubuntu 24 host running KVM, with a Windows 11 VM for Hydra, an Ubuntu 16 VM for GNU Radio, and the USRP b200mini passed through to the GNU Radio VM. At the start of the semester the VMs couldn't talk to each other, there were VPN problems, and our GNU Radio file couldn't run natively on Ubuntu 24. GNU Radio would break when updating, likely because of how the Lithium framer changed going to Ubuntu 24. Recently Rainville and Palo got the VMs communicating.</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Once the PC is ready, I'll verify it bottom up: USRP to GNU Radio, then GNU Radio to Hydra, then the whole ground side with the station hardware.</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381240" y="685800"/>
            <a:ext cx="6092640" cy="3425760"/>
          </a:xfrm>
          <a:prstGeom prst="rect">
            <a:avLst/>
          </a:prstGeom>
          <a:ln w="0">
            <a:noFill/>
          </a:ln>
        </p:spPr>
      </p:sp>
      <p:sp>
        <p:nvSpPr>
          <p:cNvPr id="246"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As lead, I onboarded Edin, Elsa, Atharv and Ian. Elsa is working on satellite tracking and Edin on ground station bring-up. I gave Atharv the SWARM-EX and ground station block diagrams, and gave Ian the SCT documents for the SCT procedures.</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I track action items from the whole team along with ongoing issues, put together weekly quad charts for COMMs as a whole and a Gantt chart, and manage blockers, dependencies and rescheduling.</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I coordinate with Skye on MAXWELL, Alex Burns as the former MAXWELL COMMs lead, Dhruva as the former SWARM-EX COMMs lead, and Scott Gennari at LASP.</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381240" y="685800"/>
            <a:ext cx="6092640" cy="3425760"/>
          </a:xfrm>
          <a:prstGeom prst="rect">
            <a:avLst/>
          </a:prstGeom>
          <a:ln w="0">
            <a:noFill/>
          </a:ln>
        </p:spPr>
      </p:sp>
      <p:sp>
        <p:nvSpPr>
          <p:cNvPr id="248"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SCT-1 runs 10/16 to 10/22: bench setup on 10/16, a practice run on 10/19, the full run 10/20 to 10/21, and troubleshooting on 10/22.</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GS PC verification is planned for 10/30 to 11/6, once Palo and Rainville have it working. In the meantime I'll update GNU Radio and check its state for SCT-2.</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SCT-2 runs 10/23 to 12/3: the procedure review on 10/23, Hydra development 10/27 to 11/2, a practice run on 11/13 and the full run 11/17 to 11/20. The weeks of 12/7 and 12/14 are for the end-of-semester review, the transition document and the final report.</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Compared to the original plan, MCT finished on 10/8 instead of 9/21, the GS PC test moved from 9/23 to 10/30 through 11/6, SCT-1 moved from 9/30 to 10/20, and SCT-2 moved from 10/31 to 11/17 through 11/20.</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381240" y="685800"/>
            <a:ext cx="6092640" cy="3425760"/>
          </a:xfrm>
          <a:prstGeom prst="rect">
            <a:avLst/>
          </a:prstGeom>
          <a:ln w="0">
            <a:noFill/>
          </a:ln>
        </p:spPr>
      </p:sp>
      <p:sp>
        <p:nvSpPr>
          <p:cNvPr id="250"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The state of comms between the Li-2 and CDH was unclear. Earlier semesters ran MCT and SCT but never reached SCT-2, so re-verifying MCT and SCT gives us a clear starting point for SCT-2.</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The ground station PC has been a long-running pain point for COMMs. The STIG doc turned it into an issue list with clear owners, and Palo and Rainville bringing it up is needed for MAXWELL's February launch.</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As COMMs lead I manage the tasks COMMs needs for SWARM-EX, track the team's work week to week, and route blockers to the right person, whether that's CDH, Palo, LASP or MAXWELL.</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381240" y="685800"/>
            <a:ext cx="6092640" cy="3425760"/>
          </a:xfrm>
          <a:prstGeom prst="rect">
            <a:avLst/>
          </a:prstGeom>
          <a:ln w="0">
            <a:noFill/>
          </a:ln>
        </p:spPr>
      </p:sp>
      <p:sp>
        <p:nvSpPr>
          <p:cNvPr id="252"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These are the risks I'm tracking, rated by consequence and likelihood before and after mitigation. Before mitigation, delays in ground station bring-up are in the red and the rest are in the yellow. After mitigation, all five are in the yellow.</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One, SCT-1 is delayed, which delays SCT-2, so I'm prepping SCT-2 in parallel, with procedure reviews and GNU Radio development, while SCT-1 finishes. Two, SCT-2 may need more development than planned, so I'll scope the Hydra work at the 10/23 procedure review and reuse the MCT and SCT-1 work.</a:t>
            </a:r>
            <a:endParaRPr b="0" lang="en-US" sz="2000" spc="-1" strike="noStrike">
              <a:solidFill>
                <a:srgbClr val="000000"/>
              </a:solidFill>
              <a:latin typeface="Arial"/>
            </a:endParaRPr>
          </a:p>
          <a:p>
            <a:pPr marL="216000" indent="0">
              <a:lnSpc>
                <a:spcPct val="100000"/>
              </a:lnSpc>
              <a:spcAft>
                <a:spcPts val="601"/>
              </a:spcAft>
              <a:buNone/>
              <a:tabLst>
                <a:tab algn="l" pos="0"/>
              </a:tabLst>
            </a:pPr>
            <a:r>
              <a:rPr b="0" lang="en-US" sz="2000" spc="-1" strike="noStrike">
                <a:solidFill>
                  <a:srgbClr val="000000"/>
                </a:solidFill>
                <a:latin typeface="Arial"/>
              </a:rPr>
              <a:t>Three, the motor interface might not get resolved or bypassed. Elsa is looking into working with Palo and getting help from LASP. Four, ground station bring-up could slip, so we can run verification in the chain with the interim laptop setup from MAXWELL. Five, verifying the GS PC at COSGC could run into issues, so I'll verify bottom up with the interim laptop as a fallback.</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381240" y="685800"/>
            <a:ext cx="6092640" cy="3425760"/>
          </a:xfrm>
          <a:prstGeom prst="rect">
            <a:avLst/>
          </a:prstGeom>
          <a:ln w="0">
            <a:noFill/>
          </a:ln>
        </p:spPr>
      </p:sp>
      <p:sp>
        <p:nvSpPr>
          <p:cNvPr id="254" name="PlaceHolder 2"/>
          <p:cNvSpPr>
            <a:spLocks noGrp="1"/>
          </p:cNvSpPr>
          <p:nvPr>
            <p:ph type="body"/>
          </p:nvPr>
        </p:nvSpPr>
        <p:spPr>
          <a:xfrm>
            <a:off x="685800" y="4343400"/>
            <a:ext cx="5483160" cy="4111560"/>
          </a:xfrm>
          <a:prstGeom prst="rect">
            <a:avLst/>
          </a:prstGeom>
          <a:noFill/>
          <a:ln w="0">
            <a:noFill/>
          </a:ln>
        </p:spPr>
        <p:txBody>
          <a:bodyPr lIns="91440" rIns="91440" tIns="91440" bIns="91440" anchor="t">
            <a:noAutofit/>
          </a:bodyPr>
          <a:p>
            <a:pPr marL="216000" indent="0">
              <a:lnSpc>
                <a:spcPct val="100000"/>
              </a:lnSpc>
              <a:spcAft>
                <a:spcPts val="601"/>
              </a:spcAft>
              <a:buNone/>
              <a:tabLst>
                <a:tab algn="l" pos="0"/>
              </a:tabLst>
            </a:pPr>
            <a:r>
              <a:rPr b="0" lang="en-US" sz="2000" spc="-1" strike="noStrike">
                <a:solidFill>
                  <a:srgbClr val="000000"/>
                </a:solidFill>
                <a:latin typeface="Arial"/>
              </a:rPr>
              <a:t>That's my mid-semester review. Thanks for watching.</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4">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2">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1_1_2">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_1_1_1_1_1_1_1_1_1_1_1_1_1_1_1_1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2">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s">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column text">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 point">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title and description">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number">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body and imag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big ideas">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big ideas">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big ideas">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image">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toryboards">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storyboards">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only">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grid">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3">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_1_1_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image" Target="../media/image3.png"/><Relationship Id="rId3"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0" name="Google Shape;10;p2" descr=""/>
          <p:cNvPicPr/>
          <p:nvPr/>
        </p:nvPicPr>
        <p:blipFill>
          <a:blip r:embed="rId2">
            <a:alphaModFix amt="50000"/>
          </a:blip>
          <a:srcRect l="3134" t="16764" r="7833" b="8145"/>
          <a:stretch/>
        </p:blipFill>
        <p:spPr>
          <a:xfrm flipH="1" rot="10800000">
            <a:off x="0" y="-360"/>
            <a:ext cx="9158400" cy="5151240"/>
          </a:xfrm>
          <a:prstGeom prst="rect">
            <a:avLst/>
          </a:prstGeom>
          <a:ln w="0">
            <a:noFill/>
          </a:ln>
        </p:spPr>
      </p:pic>
      <p:sp>
        <p:nvSpPr>
          <p:cNvPr id="1" name="Google Shape;11;p2"/>
          <p:cNvSpPr/>
          <p:nvPr/>
        </p:nvSpPr>
        <p:spPr>
          <a:xfrm flipH="1" rot="10800000">
            <a:off x="-360" y="4680000"/>
            <a:ext cx="9146520" cy="463680"/>
          </a:xfrm>
          <a:prstGeom prst="rect">
            <a:avLst/>
          </a:prstGeom>
          <a:solidFill>
            <a:schemeClr val="dk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2" name="Google Shape;16;p2"/>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3" name="Google Shape;17;p2"/>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cxnSp>
        <p:nvCxnSpPr>
          <p:cNvPr id="4" name="Google Shape;19;p2"/>
          <p:cNvCxnSpPr/>
          <p:nvPr/>
        </p:nvCxnSpPr>
        <p:spPr>
          <a:xfrm>
            <a:off x="238680" y="4683240"/>
            <a:ext cx="8679960" cy="3240"/>
          </a:xfrm>
          <a:prstGeom prst="straightConnector1">
            <a:avLst/>
          </a:prstGeom>
          <a:ln w="9525">
            <a:solidFill>
              <a:srgbClr val="434343"/>
            </a:solidFill>
            <a:round/>
          </a:ln>
        </p:spPr>
      </p:cxnSp>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 name="Google Shape;161;p11"/>
          <p:cNvSpPr/>
          <p:nvPr/>
        </p:nvSpPr>
        <p:spPr>
          <a:xfrm>
            <a:off x="0" y="-360"/>
            <a:ext cx="9140760" cy="5140800"/>
          </a:xfrm>
          <a:prstGeom prst="roundRect">
            <a:avLst>
              <a:gd name="adj" fmla="val 0"/>
            </a:avLst>
          </a:prstGeom>
          <a:blipFill rotWithShape="0">
            <a:blip r:embed="rId2"/>
            <a:srcRect/>
            <a:stretch/>
          </a:blipFill>
          <a:ln w="9525">
            <a:solidFill>
              <a:srgbClr val="434343"/>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cxnSp>
        <p:nvCxnSpPr>
          <p:cNvPr id="8" name="Google Shape;167;p11"/>
          <p:cNvCxnSpPr/>
          <p:nvPr/>
        </p:nvCxnSpPr>
        <p:spPr>
          <a:xfrm>
            <a:off x="238680" y="4683240"/>
            <a:ext cx="8679960" cy="3240"/>
          </a:xfrm>
          <a:prstGeom prst="straightConnector1">
            <a:avLst/>
          </a:prstGeom>
          <a:ln w="9525">
            <a:solidFill>
              <a:srgbClr val="434343"/>
            </a:solidFill>
            <a:round/>
          </a:ln>
        </p:spPr>
      </p:cxnSp>
      <p:cxnSp>
        <p:nvCxnSpPr>
          <p:cNvPr id="9" name="Google Shape;168;p11"/>
          <p:cNvCxnSpPr/>
          <p:nvPr/>
        </p:nvCxnSpPr>
        <p:spPr>
          <a:xfrm>
            <a:off x="4158720" y="226080"/>
            <a:ext cx="3240" cy="4460760"/>
          </a:xfrm>
          <a:prstGeom prst="straightConnector1">
            <a:avLst/>
          </a:prstGeom>
          <a:ln w="9525">
            <a:solidFill>
              <a:srgbClr val="434343"/>
            </a:solidFill>
            <a:round/>
          </a:ln>
        </p:spPr>
      </p:cxnSp>
      <p:cxnSp>
        <p:nvCxnSpPr>
          <p:cNvPr id="10" name="Google Shape;169;p11"/>
          <p:cNvCxnSpPr/>
          <p:nvPr/>
        </p:nvCxnSpPr>
        <p:spPr>
          <a:xfrm>
            <a:off x="228600" y="226080"/>
            <a:ext cx="8690040" cy="3240"/>
          </a:xfrm>
          <a:prstGeom prst="straightConnector1">
            <a:avLst/>
          </a:prstGeom>
          <a:ln w="9525">
            <a:solidFill>
              <a:srgbClr val="434343"/>
            </a:solidFill>
            <a:round/>
          </a:ln>
        </p:spPr>
      </p:cxnSp>
      <p:sp>
        <p:nvSpPr>
          <p:cNvPr id="11" name="Google Shape;170;p11"/>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12" name="Google Shape;171;p11"/>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
        <p:nvSpPr>
          <p:cNvPr id="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15" name="Google Shape;180;p12"/>
          <p:cNvCxnSpPr/>
          <p:nvPr/>
        </p:nvCxnSpPr>
        <p:spPr>
          <a:xfrm>
            <a:off x="238680" y="4683240"/>
            <a:ext cx="8679960" cy="3240"/>
          </a:xfrm>
          <a:prstGeom prst="straightConnector1">
            <a:avLst/>
          </a:prstGeom>
          <a:ln w="9525">
            <a:solidFill>
              <a:srgbClr val="434343"/>
            </a:solidFill>
            <a:round/>
          </a:ln>
        </p:spPr>
      </p:cxnSp>
      <p:sp>
        <p:nvSpPr>
          <p:cNvPr id="16" name="Google Shape;181;p12"/>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17" name="Google Shape;182;p12"/>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18" name="Google Shape;196;p13"/>
          <p:cNvCxnSpPr/>
          <p:nvPr/>
        </p:nvCxnSpPr>
        <p:spPr>
          <a:xfrm>
            <a:off x="238680" y="4683240"/>
            <a:ext cx="8679960" cy="3240"/>
          </a:xfrm>
          <a:prstGeom prst="straightConnector1">
            <a:avLst/>
          </a:prstGeom>
          <a:ln w="9525">
            <a:solidFill>
              <a:srgbClr val="434343"/>
            </a:solidFill>
            <a:round/>
          </a:ln>
        </p:spPr>
      </p:cxnSp>
      <p:grpSp>
        <p:nvGrpSpPr>
          <p:cNvPr id="19" name="Google Shape;197;p13"/>
          <p:cNvGrpSpPr/>
          <p:nvPr/>
        </p:nvGrpSpPr>
        <p:grpSpPr>
          <a:xfrm>
            <a:off x="4828320" y="4172760"/>
            <a:ext cx="76320" cy="144360"/>
            <a:chOff x="4828320" y="4172760"/>
            <a:chExt cx="76320" cy="144360"/>
          </a:xfrm>
        </p:grpSpPr>
        <p:cxnSp>
          <p:nvCxnSpPr>
            <p:cNvPr id="20" name="Google Shape;198;p13"/>
            <p:cNvCxnSpPr/>
            <p:nvPr/>
          </p:nvCxnSpPr>
          <p:spPr>
            <a:xfrm flipV="1">
              <a:off x="4828320" y="4242960"/>
              <a:ext cx="74520" cy="74520"/>
            </a:xfrm>
            <a:prstGeom prst="straightConnector1">
              <a:avLst/>
            </a:prstGeom>
            <a:ln w="9525">
              <a:solidFill>
                <a:srgbClr val="323232"/>
              </a:solidFill>
              <a:round/>
            </a:ln>
          </p:spPr>
        </p:cxnSp>
        <p:cxnSp>
          <p:nvCxnSpPr>
            <p:cNvPr id="21" name="Google Shape;199;p13"/>
            <p:cNvCxnSpPr/>
            <p:nvPr/>
          </p:nvCxnSpPr>
          <p:spPr>
            <a:xfrm>
              <a:off x="4828320" y="4172760"/>
              <a:ext cx="76680" cy="77400"/>
            </a:xfrm>
            <a:prstGeom prst="straightConnector1">
              <a:avLst/>
            </a:prstGeom>
            <a:ln w="9525">
              <a:solidFill>
                <a:srgbClr val="323232"/>
              </a:solidFill>
              <a:round/>
            </a:ln>
          </p:spPr>
        </p:cxnSp>
      </p:grpSp>
      <p:sp>
        <p:nvSpPr>
          <p:cNvPr id="22" name="Google Shape;200;p13"/>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23" name="Google Shape;201;p13"/>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24" name="Google Shape;207;p14"/>
          <p:cNvCxnSpPr/>
          <p:nvPr/>
        </p:nvCxnSpPr>
        <p:spPr>
          <a:xfrm>
            <a:off x="238680" y="4683240"/>
            <a:ext cx="8679960" cy="3240"/>
          </a:xfrm>
          <a:prstGeom prst="straightConnector1">
            <a:avLst/>
          </a:prstGeom>
          <a:ln w="9525">
            <a:solidFill>
              <a:srgbClr val="434343"/>
            </a:solidFill>
            <a:round/>
          </a:ln>
        </p:spPr>
      </p:cxnSp>
      <p:sp>
        <p:nvSpPr>
          <p:cNvPr id="25" name="Google Shape;220;p14"/>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26" name="Google Shape;221;p14"/>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7" name="Google Shape;223;p15" descr=""/>
          <p:cNvPicPr/>
          <p:nvPr/>
        </p:nvPicPr>
        <p:blipFill>
          <a:blip r:embed="rId2"/>
          <a:srcRect l="0" t="0" r="15467" b="14586"/>
          <a:stretch/>
        </p:blipFill>
        <p:spPr>
          <a:xfrm flipH="1">
            <a:off x="4575240" y="2061000"/>
            <a:ext cx="4568760" cy="3079080"/>
          </a:xfrm>
          <a:prstGeom prst="rect">
            <a:avLst/>
          </a:prstGeom>
          <a:ln w="0">
            <a:noFill/>
          </a:ln>
        </p:spPr>
      </p:pic>
      <p:cxnSp>
        <p:nvCxnSpPr>
          <p:cNvPr id="28" name="Google Shape;224;p15"/>
          <p:cNvCxnSpPr/>
          <p:nvPr/>
        </p:nvCxnSpPr>
        <p:spPr>
          <a:xfrm>
            <a:off x="238680" y="4683240"/>
            <a:ext cx="8679960" cy="3240"/>
          </a:xfrm>
          <a:prstGeom prst="straightConnector1">
            <a:avLst/>
          </a:prstGeom>
          <a:ln w="9525">
            <a:solidFill>
              <a:srgbClr val="434343"/>
            </a:solidFill>
            <a:round/>
          </a:ln>
        </p:spPr>
      </p:cxnSp>
      <p:sp>
        <p:nvSpPr>
          <p:cNvPr id="29" name="Google Shape;242;p15"/>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30" name="Google Shape;243;p15"/>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33" name="Google Shape;246;p16"/>
          <p:cNvCxnSpPr/>
          <p:nvPr/>
        </p:nvCxnSpPr>
        <p:spPr>
          <a:xfrm>
            <a:off x="228240" y="2061000"/>
            <a:ext cx="8690400" cy="3240"/>
          </a:xfrm>
          <a:prstGeom prst="straightConnector1">
            <a:avLst/>
          </a:prstGeom>
          <a:ln w="9525">
            <a:solidFill>
              <a:srgbClr val="323232"/>
            </a:solidFill>
            <a:round/>
          </a:ln>
        </p:spPr>
      </p:cxnSp>
      <p:cxnSp>
        <p:nvCxnSpPr>
          <p:cNvPr id="34" name="Google Shape;250;p16"/>
          <p:cNvCxnSpPr/>
          <p:nvPr/>
        </p:nvCxnSpPr>
        <p:spPr>
          <a:xfrm>
            <a:off x="238680" y="4683240"/>
            <a:ext cx="8679960" cy="3240"/>
          </a:xfrm>
          <a:prstGeom prst="straightConnector1">
            <a:avLst/>
          </a:prstGeom>
          <a:ln w="9525">
            <a:solidFill>
              <a:srgbClr val="434343"/>
            </a:solidFill>
            <a:round/>
          </a:ln>
        </p:spPr>
      </p:cxnSp>
      <p:sp>
        <p:nvSpPr>
          <p:cNvPr id="35" name="Google Shape;256;p16"/>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36" name="Google Shape;257;p16"/>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37" name="Google Shape;262;p17"/>
          <p:cNvCxnSpPr/>
          <p:nvPr/>
        </p:nvCxnSpPr>
        <p:spPr>
          <a:xfrm>
            <a:off x="238680" y="4683240"/>
            <a:ext cx="8679960" cy="3240"/>
          </a:xfrm>
          <a:prstGeom prst="straightConnector1">
            <a:avLst/>
          </a:prstGeom>
          <a:ln w="9525">
            <a:solidFill>
              <a:srgbClr val="434343"/>
            </a:solidFill>
            <a:round/>
          </a:ln>
        </p:spPr>
      </p:cxnSp>
      <p:sp>
        <p:nvSpPr>
          <p:cNvPr id="38" name="Google Shape;263;p17"/>
          <p:cNvSpPr/>
          <p:nvPr/>
        </p:nvSpPr>
        <p:spPr>
          <a:xfrm>
            <a:off x="228600" y="1396080"/>
            <a:ext cx="2098080" cy="3050640"/>
          </a:xfrm>
          <a:prstGeom prst="roundRect">
            <a:avLst>
              <a:gd name="adj" fmla="val 9631"/>
            </a:avLst>
          </a:prstGeom>
          <a:solidFill>
            <a:schemeClr val="lt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9" name="Google Shape;264;p17"/>
          <p:cNvSpPr/>
          <p:nvPr/>
        </p:nvSpPr>
        <p:spPr>
          <a:xfrm>
            <a:off x="2423880" y="1396080"/>
            <a:ext cx="3195360" cy="3050640"/>
          </a:xfrm>
          <a:prstGeom prst="roundRect">
            <a:avLst>
              <a:gd name="adj" fmla="val 674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40" name="Google Shape;265;p17"/>
          <p:cNvSpPr/>
          <p:nvPr/>
        </p:nvSpPr>
        <p:spPr>
          <a:xfrm>
            <a:off x="5716800" y="1396080"/>
            <a:ext cx="3195360" cy="1755000"/>
          </a:xfrm>
          <a:prstGeom prst="roundRect">
            <a:avLst>
              <a:gd name="adj" fmla="val 9631"/>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ffffff"/>
              </a:solidFill>
              <a:latin typeface="Arial"/>
            </a:endParaRPr>
          </a:p>
        </p:txBody>
      </p:sp>
      <p:sp>
        <p:nvSpPr>
          <p:cNvPr id="41" name="Google Shape;266;p17"/>
          <p:cNvSpPr/>
          <p:nvPr/>
        </p:nvSpPr>
        <p:spPr>
          <a:xfrm>
            <a:off x="5716080" y="3231360"/>
            <a:ext cx="3195360" cy="1214280"/>
          </a:xfrm>
          <a:prstGeom prst="roundRect">
            <a:avLst>
              <a:gd name="adj" fmla="val 13607"/>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ffffff"/>
              </a:solidFill>
              <a:latin typeface="Arial"/>
            </a:endParaRPr>
          </a:p>
        </p:txBody>
      </p:sp>
      <p:cxnSp>
        <p:nvCxnSpPr>
          <p:cNvPr id="42" name="Google Shape;272;p17"/>
          <p:cNvCxnSpPr/>
          <p:nvPr/>
        </p:nvCxnSpPr>
        <p:spPr>
          <a:xfrm>
            <a:off x="2423520" y="2531160"/>
            <a:ext cx="3197520" cy="3240"/>
          </a:xfrm>
          <a:prstGeom prst="straightConnector1">
            <a:avLst/>
          </a:prstGeom>
          <a:ln w="9525">
            <a:solidFill>
              <a:srgbClr val="000000"/>
            </a:solidFill>
            <a:round/>
          </a:ln>
        </p:spPr>
      </p:cxnSp>
      <p:cxnSp>
        <p:nvCxnSpPr>
          <p:cNvPr id="43" name="Google Shape;273;p17"/>
          <p:cNvCxnSpPr/>
          <p:nvPr/>
        </p:nvCxnSpPr>
        <p:spPr>
          <a:xfrm>
            <a:off x="2423520" y="3583440"/>
            <a:ext cx="3197520" cy="3240"/>
          </a:xfrm>
          <a:prstGeom prst="straightConnector1">
            <a:avLst/>
          </a:prstGeom>
          <a:ln w="9525">
            <a:solidFill>
              <a:srgbClr val="000000"/>
            </a:solidFill>
            <a:round/>
          </a:ln>
        </p:spPr>
      </p:cxnSp>
      <p:sp>
        <p:nvSpPr>
          <p:cNvPr id="44" name="Google Shape;276;p17"/>
          <p:cNvSpPr/>
          <p:nvPr/>
        </p:nvSpPr>
        <p:spPr>
          <a:xfrm flipH="1">
            <a:off x="2597400" y="3993120"/>
            <a:ext cx="677880" cy="270360"/>
          </a:xfrm>
          <a:prstGeom prst="roundRect">
            <a:avLst>
              <a:gd name="adj" fmla="val 50000"/>
            </a:avLst>
          </a:prstGeom>
          <a:solidFill>
            <a:schemeClr val="accent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5" name="Google Shape;277;p17"/>
          <p:cNvSpPr/>
          <p:nvPr/>
        </p:nvSpPr>
        <p:spPr>
          <a:xfrm flipH="1">
            <a:off x="3651120" y="3993120"/>
            <a:ext cx="677880" cy="270360"/>
          </a:xfrm>
          <a:prstGeom prst="roundRect">
            <a:avLst>
              <a:gd name="adj" fmla="val 50000"/>
            </a:avLst>
          </a:prstGeom>
          <a:solidFill>
            <a:schemeClr val="accent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6" name="Google Shape;278;p17"/>
          <p:cNvSpPr/>
          <p:nvPr/>
        </p:nvSpPr>
        <p:spPr>
          <a:xfrm flipH="1">
            <a:off x="4599000" y="3993120"/>
            <a:ext cx="677880" cy="270360"/>
          </a:xfrm>
          <a:prstGeom prst="roundRect">
            <a:avLst>
              <a:gd name="adj" fmla="val 50000"/>
            </a:avLst>
          </a:prstGeom>
          <a:solidFill>
            <a:schemeClr val="accent3"/>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7" name="Google Shape;286;p17"/>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48" name="Google Shape;287;p17"/>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49" name="Google Shape;298;p18"/>
          <p:cNvCxnSpPr/>
          <p:nvPr/>
        </p:nvCxnSpPr>
        <p:spPr>
          <a:xfrm>
            <a:off x="238680" y="4683240"/>
            <a:ext cx="8679960" cy="3240"/>
          </a:xfrm>
          <a:prstGeom prst="straightConnector1">
            <a:avLst/>
          </a:prstGeom>
          <a:ln w="9525">
            <a:solidFill>
              <a:srgbClr val="434343"/>
            </a:solidFill>
            <a:round/>
          </a:ln>
        </p:spPr>
      </p:cxnSp>
      <p:sp>
        <p:nvSpPr>
          <p:cNvPr id="50" name="Google Shape;314;p18"/>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51" name="Google Shape;315;p18"/>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52" name="Google Shape;320;p19"/>
          <p:cNvCxnSpPr/>
          <p:nvPr/>
        </p:nvCxnSpPr>
        <p:spPr>
          <a:xfrm>
            <a:off x="238680" y="4683240"/>
            <a:ext cx="8679960" cy="3240"/>
          </a:xfrm>
          <a:prstGeom prst="straightConnector1">
            <a:avLst/>
          </a:prstGeom>
          <a:ln w="9525">
            <a:solidFill>
              <a:srgbClr val="434343"/>
            </a:solidFill>
            <a:round/>
          </a:ln>
        </p:spPr>
      </p:cxnSp>
      <p:sp>
        <p:nvSpPr>
          <p:cNvPr id="53" name="Google Shape;321;p19"/>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54" name="Google Shape;322;p19"/>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5" name="Google Shape;30;p3"/>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56" name="Google Shape;31;p3"/>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cxnSp>
        <p:nvCxnSpPr>
          <p:cNvPr id="57" name="Google Shape;32;p3"/>
          <p:cNvCxnSpPr/>
          <p:nvPr/>
        </p:nvCxnSpPr>
        <p:spPr>
          <a:xfrm>
            <a:off x="238680" y="4683240"/>
            <a:ext cx="8679960" cy="3240"/>
          </a:xfrm>
          <a:prstGeom prst="straightConnector1">
            <a:avLst/>
          </a:prstGeom>
          <a:ln w="9525">
            <a:solidFill>
              <a:srgbClr val="434343"/>
            </a:solidFill>
            <a:round/>
          </a:ln>
        </p:spPr>
      </p:cxn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8" name="Google Shape;39;p4"/>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59" name="Google Shape;40;p4"/>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cxnSp>
        <p:nvCxnSpPr>
          <p:cNvPr id="60" name="Google Shape;41;p4"/>
          <p:cNvCxnSpPr/>
          <p:nvPr/>
        </p:nvCxnSpPr>
        <p:spPr>
          <a:xfrm>
            <a:off x="238680" y="4683240"/>
            <a:ext cx="8679960" cy="3240"/>
          </a:xfrm>
          <a:prstGeom prst="straightConnector1">
            <a:avLst/>
          </a:prstGeom>
          <a:ln w="9525">
            <a:solidFill>
              <a:srgbClr val="434343"/>
            </a:solidFill>
            <a:round/>
          </a:ln>
        </p:spPr>
      </p:cxn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1" name="Google Shape;56;p5"/>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62" name="Google Shape;57;p5"/>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cxnSp>
        <p:nvCxnSpPr>
          <p:cNvPr id="63" name="Google Shape;58;p5"/>
          <p:cNvCxnSpPr/>
          <p:nvPr/>
        </p:nvCxnSpPr>
        <p:spPr>
          <a:xfrm>
            <a:off x="228600" y="226080"/>
            <a:ext cx="8690040" cy="3240"/>
          </a:xfrm>
          <a:prstGeom prst="straightConnector1">
            <a:avLst/>
          </a:prstGeom>
          <a:ln w="9525">
            <a:solidFill>
              <a:srgbClr val="323232"/>
            </a:solidFill>
            <a:round/>
          </a:ln>
        </p:spPr>
      </p:cxnSp>
      <p:cxnSp>
        <p:nvCxnSpPr>
          <p:cNvPr id="64" name="Google Shape;59;p5"/>
          <p:cNvCxnSpPr/>
          <p:nvPr/>
        </p:nvCxnSpPr>
        <p:spPr>
          <a:xfrm>
            <a:off x="4444560" y="569880"/>
            <a:ext cx="4474080" cy="3240"/>
          </a:xfrm>
          <a:prstGeom prst="straightConnector1">
            <a:avLst/>
          </a:prstGeom>
          <a:ln w="9525">
            <a:solidFill>
              <a:srgbClr val="323232"/>
            </a:solidFill>
            <a:round/>
          </a:ln>
        </p:spPr>
      </p:cxnSp>
      <p:cxnSp>
        <p:nvCxnSpPr>
          <p:cNvPr id="65" name="Google Shape;60;p5"/>
          <p:cNvCxnSpPr/>
          <p:nvPr/>
        </p:nvCxnSpPr>
        <p:spPr>
          <a:xfrm>
            <a:off x="4442400" y="226080"/>
            <a:ext cx="3240" cy="4460760"/>
          </a:xfrm>
          <a:prstGeom prst="straightConnector1">
            <a:avLst/>
          </a:prstGeom>
          <a:ln w="9525">
            <a:solidFill>
              <a:srgbClr val="323232"/>
            </a:solidFill>
            <a:round/>
          </a:ln>
        </p:spPr>
      </p:cxnSp>
      <p:cxnSp>
        <p:nvCxnSpPr>
          <p:cNvPr id="66" name="Google Shape;61;p5"/>
          <p:cNvCxnSpPr/>
          <p:nvPr/>
        </p:nvCxnSpPr>
        <p:spPr>
          <a:xfrm>
            <a:off x="238680" y="4683240"/>
            <a:ext cx="8679960" cy="3240"/>
          </a:xfrm>
          <a:prstGeom prst="straightConnector1">
            <a:avLst/>
          </a:prstGeom>
          <a:ln w="9525">
            <a:solidFill>
              <a:srgbClr val="434343"/>
            </a:solidFill>
            <a:round/>
          </a:ln>
        </p:spPr>
      </p:cxn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7" name="Google Shape;71;p6"/>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68" name="Google Shape;72;p6"/>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cxnSp>
        <p:nvCxnSpPr>
          <p:cNvPr id="69" name="Google Shape;74;p6"/>
          <p:cNvCxnSpPr/>
          <p:nvPr/>
        </p:nvCxnSpPr>
        <p:spPr>
          <a:xfrm>
            <a:off x="238680" y="4683240"/>
            <a:ext cx="8679960" cy="3240"/>
          </a:xfrm>
          <a:prstGeom prst="straightConnector1">
            <a:avLst/>
          </a:prstGeom>
          <a:ln w="9525">
            <a:solidFill>
              <a:srgbClr val="434343"/>
            </a:solidFill>
            <a:round/>
          </a:ln>
        </p:spPr>
      </p:cxn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0" name="Google Shape;76;p7" descr=""/>
          <p:cNvPicPr/>
          <p:nvPr/>
        </p:nvPicPr>
        <p:blipFill>
          <a:blip r:embed="rId2">
            <a:alphaModFix amt="60000"/>
          </a:blip>
          <a:srcRect l="0" t="0" r="15467" b="14586"/>
          <a:stretch/>
        </p:blipFill>
        <p:spPr>
          <a:xfrm>
            <a:off x="0" y="1172520"/>
            <a:ext cx="5178240" cy="3489840"/>
          </a:xfrm>
          <a:prstGeom prst="rect">
            <a:avLst/>
          </a:prstGeom>
          <a:ln w="0">
            <a:noFill/>
          </a:ln>
        </p:spPr>
      </p:pic>
      <p:cxnSp>
        <p:nvCxnSpPr>
          <p:cNvPr id="71" name="Google Shape;81;p7"/>
          <p:cNvCxnSpPr/>
          <p:nvPr/>
        </p:nvCxnSpPr>
        <p:spPr>
          <a:xfrm>
            <a:off x="238680" y="4683240"/>
            <a:ext cx="8679960" cy="3240"/>
          </a:xfrm>
          <a:prstGeom prst="straightConnector1">
            <a:avLst/>
          </a:prstGeom>
          <a:ln w="9525">
            <a:solidFill>
              <a:srgbClr val="434343"/>
            </a:solidFill>
            <a:round/>
          </a:ln>
        </p:spPr>
      </p:cxnSp>
      <p:sp>
        <p:nvSpPr>
          <p:cNvPr id="72" name="Google Shape;94;p7"/>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73" name="Google Shape;95;p7"/>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3"/>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74" name="Google Shape;119;p8"/>
          <p:cNvCxnSpPr/>
          <p:nvPr/>
        </p:nvCxnSpPr>
        <p:spPr>
          <a:xfrm>
            <a:off x="238680" y="4683240"/>
            <a:ext cx="8679960" cy="3240"/>
          </a:xfrm>
          <a:prstGeom prst="straightConnector1">
            <a:avLst/>
          </a:prstGeom>
          <a:ln w="9525">
            <a:solidFill>
              <a:srgbClr val="434343"/>
            </a:solidFill>
            <a:round/>
          </a:ln>
        </p:spPr>
      </p:cxnSp>
      <p:sp>
        <p:nvSpPr>
          <p:cNvPr id="75" name="Google Shape;120;p8"/>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76" name="Google Shape;121;p8"/>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cxnSp>
        <p:nvCxnSpPr>
          <p:cNvPr id="77" name="Google Shape;129;p9"/>
          <p:cNvCxnSpPr/>
          <p:nvPr/>
        </p:nvCxnSpPr>
        <p:spPr>
          <a:xfrm>
            <a:off x="238680" y="4683240"/>
            <a:ext cx="8679960" cy="3240"/>
          </a:xfrm>
          <a:prstGeom prst="straightConnector1">
            <a:avLst/>
          </a:prstGeom>
          <a:ln w="9525">
            <a:solidFill>
              <a:srgbClr val="434343"/>
            </a:solidFill>
            <a:round/>
          </a:ln>
        </p:spPr>
      </p:cxnSp>
      <p:sp>
        <p:nvSpPr>
          <p:cNvPr id="78" name="Google Shape;130;p9"/>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79" name="Google Shape;131;p9"/>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80" name="Google Shape;136;p10"/>
          <p:cNvGrpSpPr/>
          <p:nvPr/>
        </p:nvGrpSpPr>
        <p:grpSpPr>
          <a:xfrm>
            <a:off x="8691480" y="228600"/>
            <a:ext cx="225360" cy="225360"/>
            <a:chOff x="8691480" y="228600"/>
            <a:chExt cx="225360" cy="225360"/>
          </a:xfrm>
        </p:grpSpPr>
        <p:sp>
          <p:nvSpPr>
            <p:cNvPr id="81" name="Google Shape;137;p10"/>
            <p:cNvSpPr/>
            <p:nvPr/>
          </p:nvSpPr>
          <p:spPr>
            <a:xfrm>
              <a:off x="8691480" y="228600"/>
              <a:ext cx="225360" cy="225360"/>
            </a:xfrm>
            <a:prstGeom prst="ellipse">
              <a:avLst/>
            </a:prstGeom>
            <a:solidFill>
              <a:schemeClr val="accent3"/>
            </a:solidFill>
            <a:ln w="0">
              <a:noFill/>
            </a:ln>
          </p:spPr>
          <p:style>
            <a:lnRef idx="0"/>
            <a:fillRef idx="0"/>
            <a:effectRef idx="0"/>
            <a:fontRef idx="minor"/>
          </p:style>
          <p:txBody>
            <a:bodyPr lIns="90000" rIns="90000" tIns="79920" bIns="79920" anchor="ctr">
              <a:noAutofit/>
            </a:bodyPr>
            <a:p>
              <a:pPr algn="ctr">
                <a:lnSpc>
                  <a:spcPct val="100000"/>
                </a:lnSpc>
                <a:tabLst>
                  <a:tab algn="l" pos="0"/>
                </a:tabLst>
              </a:pPr>
              <a:endParaRPr b="0" lang="en-US" sz="1400" spc="-1" strike="noStrike">
                <a:solidFill>
                  <a:srgbClr val="000000"/>
                </a:solidFill>
                <a:latin typeface="Arial"/>
              </a:endParaRPr>
            </a:p>
          </p:txBody>
        </p:sp>
        <p:grpSp>
          <p:nvGrpSpPr>
            <p:cNvPr id="82" name="Google Shape;138;p10"/>
            <p:cNvGrpSpPr/>
            <p:nvPr/>
          </p:nvGrpSpPr>
          <p:grpSpPr>
            <a:xfrm>
              <a:off x="8748360" y="323640"/>
              <a:ext cx="117360" cy="60120"/>
              <a:chOff x="8748360" y="323640"/>
              <a:chExt cx="117360" cy="60120"/>
            </a:xfrm>
          </p:grpSpPr>
          <p:cxnSp>
            <p:nvCxnSpPr>
              <p:cNvPr id="83" name="Google Shape;139;p10"/>
              <p:cNvCxnSpPr/>
              <p:nvPr/>
            </p:nvCxnSpPr>
            <p:spPr>
              <a:xfrm>
                <a:off x="8748360" y="323640"/>
                <a:ext cx="60480" cy="60480"/>
              </a:xfrm>
              <a:prstGeom prst="straightConnector1">
                <a:avLst/>
              </a:prstGeom>
              <a:ln w="9525">
                <a:solidFill>
                  <a:srgbClr val="000000"/>
                </a:solidFill>
                <a:round/>
              </a:ln>
            </p:spPr>
          </p:cxnSp>
          <p:cxnSp>
            <p:nvCxnSpPr>
              <p:cNvPr id="84" name="Google Shape;140;p10"/>
              <p:cNvCxnSpPr/>
              <p:nvPr/>
            </p:nvCxnSpPr>
            <p:spPr>
              <a:xfrm flipH="1">
                <a:off x="8805600" y="323640"/>
                <a:ext cx="60480" cy="60480"/>
              </a:xfrm>
              <a:prstGeom prst="straightConnector1">
                <a:avLst/>
              </a:prstGeom>
              <a:ln w="9525">
                <a:solidFill>
                  <a:srgbClr val="000000"/>
                </a:solidFill>
                <a:round/>
              </a:ln>
            </p:spPr>
          </p:cxnSp>
        </p:grpSp>
      </p:grpSp>
      <p:cxnSp>
        <p:nvCxnSpPr>
          <p:cNvPr id="85" name="Google Shape;157;p10"/>
          <p:cNvCxnSpPr/>
          <p:nvPr/>
        </p:nvCxnSpPr>
        <p:spPr>
          <a:xfrm>
            <a:off x="238680" y="4683240"/>
            <a:ext cx="8679960" cy="3240"/>
          </a:xfrm>
          <a:prstGeom prst="straightConnector1">
            <a:avLst/>
          </a:prstGeom>
          <a:ln w="9525">
            <a:solidFill>
              <a:srgbClr val="434343"/>
            </a:solidFill>
            <a:round/>
          </a:ln>
        </p:spPr>
      </p:cxnSp>
      <p:sp>
        <p:nvSpPr>
          <p:cNvPr id="86" name="Google Shape;158;p10"/>
          <p:cNvSpPr/>
          <p:nvPr/>
        </p:nvSpPr>
        <p:spPr>
          <a:xfrm>
            <a:off x="228600" y="4837680"/>
            <a:ext cx="45720" cy="45720"/>
          </a:xfrm>
          <a:prstGeom prst="ellipse">
            <a:avLst/>
          </a:prstGeom>
          <a:solidFill>
            <a:schemeClr val="lt1"/>
          </a:solidFill>
          <a:ln w="0">
            <a:noFill/>
          </a:ln>
        </p:spPr>
        <p:style>
          <a:lnRef idx="0"/>
          <a:fillRef idx="0"/>
          <a:effectRef idx="0"/>
          <a:fontRef idx="minor"/>
        </p:style>
        <p:txBody>
          <a:bodyPr lIns="90000" rIns="90000" tIns="16200" bIns="16200" anchor="ctr">
            <a:noAutofit/>
          </a:bodyPr>
          <a:p>
            <a:pPr algn="ctr">
              <a:lnSpc>
                <a:spcPct val="100000"/>
              </a:lnSpc>
              <a:tabLst>
                <a:tab algn="l" pos="0"/>
              </a:tabLst>
            </a:pPr>
            <a:endParaRPr b="0" lang="en-US" sz="1400" spc="-1" strike="noStrike">
              <a:solidFill>
                <a:srgbClr val="000000"/>
              </a:solidFill>
              <a:latin typeface="Arial"/>
            </a:endParaRPr>
          </a:p>
        </p:txBody>
      </p:sp>
      <p:sp>
        <p:nvSpPr>
          <p:cNvPr id="87" name="Google Shape;159;p10"/>
          <p:cNvSpPr/>
          <p:nvPr/>
        </p:nvSpPr>
        <p:spPr>
          <a:xfrm>
            <a:off x="4618800" y="4839120"/>
            <a:ext cx="42840" cy="42840"/>
          </a:xfrm>
          <a:prstGeom prst="rect">
            <a:avLst/>
          </a:prstGeom>
          <a:solidFill>
            <a:schemeClr val="lt1"/>
          </a:solidFill>
          <a:ln w="0">
            <a:noFill/>
          </a:ln>
        </p:spPr>
        <p:style>
          <a:lnRef idx="0"/>
          <a:fillRef idx="0"/>
          <a:effectRef idx="0"/>
          <a:fontRef idx="minor"/>
        </p:style>
        <p:txBody>
          <a:bodyPr lIns="90000" rIns="90000" tIns="21600" bIns="21600" anchor="ctr">
            <a:noAutofit/>
          </a:bodyPr>
          <a:p>
            <a:pPr algn="ctr">
              <a:lnSpc>
                <a:spcPct val="100000"/>
              </a:lnSpc>
              <a:tabLst>
                <a:tab algn="l" pos="0"/>
              </a:tabLst>
            </a:pP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6.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6.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6.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4" name="Google Shape;437;p41"/>
          <p:cNvGrpSpPr/>
          <p:nvPr/>
        </p:nvGrpSpPr>
        <p:grpSpPr>
          <a:xfrm>
            <a:off x="228600" y="3127320"/>
            <a:ext cx="229680" cy="229680"/>
            <a:chOff x="228600" y="3127320"/>
            <a:chExt cx="229680" cy="229680"/>
          </a:xfrm>
        </p:grpSpPr>
        <p:sp>
          <p:nvSpPr>
            <p:cNvPr id="95" name="Google Shape;438;p41"/>
            <p:cNvSpPr/>
            <p:nvPr/>
          </p:nvSpPr>
          <p:spPr>
            <a:xfrm>
              <a:off x="228600" y="3127320"/>
              <a:ext cx="229680" cy="229680"/>
            </a:xfrm>
            <a:prstGeom prst="ellipse">
              <a:avLst/>
            </a:prstGeom>
            <a:noFill/>
            <a:ln w="9525">
              <a:solidFill>
                <a:srgbClr val="f5f5f5"/>
              </a:solidFill>
              <a:round/>
            </a:ln>
          </p:spPr>
          <p:style>
            <a:lnRef idx="0"/>
            <a:fillRef idx="0"/>
            <a:effectRef idx="0"/>
            <a:fontRef idx="minor"/>
          </p:style>
          <p:txBody>
            <a:bodyPr lIns="90000" rIns="90000" tIns="81360" bIns="81360" anchor="ctr">
              <a:noAutofit/>
            </a:bodyPr>
            <a:p>
              <a:pPr algn="ctr">
                <a:lnSpc>
                  <a:spcPct val="100000"/>
                </a:lnSpc>
                <a:tabLst>
                  <a:tab algn="l" pos="0"/>
                </a:tabLst>
              </a:pPr>
              <a:endParaRPr b="0" lang="en-US" sz="1400" spc="-1" strike="noStrike">
                <a:solidFill>
                  <a:srgbClr val="ffffff"/>
                </a:solidFill>
                <a:latin typeface="Arial"/>
              </a:endParaRPr>
            </a:p>
          </p:txBody>
        </p:sp>
        <p:grpSp>
          <p:nvGrpSpPr>
            <p:cNvPr id="96" name="Google Shape;439;p41"/>
            <p:cNvGrpSpPr/>
            <p:nvPr/>
          </p:nvGrpSpPr>
          <p:grpSpPr>
            <a:xfrm>
              <a:off x="286560" y="3224160"/>
              <a:ext cx="119520" cy="61200"/>
              <a:chOff x="286560" y="3224160"/>
              <a:chExt cx="119520" cy="61200"/>
            </a:xfrm>
          </p:grpSpPr>
          <p:cxnSp>
            <p:nvCxnSpPr>
              <p:cNvPr id="97" name="Google Shape;440;p41"/>
              <p:cNvCxnSpPr/>
              <p:nvPr/>
            </p:nvCxnSpPr>
            <p:spPr>
              <a:xfrm>
                <a:off x="286560" y="3224160"/>
                <a:ext cx="61560" cy="61560"/>
              </a:xfrm>
              <a:prstGeom prst="straightConnector1">
                <a:avLst/>
              </a:prstGeom>
              <a:ln w="9525">
                <a:solidFill>
                  <a:srgbClr val="f5f5f5"/>
                </a:solidFill>
                <a:round/>
              </a:ln>
            </p:spPr>
          </p:cxnSp>
          <p:cxnSp>
            <p:nvCxnSpPr>
              <p:cNvPr id="98" name="Google Shape;441;p41"/>
              <p:cNvCxnSpPr/>
              <p:nvPr/>
            </p:nvCxnSpPr>
            <p:spPr>
              <a:xfrm flipH="1">
                <a:off x="344880" y="3224160"/>
                <a:ext cx="61560" cy="61560"/>
              </a:xfrm>
              <a:prstGeom prst="straightConnector1">
                <a:avLst/>
              </a:prstGeom>
              <a:ln w="9525">
                <a:solidFill>
                  <a:srgbClr val="f5f5f5"/>
                </a:solidFill>
                <a:round/>
              </a:ln>
            </p:spPr>
          </p:cxnSp>
        </p:grpSp>
      </p:grpSp>
      <p:sp>
        <p:nvSpPr>
          <p:cNvPr id="99" name="PlaceHolder 1"/>
          <p:cNvSpPr>
            <a:spLocks noGrp="1"/>
          </p:cNvSpPr>
          <p:nvPr>
            <p:ph type="title"/>
          </p:nvPr>
        </p:nvSpPr>
        <p:spPr>
          <a:xfrm>
            <a:off x="228600" y="228600"/>
            <a:ext cx="6655680" cy="1415880"/>
          </a:xfrm>
          <a:prstGeom prst="rect">
            <a:avLst/>
          </a:prstGeom>
          <a:noFill/>
          <a:ln w="0">
            <a:noFill/>
          </a:ln>
        </p:spPr>
        <p:txBody>
          <a:bodyPr lIns="0" rIns="0" tIns="0" bIns="0" anchor="t">
            <a:noAutofit/>
          </a:bodyPr>
          <a:p>
            <a:pPr indent="0">
              <a:lnSpc>
                <a:spcPct val="85000"/>
              </a:lnSpc>
              <a:buNone/>
              <a:tabLst>
                <a:tab algn="l" pos="0"/>
              </a:tabLst>
            </a:pPr>
            <a:r>
              <a:rPr b="0" lang="en" sz="4800" spc="-1" strike="noStrike">
                <a:solidFill>
                  <a:schemeClr val="lt1"/>
                </a:solidFill>
                <a:latin typeface="Urbanist Medium"/>
                <a:ea typeface="Urbanist Medium"/>
              </a:rPr>
              <a:t>Mid Semester Review</a:t>
            </a:r>
            <a:endParaRPr b="0" lang="en-US" sz="4800" spc="-1" strike="noStrike">
              <a:solidFill>
                <a:srgbClr val="ffffff"/>
              </a:solidFill>
              <a:latin typeface="Arial"/>
            </a:endParaRPr>
          </a:p>
        </p:txBody>
      </p:sp>
      <p:sp>
        <p:nvSpPr>
          <p:cNvPr id="100" name="PlaceHolder 2"/>
          <p:cNvSpPr>
            <a:spLocks noGrp="1"/>
          </p:cNvSpPr>
          <p:nvPr>
            <p:ph type="subTitle"/>
          </p:nvPr>
        </p:nvSpPr>
        <p:spPr>
          <a:xfrm>
            <a:off x="228600" y="1738800"/>
            <a:ext cx="4399560" cy="248760"/>
          </a:xfrm>
          <a:prstGeom prst="rect">
            <a:avLst/>
          </a:prstGeom>
          <a:noFill/>
          <a:ln w="0">
            <a:noFill/>
          </a:ln>
          <a:effectLst>
            <a:outerShdw dist="19080" dir="5400000" blurRad="57240" rotWithShape="0">
              <a:srgbClr val="000000">
                <a:alpha val="50000"/>
              </a:srgbClr>
            </a:outerShdw>
          </a:effectLst>
        </p:spPr>
        <p:txBody>
          <a:bodyPr lIns="0" rIns="0" tIns="0" bIns="0" anchor="t">
            <a:noAutofit/>
          </a:bodyPr>
          <a:p>
            <a:pPr indent="0">
              <a:lnSpc>
                <a:spcPct val="85000"/>
              </a:lnSpc>
              <a:buNone/>
              <a:tabLst>
                <a:tab algn="l" pos="0"/>
              </a:tabLst>
            </a:pPr>
            <a:r>
              <a:rPr b="0" lang="en" sz="1200" spc="-1" strike="noStrike">
                <a:solidFill>
                  <a:schemeClr val="lt1"/>
                </a:solidFill>
                <a:latin typeface="Urbanist Medium"/>
                <a:ea typeface="Urbanist Medium"/>
              </a:rPr>
              <a:t>Justin Le</a:t>
            </a:r>
            <a:endParaRPr b="0" lang="en-US" sz="1200" spc="-1" strike="noStrike">
              <a:solidFill>
                <a:srgbClr val="ffffff"/>
              </a:solidFill>
              <a:latin typeface="Arial"/>
            </a:endParaRPr>
          </a:p>
        </p:txBody>
      </p:sp>
      <p:sp>
        <p:nvSpPr>
          <p:cNvPr id="101" name="PlaceHolder 3"/>
          <p:cNvSpPr>
            <a:spLocks noGrp="1"/>
          </p:cNvSpPr>
          <p:nvPr>
            <p:ph type="subTitle"/>
          </p:nvPr>
        </p:nvSpPr>
        <p:spPr>
          <a:xfrm>
            <a:off x="228600" y="3454560"/>
            <a:ext cx="4656240" cy="248760"/>
          </a:xfrm>
          <a:prstGeom prst="rect">
            <a:avLst/>
          </a:prstGeom>
          <a:noFill/>
          <a:ln w="0">
            <a:noFill/>
          </a:ln>
        </p:spPr>
        <p:txBody>
          <a:bodyPr lIns="0" rIns="91440" tIns="0" bIns="91440" anchor="t">
            <a:noAutofit/>
          </a:bodyPr>
          <a:p>
            <a:pPr indent="0">
              <a:lnSpc>
                <a:spcPct val="100000"/>
              </a:lnSpc>
              <a:buNone/>
              <a:tabLst>
                <a:tab algn="l" pos="0"/>
              </a:tabLst>
            </a:pPr>
            <a:r>
              <a:rPr b="1" lang="en" sz="1200" spc="-1" strike="noStrike">
                <a:solidFill>
                  <a:schemeClr val="lt1"/>
                </a:solidFill>
                <a:latin typeface="Urbanist"/>
                <a:ea typeface="Urbanist"/>
              </a:rPr>
              <a:t>SWARM EX COMMs</a:t>
            </a:r>
            <a:endParaRPr b="0" lang="en-US" sz="1200" spc="-1" strike="noStrike">
              <a:solidFill>
                <a:srgbClr val="ffffff"/>
              </a:solidFill>
              <a:latin typeface="Arial"/>
            </a:endParaRPr>
          </a:p>
          <a:p>
            <a:pPr indent="0">
              <a:lnSpc>
                <a:spcPct val="100000"/>
              </a:lnSpc>
              <a:buNone/>
              <a:tabLst>
                <a:tab algn="l" pos="0"/>
              </a:tabLst>
            </a:pPr>
            <a:endParaRPr b="0" lang="en-US" sz="1200" spc="-1" strike="noStrike">
              <a:solidFill>
                <a:srgbClr val="ffffff"/>
              </a:solidFill>
              <a:latin typeface="Arial"/>
            </a:endParaRPr>
          </a:p>
        </p:txBody>
      </p:sp>
      <p:sp>
        <p:nvSpPr>
          <p:cNvPr id="102" name="PlaceHolder 4"/>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indent="0">
              <a:lnSpc>
                <a:spcPct val="100000"/>
              </a:lnSpc>
              <a:buNone/>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03" name="PlaceHolder 5"/>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indent="0" algn="r">
              <a:lnSpc>
                <a:spcPct val="100000"/>
              </a:lnSpc>
              <a:buNone/>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04" name="PlaceHolder 6"/>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00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05" name="Role and goal"/>
          <p:cNvSpPr/>
          <p:nvPr/>
        </p:nvSpPr>
        <p:spPr>
          <a:xfrm>
            <a:off x="228600" y="3767400"/>
            <a:ext cx="5666040" cy="453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Medium"/>
                <a:ea typeface="Urbanist Medium"/>
              </a:rPr>
              <a:t>COMMs lead, working toward SCT and CET for the SWARM-EX Pre-Integration Review (PIR) in early 2027</a:t>
            </a:r>
            <a:endParaRPr b="0" lang="en-US" sz="1100" spc="-1" strike="noStrike">
              <a:solidFill>
                <a:srgbClr val="ffffff"/>
              </a:solidFill>
              <a:latin typeface="Arial"/>
            </a:endParaRPr>
          </a:p>
        </p:txBody>
      </p:sp>
      <p:pic>
        <p:nvPicPr>
          <p:cNvPr id="106" name="" descr=""/>
          <p:cNvPicPr/>
          <p:nvPr/>
        </p:nvPicPr>
        <p:blipFill>
          <a:blip r:embed="rId1"/>
          <a:stretch/>
        </p:blipFill>
        <p:spPr>
          <a:xfrm>
            <a:off x="4572000" y="1120320"/>
            <a:ext cx="2514600" cy="25372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08"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09" name="PlaceHolder 3"/>
          <p:cNvSpPr>
            <a:spLocks noGrp="1"/>
          </p:cNvSpPr>
          <p:nvPr>
            <p:ph type="title"/>
          </p:nvPr>
        </p:nvSpPr>
        <p:spPr>
          <a:xfrm>
            <a:off x="228600" y="263880"/>
            <a:ext cx="673092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Original Plan and Milestones</a:t>
            </a:r>
            <a:endParaRPr b="0" lang="en-US" sz="3400" spc="-1" strike="noStrike">
              <a:solidFill>
                <a:srgbClr val="ffffff"/>
              </a:solidFill>
              <a:latin typeface="Arial"/>
            </a:endParaRPr>
          </a:p>
        </p:txBody>
      </p:sp>
      <p:sp>
        <p:nvSpPr>
          <p:cNvPr id="110"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11" name="PlaceHolder 5"/>
          <p:cNvSpPr>
            <a:spLocks noGrp="1"/>
          </p:cNvSpPr>
          <p:nvPr>
            <p:ph type="title"/>
          </p:nvPr>
        </p:nvSpPr>
        <p:spPr>
          <a:xfrm>
            <a:off x="277200" y="963720"/>
            <a:ext cx="6134760" cy="3531240"/>
          </a:xfrm>
          <a:prstGeom prst="rect">
            <a:avLst/>
          </a:prstGeom>
          <a:noFill/>
          <a:ln w="0">
            <a:noFill/>
          </a:ln>
        </p:spPr>
        <p:txBody>
          <a:bodyPr lIns="0" rIns="91440" tIns="0" bIns="91440" anchor="t">
            <a:noAutofit/>
          </a:bodyPr>
          <a:p>
            <a:pPr marL="457200" indent="-349200">
              <a:lnSpc>
                <a:spcPct val="85000"/>
              </a:lnSpc>
              <a:buClr>
                <a:srgbClr val="deff9a"/>
              </a:buClr>
              <a:buFont typeface="Urbanist Medium"/>
              <a:buChar char="●"/>
            </a:pPr>
            <a:r>
              <a:rPr b="0" lang="en" sz="1900" spc="-1" strike="noStrike">
                <a:solidFill>
                  <a:schemeClr val="dk2"/>
                </a:solidFill>
                <a:latin typeface="Urbanist Medium"/>
                <a:ea typeface="Urbanist Medium"/>
              </a:rPr>
              <a:t>COMMs Lead for the semester</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managing and tracking COMMs work</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monitoring ground station bring-up</a:t>
            </a:r>
            <a:endParaRPr b="0" lang="en-US" sz="1900" spc="-1" strike="noStrike">
              <a:solidFill>
                <a:srgbClr val="ffffff"/>
              </a:solidFill>
              <a:latin typeface="Arial"/>
            </a:endParaRPr>
          </a:p>
          <a:p>
            <a:pPr marL="457200" indent="-349200">
              <a:lnSpc>
                <a:spcPct val="85000"/>
              </a:lnSpc>
              <a:buClr>
                <a:srgbClr val="deff9a"/>
              </a:buClr>
              <a:buFont typeface="Urbanist Medium"/>
              <a:buChar char="●"/>
            </a:pPr>
            <a:r>
              <a:rPr b="0" lang="en" sz="1900" spc="-1" strike="noStrike">
                <a:solidFill>
                  <a:schemeClr val="dk2"/>
                </a:solidFill>
                <a:latin typeface="Urbanist Medium"/>
                <a:ea typeface="Urbanist Medium"/>
              </a:rPr>
              <a:t>Work towards Simulated Comms Test (SCT) 2 with Lithium 2 radio and Software Defined Radio in the loop</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Re-running Minimum Communication Test</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Re-running SCT-1</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Running SCT-2</a:t>
            </a:r>
            <a:endParaRPr b="0" lang="en-US" sz="1900" spc="-1" strike="noStrike">
              <a:solidFill>
                <a:srgbClr val="ffffff"/>
              </a:solidFill>
              <a:latin typeface="Arial"/>
            </a:endParaRPr>
          </a:p>
          <a:p>
            <a:pPr marL="457200" indent="-349200">
              <a:lnSpc>
                <a:spcPct val="85000"/>
              </a:lnSpc>
              <a:buClr>
                <a:srgbClr val="deff9a"/>
              </a:buClr>
              <a:buFont typeface="Urbanist Medium"/>
              <a:buChar char="●"/>
            </a:pPr>
            <a:r>
              <a:rPr b="0" lang="en" sz="1900" spc="-1" strike="noStrike">
                <a:solidFill>
                  <a:schemeClr val="dk2"/>
                </a:solidFill>
                <a:latin typeface="Urbanist Medium"/>
                <a:ea typeface="Urbanist Medium"/>
              </a:rPr>
              <a:t>Setting up Ground Station PC</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implementing 2 machines, one Windows for Hydra, one Ubuntu 16 for GNU Radio</a:t>
            </a:r>
            <a:endParaRPr b="0" lang="en-US" sz="1900" spc="-1" strike="noStrike">
              <a:solidFill>
                <a:srgbClr val="ffffff"/>
              </a:solidFill>
              <a:latin typeface="Arial"/>
            </a:endParaRPr>
          </a:p>
          <a:p>
            <a:pPr lvl="1" marL="914400" indent="-349200">
              <a:lnSpc>
                <a:spcPct val="85000"/>
              </a:lnSpc>
              <a:buClr>
                <a:srgbClr val="deff9a"/>
              </a:buClr>
              <a:buFont typeface="Urbanist"/>
              <a:buChar char="○"/>
            </a:pPr>
            <a:r>
              <a:rPr b="0" lang="en" sz="1900" spc="-1" strike="noStrike">
                <a:solidFill>
                  <a:schemeClr val="dk2"/>
                </a:solidFill>
                <a:latin typeface="Urbanist"/>
                <a:ea typeface="Urbanist"/>
              </a:rPr>
              <a:t>verifying the setup in the Ground Station Chain</a:t>
            </a:r>
            <a:endParaRPr b="0" lang="en-US" sz="1900" spc="-1" strike="noStrike">
              <a:solidFill>
                <a:srgbClr val="ffffff"/>
              </a:solidFill>
              <a:latin typeface="Arial"/>
            </a:endParaRPr>
          </a:p>
        </p:txBody>
      </p:sp>
      <p:sp>
        <p:nvSpPr>
          <p:cNvPr id="112" name="Milestones"/>
          <p:cNvSpPr/>
          <p:nvPr/>
        </p:nvSpPr>
        <p:spPr>
          <a:xfrm>
            <a:off x="6583680" y="896040"/>
            <a:ext cx="2328480" cy="1459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Milestones</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Re-run MCT</a:t>
            </a:r>
            <a:endParaRPr b="0" lang="en-US" sz="11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GS PC test</a:t>
            </a:r>
            <a:endParaRPr b="0" lang="en-US" sz="11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Re-run SCT-1</a:t>
            </a:r>
            <a:endParaRPr b="0" lang="en-US" sz="11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SCT-2</a:t>
            </a:r>
            <a:endParaRPr b="0" lang="en-US" sz="1100" spc="-1" strike="noStrike">
              <a:solidFill>
                <a:srgbClr val="ffffff"/>
              </a:solidFill>
              <a:latin typeface="Arial"/>
            </a:endParaRPr>
          </a:p>
          <a:p>
            <a:pPr>
              <a:lnSpc>
                <a:spcPct val="100000"/>
              </a:lnSpc>
              <a:spcBef>
                <a:spcPts val="201"/>
              </a:spcBef>
              <a:tabLst>
                <a:tab algn="l" pos="0"/>
              </a:tabLst>
            </a:pPr>
            <a:r>
              <a:rPr b="0" lang="en-US" sz="1100" spc="-1" strike="noStrike">
                <a:solidFill>
                  <a:schemeClr val="dk2"/>
                </a:solidFill>
                <a:latin typeface="Urbanist"/>
                <a:ea typeface="Urbanist"/>
              </a:rPr>
              <a:t>Stretch: SCT-3 and CET</a:t>
            </a:r>
            <a:endParaRPr b="0" lang="en-US" sz="1100" spc="-1" strike="noStrike">
              <a:solidFill>
                <a:srgbClr val="ffffff"/>
              </a:solidFill>
              <a:latin typeface="Arial"/>
            </a:endParaRPr>
          </a:p>
        </p:txBody>
      </p:sp>
      <p:sp>
        <p:nvSpPr>
          <p:cNvPr id="113" name="Milestone dates"/>
          <p:cNvSpPr/>
          <p:nvPr/>
        </p:nvSpPr>
        <p:spPr>
          <a:xfrm>
            <a:off x="6583680" y="896040"/>
            <a:ext cx="2328480" cy="1459800"/>
          </a:xfrm>
          <a:prstGeom prst="rect">
            <a:avLst/>
          </a:prstGeom>
          <a:noFill/>
          <a:ln w="0">
            <a:noFill/>
          </a:ln>
        </p:spPr>
        <p:style>
          <a:lnRef idx="0"/>
          <a:fillRef idx="0"/>
          <a:effectRef idx="0"/>
          <a:fontRef idx="minor"/>
        </p:style>
        <p:txBody>
          <a:bodyPr lIns="0" rIns="0" tIns="0" bIns="0" anchor="t">
            <a:noAutofit/>
          </a:bodyPr>
          <a:p>
            <a:pPr algn="r">
              <a:lnSpc>
                <a:spcPct val="100000"/>
              </a:lnSpc>
              <a:spcAft>
                <a:spcPts val="400"/>
              </a:spcAft>
              <a:tabLst>
                <a:tab algn="l" pos="0"/>
              </a:tabLst>
            </a:pPr>
            <a:r>
              <a:rPr b="0" lang="en-US" sz="1300" spc="-1" strike="noStrike">
                <a:solidFill>
                  <a:schemeClr val="dk2"/>
                </a:solidFill>
                <a:latin typeface="Urbanist SemiBold"/>
                <a:ea typeface="Urbanist SemiBold"/>
              </a:rPr>
              <a:t> </a:t>
            </a:r>
            <a:endParaRPr b="0" lang="en-US" sz="1300" spc="-1" strike="noStrike">
              <a:solidFill>
                <a:srgbClr val="ffffff"/>
              </a:solidFill>
              <a:latin typeface="Arial"/>
            </a:endParaRPr>
          </a:p>
          <a:p>
            <a:pPr algn="r">
              <a:lnSpc>
                <a:spcPct val="100000"/>
              </a:lnSpc>
              <a:spcAft>
                <a:spcPts val="400"/>
              </a:spcAft>
              <a:tabLst>
                <a:tab algn="l" pos="0"/>
              </a:tabLst>
            </a:pPr>
            <a:r>
              <a:rPr b="0" lang="en-US" sz="1100" spc="-1" strike="noStrike">
                <a:solidFill>
                  <a:schemeClr val="dk2"/>
                </a:solidFill>
                <a:latin typeface="Urbanist"/>
                <a:ea typeface="Urbanist"/>
              </a:rPr>
              <a:t>9/21</a:t>
            </a:r>
            <a:endParaRPr b="0" lang="en-US" sz="1100" spc="-1" strike="noStrike">
              <a:solidFill>
                <a:srgbClr val="ffffff"/>
              </a:solidFill>
              <a:latin typeface="Arial"/>
            </a:endParaRPr>
          </a:p>
          <a:p>
            <a:pPr algn="r">
              <a:lnSpc>
                <a:spcPct val="100000"/>
              </a:lnSpc>
              <a:spcAft>
                <a:spcPts val="400"/>
              </a:spcAft>
              <a:tabLst>
                <a:tab algn="l" pos="0"/>
              </a:tabLst>
            </a:pPr>
            <a:r>
              <a:rPr b="0" lang="en-US" sz="1100" spc="-1" strike="noStrike">
                <a:solidFill>
                  <a:schemeClr val="dk2"/>
                </a:solidFill>
                <a:latin typeface="Urbanist"/>
                <a:ea typeface="Urbanist"/>
              </a:rPr>
              <a:t>9/23</a:t>
            </a:r>
            <a:endParaRPr b="0" lang="en-US" sz="1100" spc="-1" strike="noStrike">
              <a:solidFill>
                <a:srgbClr val="ffffff"/>
              </a:solidFill>
              <a:latin typeface="Arial"/>
            </a:endParaRPr>
          </a:p>
          <a:p>
            <a:pPr algn="r">
              <a:lnSpc>
                <a:spcPct val="100000"/>
              </a:lnSpc>
              <a:spcAft>
                <a:spcPts val="400"/>
              </a:spcAft>
              <a:tabLst>
                <a:tab algn="l" pos="0"/>
              </a:tabLst>
            </a:pPr>
            <a:r>
              <a:rPr b="0" lang="en-US" sz="1100" spc="-1" strike="noStrike">
                <a:solidFill>
                  <a:schemeClr val="dk2"/>
                </a:solidFill>
                <a:latin typeface="Urbanist"/>
                <a:ea typeface="Urbanist"/>
              </a:rPr>
              <a:t>9/30</a:t>
            </a:r>
            <a:endParaRPr b="0" lang="en-US" sz="1100" spc="-1" strike="noStrike">
              <a:solidFill>
                <a:srgbClr val="ffffff"/>
              </a:solidFill>
              <a:latin typeface="Arial"/>
            </a:endParaRPr>
          </a:p>
          <a:p>
            <a:pPr algn="r">
              <a:lnSpc>
                <a:spcPct val="100000"/>
              </a:lnSpc>
              <a:spcAft>
                <a:spcPts val="400"/>
              </a:spcAft>
              <a:tabLst>
                <a:tab algn="l" pos="0"/>
              </a:tabLst>
            </a:pPr>
            <a:r>
              <a:rPr b="0" lang="en-US" sz="1100" spc="-1" strike="noStrike">
                <a:solidFill>
                  <a:schemeClr val="dk2"/>
                </a:solidFill>
                <a:latin typeface="Urbanist"/>
                <a:ea typeface="Urbanist"/>
              </a:rPr>
              <a:t>10/31</a:t>
            </a:r>
            <a:endParaRPr b="0" lang="en-US" sz="1100" spc="-1" strike="noStrike">
              <a:solidFill>
                <a:srgbClr val="ffffff"/>
              </a:solidFill>
              <a:latin typeface="Arial"/>
            </a:endParaRPr>
          </a:p>
        </p:txBody>
      </p:sp>
      <p:sp>
        <p:nvSpPr>
          <p:cNvPr id="114" name="Personal goals"/>
          <p:cNvSpPr/>
          <p:nvPr/>
        </p:nvSpPr>
        <p:spPr>
          <a:xfrm>
            <a:off x="6583680" y="2496240"/>
            <a:ext cx="2328480" cy="199944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Personal goals</a:t>
            </a:r>
            <a:endParaRPr b="0" lang="en-US" sz="13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Develop in Hydra</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Understand the packet chain end to end</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Embedded debugging skills</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Scope and track team work</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16"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17"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How the tests build on each other</a:t>
            </a:r>
            <a:endParaRPr b="0" lang="en-US" sz="3400" spc="-1" strike="noStrike">
              <a:solidFill>
                <a:srgbClr val="ffffff"/>
              </a:solidFill>
              <a:latin typeface="Arial"/>
            </a:endParaRPr>
          </a:p>
        </p:txBody>
      </p:sp>
      <p:sp>
        <p:nvSpPr>
          <p:cNvPr id="118"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19" name="Tier note"/>
          <p:cNvSpPr/>
          <p:nvPr/>
        </p:nvSpPr>
        <p:spPr>
          <a:xfrm>
            <a:off x="228600" y="3429000"/>
            <a:ext cx="8684280" cy="27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Each test adds to the one before it, working toward CET and DITL. The next five slides show each test setup.</a:t>
            </a:r>
            <a:endParaRPr b="0" lang="en-US" sz="1100" spc="-1" strike="noStrike">
              <a:solidFill>
                <a:srgbClr val="ffffff"/>
              </a:solidFill>
              <a:latin typeface="Arial"/>
            </a:endParaRPr>
          </a:p>
        </p:txBody>
      </p:sp>
      <p:sp>
        <p:nvSpPr>
          <p:cNvPr id="120" name="MCT"/>
          <p:cNvSpPr/>
          <p:nvPr/>
        </p:nvSpPr>
        <p:spPr>
          <a:xfrm>
            <a:off x="228600" y="1600200"/>
            <a:ext cx="1471320" cy="18262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2000" spc="-1" strike="noStrike">
                <a:solidFill>
                  <a:schemeClr val="dk2"/>
                </a:solidFill>
                <a:latin typeface="Urbanist SemiBold"/>
                <a:ea typeface="Urbanist SemiBold"/>
              </a:rPr>
              <a:t>MCT</a:t>
            </a:r>
            <a:endParaRPr b="0" lang="en-US" sz="2000" spc="-1" strike="noStrike">
              <a:solidFill>
                <a:srgbClr val="ffffff"/>
              </a:solidFill>
              <a:latin typeface="Arial"/>
            </a:endParaRPr>
          </a:p>
          <a:p>
            <a:pPr>
              <a:lnSpc>
                <a:spcPct val="100000"/>
              </a:lnSpc>
              <a:tabLst>
                <a:tab algn="l" pos="0"/>
              </a:tabLst>
            </a:pPr>
            <a:r>
              <a:rPr b="0" lang="en-US" sz="1400" spc="-1" strike="noStrike">
                <a:solidFill>
                  <a:schemeClr val="dk2"/>
                </a:solidFill>
                <a:latin typeface="Urbanist"/>
                <a:ea typeface="Urbanist"/>
              </a:rPr>
              <a:t>Hydra → CDH →</a:t>
            </a:r>
            <a:br>
              <a:rPr sz="1100"/>
            </a:br>
            <a:r>
              <a:rPr b="0" lang="en-US" sz="1400" spc="-1" strike="noStrike">
                <a:solidFill>
                  <a:schemeClr val="dk2"/>
                </a:solidFill>
                <a:latin typeface="Urbanist"/>
                <a:ea typeface="Urbanist"/>
              </a:rPr>
              <a:t>Li-2 over UART</a:t>
            </a:r>
            <a:endParaRPr b="0" lang="en-US" sz="1400" spc="-1" strike="noStrike">
              <a:solidFill>
                <a:srgbClr val="ffffff"/>
              </a:solidFill>
              <a:latin typeface="Arial"/>
            </a:endParaRPr>
          </a:p>
        </p:txBody>
      </p:sp>
      <p:cxnSp>
        <p:nvCxnSpPr>
          <p:cNvPr id="121" name="Arrow 1"/>
          <p:cNvCxnSpPr/>
          <p:nvPr/>
        </p:nvCxnSpPr>
        <p:spPr>
          <a:xfrm>
            <a:off x="1748160" y="1773720"/>
            <a:ext cx="240120" cy="2520"/>
          </a:xfrm>
          <a:prstGeom prst="straightConnector1">
            <a:avLst/>
          </a:prstGeom>
          <a:ln w="15875">
            <a:solidFill>
              <a:srgbClr val="f5f5f5"/>
            </a:solidFill>
            <a:round/>
            <a:tailEnd len="med" type="triangle" w="med"/>
          </a:ln>
        </p:spPr>
      </p:cxnSp>
      <p:sp>
        <p:nvSpPr>
          <p:cNvPr id="122" name="SCT-1"/>
          <p:cNvSpPr/>
          <p:nvPr/>
        </p:nvSpPr>
        <p:spPr>
          <a:xfrm>
            <a:off x="2031840" y="1600200"/>
            <a:ext cx="1471320" cy="18262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2000" spc="-1" strike="noStrike">
                <a:solidFill>
                  <a:schemeClr val="dk2"/>
                </a:solidFill>
                <a:latin typeface="Urbanist SemiBold"/>
                <a:ea typeface="Urbanist SemiBold"/>
              </a:rPr>
              <a:t>SCT-1</a:t>
            </a:r>
            <a:endParaRPr b="0" lang="en-US" sz="2000" spc="-1" strike="noStrike">
              <a:solidFill>
                <a:srgbClr val="ffffff"/>
              </a:solidFill>
              <a:latin typeface="Arial"/>
            </a:endParaRPr>
          </a:p>
          <a:p>
            <a:pPr>
              <a:lnSpc>
                <a:spcPct val="100000"/>
              </a:lnSpc>
              <a:tabLst>
                <a:tab algn="l" pos="0"/>
              </a:tabLst>
            </a:pPr>
            <a:r>
              <a:rPr b="0" lang="en-US" sz="1400" spc="-1" strike="noStrike">
                <a:solidFill>
                  <a:schemeClr val="dk2"/>
                </a:solidFill>
                <a:latin typeface="Urbanist"/>
                <a:ea typeface="Urbanist"/>
              </a:rPr>
              <a:t>CDH ↔ Hydra hardwired</a:t>
            </a:r>
            <a:endParaRPr b="0" lang="en-US" sz="1400" spc="-1" strike="noStrike">
              <a:solidFill>
                <a:srgbClr val="ffffff"/>
              </a:solidFill>
              <a:latin typeface="Arial"/>
            </a:endParaRPr>
          </a:p>
        </p:txBody>
      </p:sp>
      <p:cxnSp>
        <p:nvCxnSpPr>
          <p:cNvPr id="123" name="Arrow 2"/>
          <p:cNvCxnSpPr/>
          <p:nvPr/>
        </p:nvCxnSpPr>
        <p:spPr>
          <a:xfrm>
            <a:off x="3551400" y="1773720"/>
            <a:ext cx="240120" cy="2520"/>
          </a:xfrm>
          <a:prstGeom prst="straightConnector1">
            <a:avLst/>
          </a:prstGeom>
          <a:ln w="15875">
            <a:solidFill>
              <a:srgbClr val="f5f5f5"/>
            </a:solidFill>
            <a:round/>
            <a:tailEnd len="med" type="triangle" w="med"/>
          </a:ln>
        </p:spPr>
      </p:cxnSp>
      <p:sp>
        <p:nvSpPr>
          <p:cNvPr id="124" name="SCT-2"/>
          <p:cNvSpPr/>
          <p:nvPr/>
        </p:nvSpPr>
        <p:spPr>
          <a:xfrm>
            <a:off x="3835080" y="1600200"/>
            <a:ext cx="1471320" cy="18262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2000" spc="-1" strike="noStrike">
                <a:solidFill>
                  <a:schemeClr val="dk2"/>
                </a:solidFill>
                <a:latin typeface="Urbanist SemiBold"/>
                <a:ea typeface="Urbanist SemiBold"/>
              </a:rPr>
              <a:t>SCT-2</a:t>
            </a:r>
            <a:endParaRPr b="0" lang="en-US" sz="2000" spc="-1" strike="noStrike">
              <a:solidFill>
                <a:srgbClr val="ffffff"/>
              </a:solidFill>
              <a:latin typeface="Arial"/>
            </a:endParaRPr>
          </a:p>
          <a:p>
            <a:pPr>
              <a:lnSpc>
                <a:spcPct val="100000"/>
              </a:lnSpc>
              <a:tabLst>
                <a:tab algn="l" pos="0"/>
              </a:tabLst>
            </a:pPr>
            <a:r>
              <a:rPr b="0" lang="en-US" sz="1400" spc="-1" strike="noStrike">
                <a:solidFill>
                  <a:schemeClr val="dk2"/>
                </a:solidFill>
                <a:latin typeface="Urbanist"/>
                <a:ea typeface="Urbanist"/>
              </a:rPr>
              <a:t>Adds the Li-2 and SDR, decoded through GNU Radio into Hydra</a:t>
            </a:r>
            <a:endParaRPr b="0" lang="en-US" sz="1400" spc="-1" strike="noStrike">
              <a:solidFill>
                <a:srgbClr val="ffffff"/>
              </a:solidFill>
              <a:latin typeface="Arial"/>
            </a:endParaRPr>
          </a:p>
        </p:txBody>
      </p:sp>
      <p:cxnSp>
        <p:nvCxnSpPr>
          <p:cNvPr id="125" name="Arrow 3"/>
          <p:cNvCxnSpPr/>
          <p:nvPr/>
        </p:nvCxnSpPr>
        <p:spPr>
          <a:xfrm>
            <a:off x="5354640" y="1773720"/>
            <a:ext cx="240120" cy="2520"/>
          </a:xfrm>
          <a:prstGeom prst="straightConnector1">
            <a:avLst/>
          </a:prstGeom>
          <a:ln w="15875">
            <a:solidFill>
              <a:srgbClr val="f5f5f5"/>
            </a:solidFill>
            <a:round/>
            <a:tailEnd len="med" type="triangle" w="med"/>
          </a:ln>
        </p:spPr>
      </p:cxnSp>
      <p:sp>
        <p:nvSpPr>
          <p:cNvPr id="126" name="SCT-3"/>
          <p:cNvSpPr/>
          <p:nvPr/>
        </p:nvSpPr>
        <p:spPr>
          <a:xfrm>
            <a:off x="5638320" y="1600200"/>
            <a:ext cx="1471320" cy="18262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2000" spc="-1" strike="noStrike">
                <a:solidFill>
                  <a:schemeClr val="dk2"/>
                </a:solidFill>
                <a:latin typeface="Urbanist SemiBold"/>
                <a:ea typeface="Urbanist SemiBold"/>
              </a:rPr>
              <a:t>SCT-3</a:t>
            </a:r>
            <a:endParaRPr b="0" lang="en-US" sz="2000" spc="-1" strike="noStrike">
              <a:solidFill>
                <a:srgbClr val="ffffff"/>
              </a:solidFill>
              <a:latin typeface="Arial"/>
            </a:endParaRPr>
          </a:p>
          <a:p>
            <a:pPr>
              <a:lnSpc>
                <a:spcPct val="100000"/>
              </a:lnSpc>
              <a:tabLst>
                <a:tab algn="l" pos="0"/>
              </a:tabLst>
            </a:pPr>
            <a:r>
              <a:rPr b="0" lang="en-US" sz="1400" spc="-1" strike="noStrike">
                <a:solidFill>
                  <a:schemeClr val="dk2"/>
                </a:solidFill>
                <a:latin typeface="Urbanist"/>
                <a:ea typeface="Urbanist"/>
              </a:rPr>
              <a:t>Adds the antennas, over a short range</a:t>
            </a:r>
            <a:endParaRPr b="0" lang="en-US" sz="1400" spc="-1" strike="noStrike">
              <a:solidFill>
                <a:srgbClr val="ffffff"/>
              </a:solidFill>
              <a:latin typeface="Arial"/>
            </a:endParaRPr>
          </a:p>
        </p:txBody>
      </p:sp>
      <p:cxnSp>
        <p:nvCxnSpPr>
          <p:cNvPr id="127" name="Arrow 4"/>
          <p:cNvCxnSpPr/>
          <p:nvPr/>
        </p:nvCxnSpPr>
        <p:spPr>
          <a:xfrm>
            <a:off x="7157880" y="1773720"/>
            <a:ext cx="240120" cy="2520"/>
          </a:xfrm>
          <a:prstGeom prst="straightConnector1">
            <a:avLst/>
          </a:prstGeom>
          <a:ln w="15875">
            <a:solidFill>
              <a:srgbClr val="f5f5f5"/>
            </a:solidFill>
            <a:round/>
            <a:tailEnd len="med" type="triangle" w="med"/>
          </a:ln>
        </p:spPr>
      </p:cxnSp>
      <p:sp>
        <p:nvSpPr>
          <p:cNvPr id="128" name="SCT-4"/>
          <p:cNvSpPr/>
          <p:nvPr/>
        </p:nvSpPr>
        <p:spPr>
          <a:xfrm>
            <a:off x="7441560" y="1600200"/>
            <a:ext cx="1471320" cy="18262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2000" spc="-1" strike="noStrike">
                <a:solidFill>
                  <a:schemeClr val="dk2"/>
                </a:solidFill>
                <a:latin typeface="Urbanist SemiBold"/>
                <a:ea typeface="Urbanist SemiBold"/>
              </a:rPr>
              <a:t>SCT-4</a:t>
            </a:r>
            <a:endParaRPr b="0" lang="en-US" sz="2000" spc="-1" strike="noStrike">
              <a:solidFill>
                <a:srgbClr val="ffffff"/>
              </a:solidFill>
              <a:latin typeface="Arial"/>
            </a:endParaRPr>
          </a:p>
          <a:p>
            <a:pPr>
              <a:lnSpc>
                <a:spcPct val="100000"/>
              </a:lnSpc>
              <a:tabLst>
                <a:tab algn="l" pos="0"/>
              </a:tabLst>
            </a:pPr>
            <a:r>
              <a:rPr b="0" lang="en-US" sz="1400" spc="-1" strike="noStrike">
                <a:solidFill>
                  <a:schemeClr val="dk2"/>
                </a:solidFill>
                <a:latin typeface="Urbanist"/>
                <a:ea typeface="Urbanist"/>
              </a:rPr>
              <a:t>Same setup, over a long range</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30"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31"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MCT: Hydra → CDH → Li-2 over UART</a:t>
            </a:r>
            <a:endParaRPr b="0" lang="en-US" sz="3400" spc="-1" strike="noStrike">
              <a:solidFill>
                <a:srgbClr val="ffffff"/>
              </a:solidFill>
              <a:latin typeface="Arial"/>
            </a:endParaRPr>
          </a:p>
        </p:txBody>
      </p:sp>
      <p:sp>
        <p:nvSpPr>
          <p:cNvPr id="132"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33" name="MCT purpose"/>
          <p:cNvSpPr/>
          <p:nvPr/>
        </p:nvSpPr>
        <p:spPr>
          <a:xfrm>
            <a:off x="228600" y="896040"/>
            <a:ext cx="868428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Verifies commands from Hydra reach the Li-2 through CDH and are acknowledged. A logic analyzer on the UART lines checks the no-op, transmit and reset commands.</a:t>
            </a:r>
            <a:endParaRPr b="0" lang="en-US" sz="1100" spc="-1" strike="noStrike">
              <a:solidFill>
                <a:srgbClr val="ffffff"/>
              </a:solidFill>
              <a:latin typeface="Arial"/>
            </a:endParaRPr>
          </a:p>
        </p:txBody>
      </p:sp>
      <p:pic>
        <p:nvPicPr>
          <p:cNvPr id="134" name="MCT block diagram" descr="image.png"/>
          <p:cNvPicPr/>
          <p:nvPr/>
        </p:nvPicPr>
        <p:blipFill>
          <a:blip r:embed="rId1"/>
          <a:stretch/>
        </p:blipFill>
        <p:spPr>
          <a:xfrm>
            <a:off x="694080" y="1600200"/>
            <a:ext cx="7753680" cy="28782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36"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37"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SCT-1: Hardwired CDH and Hydra</a:t>
            </a:r>
            <a:endParaRPr b="0" lang="en-US" sz="3400" spc="-1" strike="noStrike">
              <a:solidFill>
                <a:srgbClr val="ffffff"/>
              </a:solidFill>
              <a:latin typeface="Arial"/>
            </a:endParaRPr>
          </a:p>
        </p:txBody>
      </p:sp>
      <p:sp>
        <p:nvSpPr>
          <p:cNvPr id="138"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pic>
        <p:nvPicPr>
          <p:cNvPr id="139" name="SCT-1 block diagram" descr=""/>
          <p:cNvPicPr/>
          <p:nvPr/>
        </p:nvPicPr>
        <p:blipFill>
          <a:blip r:embed="rId1"/>
          <a:stretch/>
        </p:blipFill>
        <p:spPr>
          <a:xfrm>
            <a:off x="676080" y="1600200"/>
            <a:ext cx="7788960" cy="2877840"/>
          </a:xfrm>
          <a:prstGeom prst="rect">
            <a:avLst/>
          </a:prstGeom>
          <a:ln w="0">
            <a:noFill/>
          </a:ln>
        </p:spPr>
      </p:pic>
      <p:sp>
        <p:nvSpPr>
          <p:cNvPr id="140" name="SCT-1 purpose"/>
          <p:cNvSpPr/>
          <p:nvPr/>
        </p:nvSpPr>
        <p:spPr>
          <a:xfrm>
            <a:off x="228600" y="896040"/>
            <a:ext cx="868428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Verifies CDH reads Hydra’s command bytes and Hydra reads CDH’s telemetry bytes, with no wireless link. Hydra requests a housekeeping packet, the CDH terminal confirms the command arrived, and the packet shows up in Hydra telemetry.</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42"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43"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SCT-2: Full chain, antenna out of the loop</a:t>
            </a:r>
            <a:endParaRPr b="0" lang="en-US" sz="3400" spc="-1" strike="noStrike">
              <a:solidFill>
                <a:srgbClr val="ffffff"/>
              </a:solidFill>
              <a:latin typeface="Arial"/>
            </a:endParaRPr>
          </a:p>
        </p:txBody>
      </p:sp>
      <p:sp>
        <p:nvSpPr>
          <p:cNvPr id="144"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pic>
        <p:nvPicPr>
          <p:cNvPr id="145" name="SCT-2 block diagram" descr=""/>
          <p:cNvPicPr/>
          <p:nvPr/>
        </p:nvPicPr>
        <p:blipFill>
          <a:blip r:embed="rId1"/>
          <a:stretch/>
        </p:blipFill>
        <p:spPr>
          <a:xfrm>
            <a:off x="228600" y="1804680"/>
            <a:ext cx="8684280" cy="2468880"/>
          </a:xfrm>
          <a:prstGeom prst="rect">
            <a:avLst/>
          </a:prstGeom>
          <a:ln w="0">
            <a:noFill/>
          </a:ln>
        </p:spPr>
      </p:pic>
      <p:sp>
        <p:nvSpPr>
          <p:cNvPr id="146" name="SCT-2 purpose"/>
          <p:cNvSpPr/>
          <p:nvPr/>
        </p:nvSpPr>
        <p:spPr>
          <a:xfrm>
            <a:off x="228600" y="896040"/>
            <a:ext cx="868428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Verifies a message can go both ways through Hydra, GNU Radio, the SDR, the Li-2 and CDH. The SDR and Li-2 are connected by a hardline instead of antennas.</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48"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49"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SCT-3: Antennas in the loop, short range</a:t>
            </a:r>
            <a:endParaRPr b="0" lang="en-US" sz="3400" spc="-1" strike="noStrike">
              <a:solidFill>
                <a:srgbClr val="ffffff"/>
              </a:solidFill>
              <a:latin typeface="Arial"/>
            </a:endParaRPr>
          </a:p>
        </p:txBody>
      </p:sp>
      <p:sp>
        <p:nvSpPr>
          <p:cNvPr id="150"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pic>
        <p:nvPicPr>
          <p:cNvPr id="151" name="SCT-3 block diagram" descr=""/>
          <p:cNvPicPr/>
          <p:nvPr/>
        </p:nvPicPr>
        <p:blipFill>
          <a:blip r:embed="rId1"/>
          <a:stretch/>
        </p:blipFill>
        <p:spPr>
          <a:xfrm>
            <a:off x="228600" y="1804680"/>
            <a:ext cx="8684280" cy="2468880"/>
          </a:xfrm>
          <a:prstGeom prst="rect">
            <a:avLst/>
          </a:prstGeom>
          <a:ln w="0">
            <a:noFill/>
          </a:ln>
        </p:spPr>
      </p:pic>
      <p:sp>
        <p:nvSpPr>
          <p:cNvPr id="152" name="SCT-3 purpose"/>
          <p:cNvSpPr/>
          <p:nvPr/>
        </p:nvSpPr>
        <p:spPr>
          <a:xfrm>
            <a:off x="228600" y="896040"/>
            <a:ext cx="868428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Verifies antenna and ground station performance and closing the link. The flatsat goes to the parking garage across from the DLC, and the SWARM-EX Hydra and GNU Radio instances run in the COSGC Ground Station.</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54"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55" name="PlaceHolder 3"/>
          <p:cNvSpPr>
            <a:spLocks noGrp="1"/>
          </p:cNvSpPr>
          <p:nvPr>
            <p:ph type="title"/>
          </p:nvPr>
        </p:nvSpPr>
        <p:spPr>
          <a:xfrm>
            <a:off x="228600" y="263880"/>
            <a:ext cx="868356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SCT-4: Antennas in the loop, long range</a:t>
            </a:r>
            <a:endParaRPr b="0" lang="en-US" sz="3400" spc="-1" strike="noStrike">
              <a:solidFill>
                <a:srgbClr val="ffffff"/>
              </a:solidFill>
              <a:latin typeface="Arial"/>
            </a:endParaRPr>
          </a:p>
        </p:txBody>
      </p:sp>
      <p:sp>
        <p:nvSpPr>
          <p:cNvPr id="156"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pic>
        <p:nvPicPr>
          <p:cNvPr id="157" name="SCT-4 block diagram" descr=""/>
          <p:cNvPicPr/>
          <p:nvPr/>
        </p:nvPicPr>
        <p:blipFill>
          <a:blip r:embed="rId1"/>
          <a:stretch/>
        </p:blipFill>
        <p:spPr>
          <a:xfrm>
            <a:off x="228600" y="1804680"/>
            <a:ext cx="8684280" cy="2468880"/>
          </a:xfrm>
          <a:prstGeom prst="rect">
            <a:avLst/>
          </a:prstGeom>
          <a:ln w="0">
            <a:noFill/>
          </a:ln>
        </p:spPr>
      </p:pic>
      <p:sp>
        <p:nvSpPr>
          <p:cNvPr id="158" name="SCT-4 purpose"/>
          <p:cNvSpPr/>
          <p:nvPr/>
        </p:nvSpPr>
        <p:spPr>
          <a:xfrm>
            <a:off x="228600" y="896040"/>
            <a:ext cx="8684280" cy="54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00" spc="-1" strike="noStrike">
                <a:solidFill>
                  <a:schemeClr val="dk2"/>
                </a:solidFill>
                <a:latin typeface="Urbanist"/>
                <a:ea typeface="Urbanist"/>
              </a:rPr>
              <a:t>Same setup as SCT-3. Only the distance between the flatsat and the ground station changes, to verify the link closes over a longer range.</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60"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61" name="PlaceHolder 3"/>
          <p:cNvSpPr>
            <a:spLocks noGrp="1"/>
          </p:cNvSpPr>
          <p:nvPr>
            <p:ph type="title"/>
          </p:nvPr>
        </p:nvSpPr>
        <p:spPr>
          <a:xfrm>
            <a:off x="228600" y="263880"/>
            <a:ext cx="505584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Changes to the plan</a:t>
            </a:r>
            <a:endParaRPr b="0" lang="en-US" sz="3400" spc="-1" strike="noStrike">
              <a:solidFill>
                <a:srgbClr val="ffffff"/>
              </a:solidFill>
              <a:latin typeface="Arial"/>
            </a:endParaRPr>
          </a:p>
        </p:txBody>
      </p:sp>
      <p:sp>
        <p:nvSpPr>
          <p:cNvPr id="162"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63" name="Start of semester"/>
          <p:cNvSpPr/>
          <p:nvPr/>
        </p:nvSpPr>
        <p:spPr>
          <a:xfrm>
            <a:off x="228600" y="896040"/>
            <a:ext cx="4134600" cy="15969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400" spc="-1" strike="noStrike">
                <a:solidFill>
                  <a:schemeClr val="dk2"/>
                </a:solidFill>
                <a:latin typeface="Urbanist SemiBold"/>
                <a:ea typeface="Urbanist SemiBold"/>
              </a:rPr>
              <a:t>Start of semester</a:t>
            </a:r>
            <a:endParaRPr b="0" lang="en-US" sz="14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I was developing the GS PC architecture that will be implemented</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Rick's 2-PC proposal</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The 443 white tower running Hydra, plus GS laptop running GNU Radio</a:t>
            </a:r>
            <a:endParaRPr b="0" lang="en-US" sz="1100" spc="-1" strike="noStrike">
              <a:solidFill>
                <a:srgbClr val="ffffff"/>
              </a:solidFill>
              <a:latin typeface="Arial"/>
            </a:endParaRPr>
          </a:p>
        </p:txBody>
      </p:sp>
      <p:sp>
        <p:nvSpPr>
          <p:cNvPr id="164" name="As of 10/5"/>
          <p:cNvSpPr/>
          <p:nvPr/>
        </p:nvSpPr>
        <p:spPr>
          <a:xfrm>
            <a:off x="4777920" y="896040"/>
            <a:ext cx="4134600" cy="15969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400" spc="-1" strike="noStrike">
                <a:solidFill>
                  <a:schemeClr val="dk2"/>
                </a:solidFill>
                <a:latin typeface="Urbanist SemiBold"/>
                <a:ea typeface="Urbanist SemiBold"/>
              </a:rPr>
              <a:t>Currently</a:t>
            </a:r>
            <a:endParaRPr b="0" lang="en-US" sz="14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Scott Palo and Nicholas Rainville lead GS PC development and bring-up</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My role is verifying it in the comms chain once it works</a:t>
            </a:r>
            <a:endParaRPr b="0" lang="en-US" sz="1100" spc="-1" strike="noStrike">
              <a:solidFill>
                <a:srgbClr val="ffffff"/>
              </a:solidFill>
              <a:latin typeface="Arial"/>
            </a:endParaRPr>
          </a:p>
          <a:p>
            <a:pPr marL="152280" indent="-152280">
              <a:lnSpc>
                <a:spcPct val="100000"/>
              </a:lnSpc>
              <a:spcAft>
                <a:spcPts val="400"/>
              </a:spcAft>
              <a:buClr>
                <a:srgbClr val="deff9a"/>
              </a:buClr>
              <a:buFont typeface="Arial"/>
              <a:buChar char="•"/>
              <a:tabLst>
                <a:tab algn="l" pos="0"/>
              </a:tabLst>
            </a:pPr>
            <a:r>
              <a:rPr b="0" lang="en-US" sz="1100" spc="-1" strike="noStrike">
                <a:solidFill>
                  <a:schemeClr val="dk2"/>
                </a:solidFill>
                <a:latin typeface="Urbanist"/>
                <a:ea typeface="Urbanist"/>
              </a:rPr>
              <a:t>Blocked on development and no ground station licensing for a while</a:t>
            </a:r>
            <a:endParaRPr b="0" lang="en-US" sz="1100" spc="-1" strike="noStrike">
              <a:solidFill>
                <a:srgbClr val="ffffff"/>
              </a:solidFill>
              <a:latin typeface="Arial"/>
            </a:endParaRPr>
          </a:p>
        </p:txBody>
      </p:sp>
      <p:pic>
        <p:nvPicPr>
          <p:cNvPr id="165" name="" descr=""/>
          <p:cNvPicPr/>
          <p:nvPr/>
        </p:nvPicPr>
        <p:blipFill>
          <a:blip r:embed="rId1"/>
          <a:stretch/>
        </p:blipFill>
        <p:spPr>
          <a:xfrm>
            <a:off x="0" y="2286000"/>
            <a:ext cx="9141840" cy="22705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67"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68" name="PlaceHolder 3"/>
          <p:cNvSpPr>
            <a:spLocks noGrp="1"/>
          </p:cNvSpPr>
          <p:nvPr>
            <p:ph type="title"/>
          </p:nvPr>
        </p:nvSpPr>
        <p:spPr>
          <a:xfrm>
            <a:off x="228600" y="263880"/>
            <a:ext cx="764100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Minimum Communications Test</a:t>
            </a:r>
            <a:endParaRPr b="0" lang="en-US" sz="3400" spc="-1" strike="noStrike">
              <a:solidFill>
                <a:srgbClr val="ffffff"/>
              </a:solidFill>
              <a:latin typeface="Arial"/>
            </a:endParaRPr>
          </a:p>
        </p:txBody>
      </p:sp>
      <p:sp>
        <p:nvSpPr>
          <p:cNvPr id="169"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70" name="MCT approach"/>
          <p:cNvSpPr/>
          <p:nvPr/>
        </p:nvSpPr>
        <p:spPr>
          <a:xfrm>
            <a:off x="228600" y="896040"/>
            <a:ext cx="4157280" cy="2602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Worked bottom up, one interface at a time</a:t>
            </a:r>
            <a:endParaRPr b="0" lang="en-US" sz="1300" spc="-1" strike="noStrike">
              <a:solidFill>
                <a:srgbClr val="ffffff"/>
              </a:solidFill>
              <a:latin typeface="Arial"/>
            </a:endParaRPr>
          </a:p>
          <a:p>
            <a:pPr marL="228600" indent="-228600">
              <a:lnSpc>
                <a:spcPct val="100000"/>
              </a:lnSpc>
              <a:spcAft>
                <a:spcPts val="601"/>
              </a:spcAft>
              <a:tabLst>
                <a:tab algn="l" pos="0"/>
              </a:tabLst>
            </a:pPr>
            <a:r>
              <a:rPr b="0" lang="en-US" sz="1100" spc="-1" strike="noStrike">
                <a:solidFill>
                  <a:schemeClr val="dk2"/>
                </a:solidFill>
                <a:latin typeface="Urbanist"/>
                <a:ea typeface="Urbanist"/>
              </a:rPr>
              <a:t>1.</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Added the Li-2 commands, states and an opcode dictionary to Hydra</a:t>
            </a:r>
            <a:endParaRPr b="0" lang="en-US" sz="1100" spc="-1" strike="noStrike">
              <a:solidFill>
                <a:srgbClr val="ffffff"/>
              </a:solidFill>
              <a:latin typeface="Arial"/>
            </a:endParaRPr>
          </a:p>
          <a:p>
            <a:pPr marL="228600" indent="-228600">
              <a:lnSpc>
                <a:spcPct val="100000"/>
              </a:lnSpc>
              <a:spcAft>
                <a:spcPts val="601"/>
              </a:spcAft>
              <a:tabLst>
                <a:tab algn="l" pos="0"/>
              </a:tabLst>
            </a:pPr>
            <a:r>
              <a:rPr b="0" lang="en-US" sz="1100" spc="-1" strike="noStrike">
                <a:solidFill>
                  <a:schemeClr val="dk2"/>
                </a:solidFill>
                <a:latin typeface="Urbanist"/>
                <a:ea typeface="Urbanist"/>
              </a:rPr>
              <a:t>2.</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Hardwired Hydra straight to the Li-2 and confirmed no-op, transmit and reset on the logic analyzer</a:t>
            </a:r>
            <a:endParaRPr b="0" lang="en-US" sz="1100" spc="-1" strike="noStrike">
              <a:solidFill>
                <a:srgbClr val="ffffff"/>
              </a:solidFill>
              <a:latin typeface="Arial"/>
            </a:endParaRPr>
          </a:p>
          <a:p>
            <a:pPr marL="457200" indent="-146160">
              <a:lnSpc>
                <a:spcPct val="100000"/>
              </a:lnSpc>
              <a:spcAft>
                <a:spcPts val="601"/>
              </a:spcAft>
              <a:buClr>
                <a:srgbClr val="f5f5f5"/>
              </a:buClr>
              <a:buFont typeface="Arial"/>
              <a:buChar char="–"/>
              <a:tabLst>
                <a:tab algn="l" pos="0"/>
              </a:tabLst>
            </a:pPr>
            <a:r>
              <a:rPr b="0" lang="en-US" sz="1100" spc="-1" strike="noStrike">
                <a:solidFill>
                  <a:schemeClr val="dk2"/>
                </a:solidFill>
                <a:latin typeface="Urbanist"/>
                <a:ea typeface="Urbanist"/>
              </a:rPr>
              <a:t>Took longer than planned from documentation gaps and getting familiar with the hardware</a:t>
            </a:r>
            <a:endParaRPr b="0" lang="en-US" sz="1100" spc="-1" strike="noStrike">
              <a:solidFill>
                <a:srgbClr val="ffffff"/>
              </a:solidFill>
              <a:latin typeface="Arial"/>
            </a:endParaRPr>
          </a:p>
          <a:p>
            <a:pPr marL="228600" indent="-228600">
              <a:lnSpc>
                <a:spcPct val="100000"/>
              </a:lnSpc>
              <a:spcAft>
                <a:spcPts val="601"/>
              </a:spcAft>
              <a:tabLst>
                <a:tab algn="l" pos="0"/>
              </a:tabLst>
            </a:pPr>
            <a:r>
              <a:rPr b="0" lang="en-US" sz="1100" spc="-1" strike="noStrike">
                <a:solidFill>
                  <a:schemeClr val="dk2"/>
                </a:solidFill>
                <a:latin typeface="Urbanist"/>
                <a:ea typeface="Urbanist"/>
              </a:rPr>
              <a:t>3.</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Put the CDH board in the loop. Commands were sent and acknowledged properly</a:t>
            </a:r>
            <a:endParaRPr b="0" lang="en-US" sz="1100" spc="-1" strike="noStrike">
              <a:solidFill>
                <a:srgbClr val="ffffff"/>
              </a:solidFill>
              <a:latin typeface="Arial"/>
            </a:endParaRPr>
          </a:p>
        </p:txBody>
      </p:sp>
      <p:sp>
        <p:nvSpPr>
          <p:cNvPr id="171" name="MCT result"/>
          <p:cNvSpPr/>
          <p:nvPr/>
        </p:nvSpPr>
        <p:spPr>
          <a:xfrm>
            <a:off x="228600" y="2880360"/>
            <a:ext cx="4157280" cy="45432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Result: commands acknowledged through</a:t>
            </a:r>
            <a:endParaRPr b="0" lang="en-US" sz="1300" spc="-1" strike="noStrike">
              <a:solidFill>
                <a:srgbClr val="ffffff"/>
              </a:solidFill>
              <a:latin typeface="Arial"/>
            </a:endParaRPr>
          </a:p>
          <a:p>
            <a:pPr>
              <a:lnSpc>
                <a:spcPct val="100000"/>
              </a:lnSpc>
              <a:spcAft>
                <a:spcPts val="400"/>
              </a:spcAft>
              <a:tabLst>
                <a:tab algn="l" pos="0"/>
              </a:tabLst>
            </a:pPr>
            <a:r>
              <a:rPr b="0" lang="en-US" sz="1300" spc="-1" strike="noStrike">
                <a:solidFill>
                  <a:schemeClr val="dk2"/>
                </a:solidFill>
                <a:latin typeface="Urbanist SemiBold"/>
                <a:ea typeface="Urbanist SemiBold"/>
              </a:rPr>
              <a:t>Hydra → CDH → Li-2</a:t>
            </a:r>
            <a:endParaRPr b="0" lang="en-US" sz="1300" spc="-1" strike="noStrike">
              <a:solidFill>
                <a:srgbClr val="ffffff"/>
              </a:solidFill>
              <a:latin typeface="Arial"/>
            </a:endParaRPr>
          </a:p>
        </p:txBody>
      </p:sp>
      <p:pic>
        <p:nvPicPr>
          <p:cNvPr id="172" name="MCT bench setup photo" descr=""/>
          <p:cNvPicPr/>
          <p:nvPr/>
        </p:nvPicPr>
        <p:blipFill>
          <a:blip r:embed="rId1"/>
          <a:stretch/>
        </p:blipFill>
        <p:spPr>
          <a:xfrm>
            <a:off x="4663440" y="896040"/>
            <a:ext cx="4250160" cy="31870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74"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75" name="PlaceHolder 3"/>
          <p:cNvSpPr>
            <a:spLocks noGrp="1"/>
          </p:cNvSpPr>
          <p:nvPr>
            <p:ph type="title"/>
          </p:nvPr>
        </p:nvSpPr>
        <p:spPr>
          <a:xfrm>
            <a:off x="228600" y="263880"/>
            <a:ext cx="764100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MCT: logic analyzer captures</a:t>
            </a:r>
            <a:endParaRPr b="0" lang="en-US" sz="3400" spc="-1" strike="noStrike">
              <a:solidFill>
                <a:srgbClr val="ffffff"/>
              </a:solidFill>
              <a:latin typeface="Arial"/>
            </a:endParaRPr>
          </a:p>
        </p:txBody>
      </p:sp>
      <p:sp>
        <p:nvSpPr>
          <p:cNvPr id="176"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pic>
        <p:nvPicPr>
          <p:cNvPr id="177" name="Reset capture" descr=""/>
          <p:cNvPicPr/>
          <p:nvPr/>
        </p:nvPicPr>
        <p:blipFill>
          <a:blip r:embed="rId1"/>
          <a:stretch/>
        </p:blipFill>
        <p:spPr>
          <a:xfrm>
            <a:off x="4892040" y="3344760"/>
            <a:ext cx="3838680" cy="1033200"/>
          </a:xfrm>
          <a:prstGeom prst="rect">
            <a:avLst/>
          </a:prstGeom>
          <a:ln w="0">
            <a:noFill/>
          </a:ln>
        </p:spPr>
      </p:pic>
      <p:pic>
        <p:nvPicPr>
          <p:cNvPr id="178" name="Transmit capture" descr=""/>
          <p:cNvPicPr/>
          <p:nvPr/>
        </p:nvPicPr>
        <p:blipFill>
          <a:blip r:embed="rId2"/>
          <a:stretch/>
        </p:blipFill>
        <p:spPr>
          <a:xfrm>
            <a:off x="914400" y="1517760"/>
            <a:ext cx="7313400" cy="1431720"/>
          </a:xfrm>
          <a:prstGeom prst="rect">
            <a:avLst/>
          </a:prstGeom>
          <a:ln w="0">
            <a:noFill/>
          </a:ln>
        </p:spPr>
      </p:pic>
      <p:pic>
        <p:nvPicPr>
          <p:cNvPr id="179" name="No-op capture" descr=""/>
          <p:cNvPicPr/>
          <p:nvPr/>
        </p:nvPicPr>
        <p:blipFill>
          <a:blip r:embed="rId3"/>
          <a:stretch/>
        </p:blipFill>
        <p:spPr>
          <a:xfrm>
            <a:off x="411480" y="3344760"/>
            <a:ext cx="3838680" cy="1043280"/>
          </a:xfrm>
          <a:prstGeom prst="rect">
            <a:avLst/>
          </a:prstGeom>
          <a:ln w="0">
            <a:noFill/>
          </a:ln>
        </p:spPr>
      </p:pic>
      <p:sp>
        <p:nvSpPr>
          <p:cNvPr id="180" name="Capture key"/>
          <p:cNvSpPr/>
          <p:nvPr/>
        </p:nvSpPr>
        <p:spPr>
          <a:xfrm>
            <a:off x="228600" y="896040"/>
            <a:ext cx="8685000" cy="16740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100" spc="-1" strike="noStrike">
                <a:solidFill>
                  <a:srgbClr val="f5f5f5"/>
                </a:solidFill>
                <a:latin typeface="Urbanist"/>
              </a:rPr>
              <a:t>Top trace: command sent to the Li-2.  Bottom trace: the Li-2’s reply, ending in 0x0A 0x0A (acknowledged).</a:t>
            </a:r>
            <a:endParaRPr b="0" lang="en-US" sz="1100" spc="-1" strike="noStrike">
              <a:solidFill>
                <a:srgbClr val="ffffff"/>
              </a:solidFill>
              <a:latin typeface="Arial"/>
            </a:endParaRPr>
          </a:p>
        </p:txBody>
      </p:sp>
      <p:sp>
        <p:nvSpPr>
          <p:cNvPr id="181" name="Transmit label"/>
          <p:cNvSpPr/>
          <p:nvPr/>
        </p:nvSpPr>
        <p:spPr>
          <a:xfrm>
            <a:off x="914400" y="1261800"/>
            <a:ext cx="7313400" cy="1825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f5f5f5"/>
                </a:solidFill>
                <a:latin typeface="Urbanist SemiBold"/>
              </a:rPr>
              <a:t>Transmit (0x03) with a 6-byte payload</a:t>
            </a:r>
            <a:endParaRPr b="0" lang="en-US" sz="1200" spc="-1" strike="noStrike">
              <a:solidFill>
                <a:srgbClr val="ffffff"/>
              </a:solidFill>
              <a:latin typeface="Arial"/>
            </a:endParaRPr>
          </a:p>
        </p:txBody>
      </p:sp>
      <p:sp>
        <p:nvSpPr>
          <p:cNvPr id="182" name="No-op label"/>
          <p:cNvSpPr/>
          <p:nvPr/>
        </p:nvSpPr>
        <p:spPr>
          <a:xfrm>
            <a:off x="411480" y="3088440"/>
            <a:ext cx="3838680" cy="1825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f5f5f5"/>
                </a:solidFill>
                <a:latin typeface="Urbanist SemiBold"/>
              </a:rPr>
              <a:t>No-op (0x01)</a:t>
            </a:r>
            <a:endParaRPr b="0" lang="en-US" sz="1200" spc="-1" strike="noStrike">
              <a:solidFill>
                <a:srgbClr val="ffffff"/>
              </a:solidFill>
              <a:latin typeface="Arial"/>
            </a:endParaRPr>
          </a:p>
        </p:txBody>
      </p:sp>
      <p:sp>
        <p:nvSpPr>
          <p:cNvPr id="183" name="Reset label"/>
          <p:cNvSpPr/>
          <p:nvPr/>
        </p:nvSpPr>
        <p:spPr>
          <a:xfrm>
            <a:off x="4892040" y="3088440"/>
            <a:ext cx="3838680" cy="1825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f5f5f5"/>
                </a:solidFill>
                <a:latin typeface="Urbanist SemiBold"/>
              </a:rPr>
              <a:t>Reset (0x02)</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85"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86" name="PlaceHolder 3"/>
          <p:cNvSpPr>
            <a:spLocks noGrp="1"/>
          </p:cNvSpPr>
          <p:nvPr>
            <p:ph type="title"/>
          </p:nvPr>
        </p:nvSpPr>
        <p:spPr>
          <a:xfrm>
            <a:off x="228600" y="263880"/>
            <a:ext cx="390132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Ground Station PC</a:t>
            </a:r>
            <a:endParaRPr b="0" lang="en-US" sz="3400" spc="-1" strike="noStrike">
              <a:solidFill>
                <a:srgbClr val="ffffff"/>
              </a:solidFill>
              <a:latin typeface="Arial"/>
            </a:endParaRPr>
          </a:p>
        </p:txBody>
      </p:sp>
      <p:sp>
        <p:nvSpPr>
          <p:cNvPr id="187"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88" name="GS PC text"/>
          <p:cNvSpPr/>
          <p:nvPr/>
        </p:nvSpPr>
        <p:spPr>
          <a:xfrm>
            <a:off x="4343400" y="896040"/>
            <a:ext cx="4568760" cy="35262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Created a STIG GS PC status doc</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Covers the current setup, why it was built that way, the issues, who is involved, options and open questions. It became the shared picture for Palo and the MAXWELL and SWARM-EX COMMs teams.</a:t>
            </a:r>
            <a:endParaRPr b="0" lang="en-US" sz="1100" spc="-1" strike="noStrike">
              <a:solidFill>
                <a:srgbClr val="ffffff"/>
              </a:solidFill>
              <a:latin typeface="Arial"/>
            </a:endParaRPr>
          </a:p>
          <a:p>
            <a:pPr>
              <a:lnSpc>
                <a:spcPct val="100000"/>
              </a:lnSpc>
              <a:spcBef>
                <a:spcPts val="1001"/>
              </a:spcBef>
              <a:spcAft>
                <a:spcPts val="400"/>
              </a:spcAft>
              <a:tabLst>
                <a:tab algn="l" pos="0"/>
              </a:tabLst>
            </a:pPr>
            <a:r>
              <a:rPr b="0" lang="en-US" sz="1300" spc="-1" strike="noStrike">
                <a:solidFill>
                  <a:schemeClr val="dk2"/>
                </a:solidFill>
                <a:latin typeface="Urbanist SemiBold"/>
                <a:ea typeface="Urbanist SemiBold"/>
              </a:rPr>
              <a:t>Issues at start of the semester</a:t>
            </a:r>
            <a:endParaRPr b="0" lang="en-US" sz="1300" spc="-1" strike="noStrike">
              <a:solidFill>
                <a:srgbClr val="ffffff"/>
              </a:solidFill>
              <a:latin typeface="Arial"/>
            </a:endParaRPr>
          </a:p>
          <a:p>
            <a:pPr marL="152280" indent="-152280">
              <a:lnSpc>
                <a:spcPct val="100000"/>
              </a:lnSpc>
              <a:spcAft>
                <a:spcPts val="201"/>
              </a:spcAft>
              <a:buClr>
                <a:srgbClr val="deff9a"/>
              </a:buClr>
              <a:buFont typeface="Arial"/>
              <a:buChar char="•"/>
              <a:tabLst>
                <a:tab algn="l" pos="0"/>
              </a:tabLst>
            </a:pPr>
            <a:r>
              <a:rPr b="0" lang="en-US" sz="1100" spc="-1" strike="noStrike">
                <a:solidFill>
                  <a:schemeClr val="dk2"/>
                </a:solidFill>
                <a:latin typeface="Urbanist"/>
                <a:ea typeface="Urbanist"/>
              </a:rPr>
              <a:t>The VMs can’t talk to each other</a:t>
            </a:r>
            <a:endParaRPr b="0" lang="en-US" sz="1100" spc="-1" strike="noStrike">
              <a:solidFill>
                <a:srgbClr val="ffffff"/>
              </a:solidFill>
              <a:latin typeface="Arial"/>
            </a:endParaRPr>
          </a:p>
          <a:p>
            <a:pPr marL="152280" indent="-152280">
              <a:lnSpc>
                <a:spcPct val="100000"/>
              </a:lnSpc>
              <a:spcAft>
                <a:spcPts val="201"/>
              </a:spcAft>
              <a:buClr>
                <a:srgbClr val="deff9a"/>
              </a:buClr>
              <a:buFont typeface="Arial"/>
              <a:buChar char="•"/>
              <a:tabLst>
                <a:tab algn="l" pos="0"/>
              </a:tabLst>
            </a:pPr>
            <a:r>
              <a:rPr b="0" lang="en-US" sz="1100" spc="-1" strike="noStrike">
                <a:solidFill>
                  <a:schemeClr val="dk2"/>
                </a:solidFill>
                <a:latin typeface="Urbanist"/>
                <a:ea typeface="Urbanist"/>
              </a:rPr>
              <a:t>VPN problems</a:t>
            </a:r>
            <a:endParaRPr b="0" lang="en-US" sz="1100" spc="-1" strike="noStrike">
              <a:solidFill>
                <a:srgbClr val="ffffff"/>
              </a:solidFill>
              <a:latin typeface="Arial"/>
            </a:endParaRPr>
          </a:p>
          <a:p>
            <a:pPr marL="152280" indent="-152280">
              <a:lnSpc>
                <a:spcPct val="100000"/>
              </a:lnSpc>
              <a:spcAft>
                <a:spcPts val="201"/>
              </a:spcAft>
              <a:buClr>
                <a:srgbClr val="deff9a"/>
              </a:buClr>
              <a:buFont typeface="Arial"/>
              <a:buChar char="•"/>
              <a:tabLst>
                <a:tab algn="l" pos="0"/>
              </a:tabLst>
            </a:pPr>
            <a:r>
              <a:rPr b="0" lang="en-US" sz="1100" spc="-1" strike="noStrike">
                <a:solidFill>
                  <a:schemeClr val="dk2"/>
                </a:solidFill>
                <a:latin typeface="Urbanist"/>
                <a:ea typeface="Urbanist"/>
              </a:rPr>
              <a:t>Our GNU Radio file can’t run natively on Ubuntu 24</a:t>
            </a:r>
            <a:endParaRPr b="0" lang="en-US" sz="1100" spc="-1" strike="noStrike">
              <a:solidFill>
                <a:srgbClr val="ffffff"/>
              </a:solidFill>
              <a:latin typeface="Arial"/>
            </a:endParaRPr>
          </a:p>
          <a:p>
            <a:pPr>
              <a:lnSpc>
                <a:spcPct val="100000"/>
              </a:lnSpc>
              <a:spcBef>
                <a:spcPts val="1001"/>
              </a:spcBef>
              <a:spcAft>
                <a:spcPts val="400"/>
              </a:spcAft>
              <a:tabLst>
                <a:tab algn="l" pos="0"/>
              </a:tabLst>
            </a:pPr>
            <a:r>
              <a:rPr b="0" lang="en-US" sz="1300" spc="-1" strike="noStrike">
                <a:solidFill>
                  <a:schemeClr val="dk2"/>
                </a:solidFill>
                <a:latin typeface="Urbanist SemiBold"/>
                <a:ea typeface="Urbanist SemiBold"/>
              </a:rPr>
              <a:t>Verification</a:t>
            </a:r>
            <a:endParaRPr b="0" lang="en-US" sz="1300" spc="-1" strike="noStrike">
              <a:solidFill>
                <a:srgbClr val="ffffff"/>
              </a:solidFill>
              <a:latin typeface="Arial"/>
            </a:endParaRPr>
          </a:p>
          <a:p>
            <a:pPr marL="228600" indent="-228600">
              <a:lnSpc>
                <a:spcPct val="100000"/>
              </a:lnSpc>
              <a:spcAft>
                <a:spcPts val="201"/>
              </a:spcAft>
              <a:tabLst>
                <a:tab algn="l" pos="0"/>
              </a:tabLst>
            </a:pPr>
            <a:r>
              <a:rPr b="0" lang="en-US" sz="1100" spc="-1" strike="noStrike">
                <a:solidFill>
                  <a:schemeClr val="dk2"/>
                </a:solidFill>
                <a:latin typeface="Urbanist"/>
                <a:ea typeface="Urbanist"/>
              </a:rPr>
              <a:t>1.</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USRP → GNU Radio</a:t>
            </a:r>
            <a:endParaRPr b="0" lang="en-US" sz="1100" spc="-1" strike="noStrike">
              <a:solidFill>
                <a:srgbClr val="ffffff"/>
              </a:solidFill>
              <a:latin typeface="Arial"/>
            </a:endParaRPr>
          </a:p>
          <a:p>
            <a:pPr marL="228600" indent="-228600">
              <a:lnSpc>
                <a:spcPct val="100000"/>
              </a:lnSpc>
              <a:spcAft>
                <a:spcPts val="201"/>
              </a:spcAft>
              <a:tabLst>
                <a:tab algn="l" pos="0"/>
              </a:tabLst>
            </a:pPr>
            <a:r>
              <a:rPr b="0" lang="en-US" sz="1100" spc="-1" strike="noStrike">
                <a:solidFill>
                  <a:schemeClr val="dk2"/>
                </a:solidFill>
                <a:latin typeface="Urbanist"/>
                <a:ea typeface="Urbanist"/>
              </a:rPr>
              <a:t>2.</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GNU Radio ↔ Hydra</a:t>
            </a:r>
            <a:endParaRPr b="0" lang="en-US" sz="1100" spc="-1" strike="noStrike">
              <a:solidFill>
                <a:srgbClr val="ffffff"/>
              </a:solidFill>
              <a:latin typeface="Arial"/>
            </a:endParaRPr>
          </a:p>
          <a:p>
            <a:pPr marL="228600" indent="-228600">
              <a:lnSpc>
                <a:spcPct val="100000"/>
              </a:lnSpc>
              <a:spcAft>
                <a:spcPts val="201"/>
              </a:spcAft>
              <a:tabLst>
                <a:tab algn="l" pos="0"/>
              </a:tabLst>
            </a:pPr>
            <a:r>
              <a:rPr b="0" lang="en-US" sz="1100" spc="-1" strike="noStrike">
                <a:solidFill>
                  <a:schemeClr val="dk2"/>
                </a:solidFill>
                <a:latin typeface="Urbanist"/>
                <a:ea typeface="Urbanist"/>
              </a:rPr>
              <a:t>3.</a:t>
            </a:r>
            <a:r>
              <a:rPr b="0" lang="en-US" sz="1100" spc="-1" strike="noStrike">
                <a:solidFill>
                  <a:schemeClr val="dk2"/>
                </a:solidFill>
                <a:latin typeface="Urbanist"/>
                <a:ea typeface="Urbanist"/>
              </a:rPr>
              <a:t>	</a:t>
            </a:r>
            <a:r>
              <a:rPr b="0" lang="en-US" sz="1100" spc="-1" strike="noStrike">
                <a:solidFill>
                  <a:schemeClr val="dk2"/>
                </a:solidFill>
                <a:latin typeface="Urbanist"/>
                <a:ea typeface="Urbanist"/>
              </a:rPr>
              <a:t>The whole ground side with the station hardware</a:t>
            </a:r>
            <a:endParaRPr b="0" lang="en-US" sz="1100" spc="-1" strike="noStrike">
              <a:solidFill>
                <a:srgbClr val="ffffff"/>
              </a:solidFill>
              <a:latin typeface="Arial"/>
            </a:endParaRPr>
          </a:p>
        </p:txBody>
      </p:sp>
      <p:pic>
        <p:nvPicPr>
          <p:cNvPr id="189" name="" descr=""/>
          <p:cNvPicPr/>
          <p:nvPr/>
        </p:nvPicPr>
        <p:blipFill>
          <a:blip r:embed="rId1"/>
          <a:stretch/>
        </p:blipFill>
        <p:spPr>
          <a:xfrm>
            <a:off x="0" y="1828800"/>
            <a:ext cx="4154400" cy="15721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91"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92" name="PlaceHolder 3"/>
          <p:cNvSpPr>
            <a:spLocks noGrp="1"/>
          </p:cNvSpPr>
          <p:nvPr>
            <p:ph type="title"/>
          </p:nvPr>
        </p:nvSpPr>
        <p:spPr>
          <a:xfrm>
            <a:off x="228600" y="263880"/>
            <a:ext cx="390132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Lead work</a:t>
            </a:r>
            <a:endParaRPr b="0" lang="en-US" sz="3400" spc="-1" strike="noStrike">
              <a:solidFill>
                <a:srgbClr val="ffffff"/>
              </a:solidFill>
              <a:latin typeface="Arial"/>
            </a:endParaRPr>
          </a:p>
        </p:txBody>
      </p:sp>
      <p:sp>
        <p:nvSpPr>
          <p:cNvPr id="193"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194" name="Team"/>
          <p:cNvSpPr/>
          <p:nvPr/>
        </p:nvSpPr>
        <p:spPr>
          <a:xfrm>
            <a:off x="228600" y="914400"/>
            <a:ext cx="2711160" cy="347328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Team</a:t>
            </a:r>
            <a:endParaRPr b="0" lang="en-US" sz="18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Onboarded Edin, Elsa, Atharv and Ian</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Elsa working on satellite tracking</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Edin working on ground station bring up</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Gave Atharv the SWARM-EX and ground station block diagrams</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Gave Ian the SCT documents for the SCT procedures</a:t>
            </a:r>
            <a:endParaRPr b="0" lang="en-US" sz="1400" spc="-1" strike="noStrike">
              <a:solidFill>
                <a:srgbClr val="ffffff"/>
              </a:solidFill>
              <a:latin typeface="Arial"/>
            </a:endParaRPr>
          </a:p>
        </p:txBody>
      </p:sp>
      <p:sp>
        <p:nvSpPr>
          <p:cNvPr id="195" name="Tracking"/>
          <p:cNvSpPr/>
          <p:nvPr/>
        </p:nvSpPr>
        <p:spPr>
          <a:xfrm>
            <a:off x="3215520" y="914400"/>
            <a:ext cx="2711160" cy="347328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Tracking</a:t>
            </a:r>
            <a:endParaRPr b="0" lang="en-US" sz="18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Tracking action items from the whole team along with ongoing issues</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Weekly quad charts for COMMs as a whole and a Gantt chart</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Managing blockers, dependencies, and rescheduling tasks</a:t>
            </a:r>
            <a:endParaRPr b="0" lang="en-US" sz="1400" spc="-1" strike="noStrike">
              <a:solidFill>
                <a:srgbClr val="ffffff"/>
              </a:solidFill>
              <a:latin typeface="Arial"/>
            </a:endParaRPr>
          </a:p>
        </p:txBody>
      </p:sp>
      <p:sp>
        <p:nvSpPr>
          <p:cNvPr id="196" name="Coordination"/>
          <p:cNvSpPr/>
          <p:nvPr/>
        </p:nvSpPr>
        <p:spPr>
          <a:xfrm>
            <a:off x="6202800" y="914400"/>
            <a:ext cx="2711160" cy="347328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Coordination</a:t>
            </a:r>
            <a:endParaRPr b="0" lang="en-US" sz="18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Skye (MAXWELL)</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Alex Burns (former MAXWELL COMMs lead)</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Dhruva (former SWARM EX COMMs lead)</a:t>
            </a:r>
            <a:endParaRPr b="0" lang="en-US" sz="1400" spc="-1" strike="noStrike">
              <a:solidFill>
                <a:srgbClr val="ffffff"/>
              </a:solidFill>
              <a:latin typeface="Arial"/>
            </a:endParaRPr>
          </a:p>
          <a:p>
            <a:pPr marL="152280" indent="-152280">
              <a:lnSpc>
                <a:spcPct val="100000"/>
              </a:lnSpc>
              <a:spcAft>
                <a:spcPts val="901"/>
              </a:spcAft>
              <a:buClr>
                <a:srgbClr val="deff9a"/>
              </a:buClr>
              <a:buFont typeface="Arial"/>
              <a:buChar char="•"/>
              <a:tabLst>
                <a:tab algn="l" pos="0"/>
              </a:tabLst>
            </a:pPr>
            <a:r>
              <a:rPr b="0" lang="en-US" sz="1400" spc="-1" strike="noStrike">
                <a:solidFill>
                  <a:schemeClr val="dk2"/>
                </a:solidFill>
                <a:latin typeface="Urbanist"/>
                <a:ea typeface="Urbanist"/>
              </a:rPr>
              <a:t>Scott Gennari (LASP) </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198"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199" name="PlaceHolder 3"/>
          <p:cNvSpPr>
            <a:spLocks noGrp="1"/>
          </p:cNvSpPr>
          <p:nvPr>
            <p:ph type="title"/>
          </p:nvPr>
        </p:nvSpPr>
        <p:spPr>
          <a:xfrm>
            <a:off x="228600" y="263880"/>
            <a:ext cx="390132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Schedule</a:t>
            </a:r>
            <a:endParaRPr b="0" lang="en-US" sz="3400" spc="-1" strike="noStrike">
              <a:solidFill>
                <a:srgbClr val="ffffff"/>
              </a:solidFill>
              <a:latin typeface="Arial"/>
            </a:endParaRPr>
          </a:p>
        </p:txBody>
      </p:sp>
      <p:sp>
        <p:nvSpPr>
          <p:cNvPr id="200"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201" name="SCT-1"/>
          <p:cNvSpPr/>
          <p:nvPr/>
        </p:nvSpPr>
        <p:spPr>
          <a:xfrm>
            <a:off x="228600" y="896040"/>
            <a:ext cx="1962720" cy="136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SCT-1</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10/16 – 10/22</a:t>
            </a:r>
            <a:endParaRPr b="0" lang="en-US" sz="11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Bench setup 10/16, practice run 10/19, full run 10/20–10/21, troubleshooting 10/22</a:t>
            </a:r>
            <a:endParaRPr b="0" lang="en-US" sz="1050" spc="-1" strike="noStrike">
              <a:solidFill>
                <a:srgbClr val="ffffff"/>
              </a:solidFill>
              <a:latin typeface="Arial"/>
            </a:endParaRPr>
          </a:p>
        </p:txBody>
      </p:sp>
      <p:sp>
        <p:nvSpPr>
          <p:cNvPr id="202" name="GS PC verification"/>
          <p:cNvSpPr/>
          <p:nvPr/>
        </p:nvSpPr>
        <p:spPr>
          <a:xfrm>
            <a:off x="2468880" y="896040"/>
            <a:ext cx="1962720" cy="136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GS PC verification</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10/30 – 11/6</a:t>
            </a:r>
            <a:endParaRPr b="0" lang="en-US" sz="11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Once Palo and Rainville have it working. Meanwhile, update GNU Radio and check its state for SCT-2</a:t>
            </a:r>
            <a:endParaRPr b="0" lang="en-US" sz="1050" spc="-1" strike="noStrike">
              <a:solidFill>
                <a:srgbClr val="ffffff"/>
              </a:solidFill>
              <a:latin typeface="Arial"/>
            </a:endParaRPr>
          </a:p>
        </p:txBody>
      </p:sp>
      <p:sp>
        <p:nvSpPr>
          <p:cNvPr id="203" name="SCT-2"/>
          <p:cNvSpPr/>
          <p:nvPr/>
        </p:nvSpPr>
        <p:spPr>
          <a:xfrm>
            <a:off x="4709160" y="896040"/>
            <a:ext cx="1962720" cy="136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SCT-2</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10/23 – 12/3</a:t>
            </a:r>
            <a:endParaRPr b="0" lang="en-US" sz="11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Procedure review 10/23, Hydra dev 10/27–11/2, practice 11/13, full run 11/17–11/20</a:t>
            </a:r>
            <a:endParaRPr b="0" lang="en-US" sz="1050" spc="-1" strike="noStrike">
              <a:solidFill>
                <a:srgbClr val="ffffff"/>
              </a:solidFill>
              <a:latin typeface="Arial"/>
            </a:endParaRPr>
          </a:p>
        </p:txBody>
      </p:sp>
      <p:sp>
        <p:nvSpPr>
          <p:cNvPr id="204" name="Wrap-up"/>
          <p:cNvSpPr/>
          <p:nvPr/>
        </p:nvSpPr>
        <p:spPr>
          <a:xfrm>
            <a:off x="6949440" y="896040"/>
            <a:ext cx="1962720" cy="136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300" spc="-1" strike="noStrike">
                <a:solidFill>
                  <a:schemeClr val="dk2"/>
                </a:solidFill>
                <a:latin typeface="Urbanist SemiBold"/>
                <a:ea typeface="Urbanist SemiBold"/>
              </a:rPr>
              <a:t>Wrap-up</a:t>
            </a:r>
            <a:endParaRPr b="0" lang="en-US" sz="1300" spc="-1" strike="noStrike">
              <a:solidFill>
                <a:srgbClr val="ffffff"/>
              </a:solidFill>
              <a:latin typeface="Arial"/>
            </a:endParaRPr>
          </a:p>
          <a:p>
            <a:pPr>
              <a:lnSpc>
                <a:spcPct val="100000"/>
              </a:lnSpc>
              <a:spcAft>
                <a:spcPts val="400"/>
              </a:spcAft>
              <a:tabLst>
                <a:tab algn="l" pos="0"/>
              </a:tabLst>
            </a:pPr>
            <a:r>
              <a:rPr b="0" lang="en-US" sz="1100" spc="-1" strike="noStrike">
                <a:solidFill>
                  <a:schemeClr val="dk2"/>
                </a:solidFill>
                <a:latin typeface="Urbanist"/>
                <a:ea typeface="Urbanist"/>
              </a:rPr>
              <a:t>Weeks of 12/7 and 12/14</a:t>
            </a:r>
            <a:endParaRPr b="0" lang="en-US" sz="11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End-of-semester review, transition document and final report</a:t>
            </a:r>
            <a:endParaRPr b="0" lang="en-US" sz="1050" spc="-1" strike="noStrike">
              <a:solidFill>
                <a:srgbClr val="ffffff"/>
              </a:solidFill>
              <a:latin typeface="Arial"/>
            </a:endParaRPr>
          </a:p>
        </p:txBody>
      </p:sp>
      <p:graphicFrame>
        <p:nvGraphicFramePr>
          <p:cNvPr id="205" name="Planned vs revised dates"/>
          <p:cNvGraphicFramePr/>
          <p:nvPr/>
        </p:nvGraphicFramePr>
        <p:xfrm>
          <a:off x="228600" y="2496240"/>
          <a:ext cx="8686440" cy="1917000"/>
        </p:xfrm>
        <a:graphic>
          <a:graphicData uri="http://schemas.openxmlformats.org/drawingml/2006/table">
            <a:tbl>
              <a:tblPr/>
              <a:tblGrid>
                <a:gridCol w="2743200"/>
                <a:gridCol w="1828800"/>
                <a:gridCol w="4114800"/>
              </a:tblGrid>
              <a:tr h="374760">
                <a:tc>
                  <a:txBody>
                    <a:bodyPr anchor="ctr">
                      <a:noAutofit/>
                    </a:bodyPr>
                    <a:p>
                      <a:pPr>
                        <a:lnSpc>
                          <a:spcPct val="100000"/>
                        </a:lnSpc>
                        <a:tabLst>
                          <a:tab algn="l" pos="0"/>
                        </a:tabLst>
                      </a:pPr>
                      <a:r>
                        <a:rPr b="0" lang="en-US" sz="1100" spc="-1" strike="noStrike">
                          <a:solidFill>
                            <a:schemeClr val="dk2"/>
                          </a:solidFill>
                          <a:latin typeface="Urbanist SemiBold"/>
                          <a:ea typeface="Urbanist SemiBold"/>
                        </a:rPr>
                        <a:t>Milestone</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SemiBold"/>
                          <a:ea typeface="Urbanist SemiBold"/>
                        </a:rPr>
                        <a:t>Planned</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SemiBold"/>
                          <a:ea typeface="Urbanist SemiBold"/>
                        </a:rPr>
                        <a:t>Now</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r>
              <a:tr h="385560">
                <a:tc>
                  <a:txBody>
                    <a:bodyPr anchor="ctr">
                      <a:noAutofit/>
                    </a:bodyPr>
                    <a:p>
                      <a:pPr>
                        <a:lnSpc>
                          <a:spcPct val="100000"/>
                        </a:lnSpc>
                        <a:tabLst>
                          <a:tab algn="l" pos="0"/>
                        </a:tabLst>
                      </a:pPr>
                      <a:r>
                        <a:rPr b="0" lang="en-US" sz="1100" spc="-1" strike="noStrike">
                          <a:solidFill>
                            <a:schemeClr val="dk2"/>
                          </a:solidFill>
                          <a:latin typeface="Urbanist"/>
                          <a:ea typeface="Urbanist"/>
                        </a:rPr>
                        <a:t>Re-run MCT</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9/21</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Done 10/8</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r>
              <a:tr h="385560">
                <a:tc>
                  <a:txBody>
                    <a:bodyPr anchor="ctr">
                      <a:noAutofit/>
                    </a:bodyPr>
                    <a:p>
                      <a:pPr>
                        <a:lnSpc>
                          <a:spcPct val="100000"/>
                        </a:lnSpc>
                        <a:tabLst>
                          <a:tab algn="l" pos="0"/>
                        </a:tabLst>
                      </a:pPr>
                      <a:r>
                        <a:rPr b="0" lang="en-US" sz="1100" spc="-1" strike="noStrike">
                          <a:solidFill>
                            <a:schemeClr val="dk2"/>
                          </a:solidFill>
                          <a:latin typeface="Urbanist"/>
                          <a:ea typeface="Urbanist"/>
                        </a:rPr>
                        <a:t>GS PC test</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9/23</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10/30 – 11/6</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r>
              <a:tr h="385560">
                <a:tc>
                  <a:txBody>
                    <a:bodyPr anchor="ctr">
                      <a:noAutofit/>
                    </a:bodyPr>
                    <a:p>
                      <a:pPr>
                        <a:lnSpc>
                          <a:spcPct val="100000"/>
                        </a:lnSpc>
                        <a:tabLst>
                          <a:tab algn="l" pos="0"/>
                        </a:tabLst>
                      </a:pPr>
                      <a:r>
                        <a:rPr b="0" lang="en-US" sz="1100" spc="-1" strike="noStrike">
                          <a:solidFill>
                            <a:schemeClr val="dk2"/>
                          </a:solidFill>
                          <a:latin typeface="Urbanist"/>
                          <a:ea typeface="Urbanist"/>
                        </a:rPr>
                        <a:t>Re-run SCT-1</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9/30</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10/20</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r>
              <a:tr h="385560">
                <a:tc>
                  <a:txBody>
                    <a:bodyPr anchor="ctr">
                      <a:noAutofit/>
                    </a:bodyPr>
                    <a:p>
                      <a:pPr>
                        <a:lnSpc>
                          <a:spcPct val="100000"/>
                        </a:lnSpc>
                        <a:tabLst>
                          <a:tab algn="l" pos="0"/>
                        </a:tabLst>
                      </a:pPr>
                      <a:r>
                        <a:rPr b="0" lang="en-US" sz="1100" spc="-1" strike="noStrike">
                          <a:solidFill>
                            <a:schemeClr val="dk2"/>
                          </a:solidFill>
                          <a:latin typeface="Urbanist"/>
                          <a:ea typeface="Urbanist"/>
                        </a:rPr>
                        <a:t>SCT-2</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10/31</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c>
                  <a:txBody>
                    <a:bodyPr anchor="ctr">
                      <a:noAutofit/>
                    </a:bodyPr>
                    <a:p>
                      <a:pPr>
                        <a:lnSpc>
                          <a:spcPct val="100000"/>
                        </a:lnSpc>
                        <a:tabLst>
                          <a:tab algn="l" pos="0"/>
                        </a:tabLst>
                      </a:pPr>
                      <a:r>
                        <a:rPr b="0" lang="en-US" sz="1100" spc="-1" strike="noStrike">
                          <a:solidFill>
                            <a:schemeClr val="dk2"/>
                          </a:solidFill>
                          <a:latin typeface="Urbanist"/>
                          <a:ea typeface="Urbanist"/>
                        </a:rPr>
                        <a:t>11/17 – 11/20</a:t>
                      </a:r>
                      <a:endParaRPr b="0" lang="en-US" sz="1100" spc="-1" strike="noStrike">
                        <a:solidFill>
                          <a:srgbClr val="ffffff"/>
                        </a:solidFill>
                        <a:latin typeface="Arial"/>
                      </a:endParaRPr>
                    </a:p>
                  </a:txBody>
                  <a:tcPr anchor="ctr" marL="91440" marR="91440">
                    <a:lnL w="12240">
                      <a:noFill/>
                      <a:prstDash val="solid"/>
                    </a:lnL>
                    <a:lnR w="12240">
                      <a:noFill/>
                      <a:prstDash val="solid"/>
                    </a:lnR>
                    <a:lnT w="12240">
                      <a:noFill/>
                      <a:prstDash val="solid"/>
                    </a:lnT>
                    <a:lnB w="9360">
                      <a:solidFill>
                        <a:srgbClr val="434343"/>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207"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208" name="PlaceHolder 3"/>
          <p:cNvSpPr>
            <a:spLocks noGrp="1"/>
          </p:cNvSpPr>
          <p:nvPr>
            <p:ph type="title"/>
          </p:nvPr>
        </p:nvSpPr>
        <p:spPr>
          <a:xfrm>
            <a:off x="228600" y="263880"/>
            <a:ext cx="3901320" cy="94752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SWARM EX Impact</a:t>
            </a:r>
            <a:endParaRPr b="0" lang="en-US" sz="3400" spc="-1" strike="noStrike">
              <a:solidFill>
                <a:srgbClr val="ffffff"/>
              </a:solidFill>
              <a:latin typeface="Arial"/>
            </a:endParaRPr>
          </a:p>
        </p:txBody>
      </p:sp>
      <p:sp>
        <p:nvSpPr>
          <p:cNvPr id="209"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210" name="Impact - Comms chain"/>
          <p:cNvSpPr/>
          <p:nvPr/>
        </p:nvSpPr>
        <p:spPr>
          <a:xfrm>
            <a:off x="228600" y="914400"/>
            <a:ext cx="2709720" cy="347184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Comms chain</a:t>
            </a:r>
            <a:endParaRPr b="0" lang="en-US" sz="18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Li-2 - CDH comms state was unclear</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Earlier semesters ran MCT and SCT but never reached SCT-2</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Re-verifying MCT and SCT gives a clear starting point for SCT-2</a:t>
            </a:r>
            <a:endParaRPr b="0" lang="en-US" sz="1500" spc="-1" strike="noStrike">
              <a:solidFill>
                <a:srgbClr val="ffffff"/>
              </a:solidFill>
              <a:latin typeface="Arial"/>
            </a:endParaRPr>
          </a:p>
        </p:txBody>
      </p:sp>
      <p:sp>
        <p:nvSpPr>
          <p:cNvPr id="211" name="Impact - Ground station PC"/>
          <p:cNvSpPr/>
          <p:nvPr/>
        </p:nvSpPr>
        <p:spPr>
          <a:xfrm>
            <a:off x="3215520" y="914400"/>
            <a:ext cx="2709720" cy="347184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Ground station PC</a:t>
            </a:r>
            <a:endParaRPr b="0" lang="en-US" sz="18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Long-running pain point for COMMs</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STIG doc turned it into an issue list with clear owners</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Palo and Rainville bringing it up, needed for MAXWELL’s February launch</a:t>
            </a:r>
            <a:endParaRPr b="0" lang="en-US" sz="1500" spc="-1" strike="noStrike">
              <a:solidFill>
                <a:srgbClr val="ffffff"/>
              </a:solidFill>
              <a:latin typeface="Arial"/>
            </a:endParaRPr>
          </a:p>
        </p:txBody>
      </p:sp>
      <p:sp>
        <p:nvSpPr>
          <p:cNvPr id="212" name="Impact - COMMs lead"/>
          <p:cNvSpPr/>
          <p:nvPr/>
        </p:nvSpPr>
        <p:spPr>
          <a:xfrm>
            <a:off x="6202800" y="914400"/>
            <a:ext cx="2709720" cy="3471840"/>
          </a:xfrm>
          <a:prstGeom prst="rect">
            <a:avLst/>
          </a:prstGeom>
          <a:noFill/>
          <a:ln w="0">
            <a:noFill/>
          </a:ln>
        </p:spPr>
        <p:style>
          <a:lnRef idx="0"/>
          <a:fillRef idx="0"/>
          <a:effectRef idx="0"/>
          <a:fontRef idx="minor"/>
        </p:style>
        <p:txBody>
          <a:bodyPr lIns="0" rIns="0" tIns="0" bIns="0" anchor="t">
            <a:noAutofit/>
          </a:bodyPr>
          <a:p>
            <a:pPr>
              <a:lnSpc>
                <a:spcPct val="100000"/>
              </a:lnSpc>
              <a:spcAft>
                <a:spcPts val="601"/>
              </a:spcAft>
              <a:tabLst>
                <a:tab algn="l" pos="0"/>
              </a:tabLst>
            </a:pPr>
            <a:r>
              <a:rPr b="0" lang="en-US" sz="1800" spc="-1" strike="noStrike">
                <a:solidFill>
                  <a:schemeClr val="dk2"/>
                </a:solidFill>
                <a:latin typeface="Urbanist SemiBold"/>
                <a:ea typeface="Urbanist SemiBold"/>
              </a:rPr>
              <a:t>COMMs lead</a:t>
            </a:r>
            <a:endParaRPr b="0" lang="en-US" sz="18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Manage the tasks COMMs needs for SWARM-EX</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Team work tracked week to week</a:t>
            </a:r>
            <a:endParaRPr b="0" lang="en-US" sz="1500" spc="-1" strike="noStrike">
              <a:solidFill>
                <a:srgbClr val="ffffff"/>
              </a:solidFill>
              <a:latin typeface="Arial"/>
            </a:endParaRPr>
          </a:p>
          <a:p>
            <a:pPr marL="152280" indent="-152280">
              <a:lnSpc>
                <a:spcPct val="100000"/>
              </a:lnSpc>
              <a:spcAft>
                <a:spcPts val="1199"/>
              </a:spcAft>
              <a:buClr>
                <a:srgbClr val="deff9a"/>
              </a:buClr>
              <a:buFont typeface="Arial"/>
              <a:buChar char="•"/>
              <a:tabLst>
                <a:tab algn="l" pos="0"/>
              </a:tabLst>
            </a:pPr>
            <a:r>
              <a:rPr b="0" lang="en-US" sz="1500" spc="-1" strike="noStrike">
                <a:solidFill>
                  <a:schemeClr val="dk2"/>
                </a:solidFill>
                <a:latin typeface="Urbanist"/>
                <a:ea typeface="Urbanist"/>
              </a:rPr>
              <a:t>Blockers routed to the right person (CDH, Palo, LASP, MAXWELL)</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ubTitle"/>
          </p:nvPr>
        </p:nvSpPr>
        <p:spPr>
          <a:xfrm>
            <a:off x="4716720" y="4676040"/>
            <a:ext cx="2291400" cy="233280"/>
          </a:xfrm>
          <a:prstGeom prst="rect">
            <a:avLst/>
          </a:prstGeom>
          <a:noFill/>
          <a:ln w="0">
            <a:noFill/>
          </a:ln>
        </p:spPr>
        <p:txBody>
          <a:bodyPr lIns="0" rIns="0" tIns="0" bIns="0" anchor="b">
            <a:noAutofit/>
          </a:bodyPr>
          <a:p>
            <a:pPr>
              <a:lnSpc>
                <a:spcPct val="100000"/>
              </a:lnSpc>
              <a:tabLst>
                <a:tab algn="l" pos="0"/>
              </a:tabLst>
            </a:pPr>
            <a:r>
              <a:rPr b="0" lang="en" sz="700" spc="-1" strike="noStrike">
                <a:solidFill>
                  <a:schemeClr val="dk2"/>
                </a:solidFill>
                <a:latin typeface="Urbanist Medium"/>
                <a:ea typeface="Urbanist Medium"/>
              </a:rPr>
              <a:t>SWARM EX COMMS Mid Semester Review</a:t>
            </a:r>
            <a:endParaRPr b="0" lang="en-US" sz="700" spc="-1" strike="noStrike">
              <a:solidFill>
                <a:srgbClr val="ffffff"/>
              </a:solidFill>
              <a:latin typeface="Arial"/>
            </a:endParaRPr>
          </a:p>
        </p:txBody>
      </p:sp>
      <p:sp>
        <p:nvSpPr>
          <p:cNvPr id="214" name="PlaceHolder 2"/>
          <p:cNvSpPr>
            <a:spLocks noGrp="1"/>
          </p:cNvSpPr>
          <p:nvPr>
            <p:ph type="subTitle"/>
          </p:nvPr>
        </p:nvSpPr>
        <p:spPr>
          <a:xfrm>
            <a:off x="6859080" y="4683600"/>
            <a:ext cx="2053440" cy="225360"/>
          </a:xfrm>
          <a:prstGeom prst="rect">
            <a:avLst/>
          </a:prstGeom>
          <a:noFill/>
          <a:ln w="0">
            <a:noFill/>
          </a:ln>
        </p:spPr>
        <p:txBody>
          <a:bodyPr lIns="0" rIns="0" tIns="0" bIns="0" anchor="b">
            <a:noAutofit/>
          </a:bodyPr>
          <a:p>
            <a:pPr algn="r">
              <a:lnSpc>
                <a:spcPct val="100000"/>
              </a:lnSpc>
              <a:tabLst>
                <a:tab algn="l" pos="0"/>
              </a:tabLst>
            </a:pPr>
            <a:r>
              <a:rPr b="0" lang="en" sz="700" spc="-1" strike="noStrike">
                <a:solidFill>
                  <a:schemeClr val="dk2"/>
                </a:solidFill>
                <a:latin typeface="Urbanist Medium"/>
                <a:ea typeface="Urbanist Medium"/>
              </a:rPr>
              <a:t>Fall 2026</a:t>
            </a:r>
            <a:endParaRPr b="0" lang="en-US" sz="700" spc="-1" strike="noStrike">
              <a:solidFill>
                <a:srgbClr val="ffffff"/>
              </a:solidFill>
              <a:latin typeface="Arial"/>
            </a:endParaRPr>
          </a:p>
        </p:txBody>
      </p:sp>
      <p:sp>
        <p:nvSpPr>
          <p:cNvPr id="215" name="PlaceHolder 3"/>
          <p:cNvSpPr>
            <a:spLocks noGrp="1"/>
          </p:cNvSpPr>
          <p:nvPr>
            <p:ph type="title"/>
          </p:nvPr>
        </p:nvSpPr>
        <p:spPr>
          <a:xfrm>
            <a:off x="228600" y="263880"/>
            <a:ext cx="3901320" cy="969480"/>
          </a:xfrm>
          <a:prstGeom prst="rect">
            <a:avLst/>
          </a:prstGeom>
          <a:noFill/>
          <a:ln w="0">
            <a:noFill/>
          </a:ln>
        </p:spPr>
        <p:txBody>
          <a:bodyPr lIns="0" rIns="91440" tIns="0" bIns="91440" anchor="t">
            <a:noAutofit/>
          </a:bodyPr>
          <a:p>
            <a:pPr indent="0">
              <a:lnSpc>
                <a:spcPct val="85000"/>
              </a:lnSpc>
              <a:buNone/>
              <a:tabLst>
                <a:tab algn="l" pos="0"/>
              </a:tabLst>
            </a:pPr>
            <a:r>
              <a:rPr b="0" lang="en" sz="3400" spc="-1" strike="noStrike">
                <a:solidFill>
                  <a:schemeClr val="dk2"/>
                </a:solidFill>
                <a:latin typeface="Urbanist Medium"/>
                <a:ea typeface="Urbanist Medium"/>
              </a:rPr>
              <a:t>Risks and Concerns</a:t>
            </a:r>
            <a:endParaRPr b="0" lang="en-US" sz="3400" spc="-1" strike="noStrike">
              <a:solidFill>
                <a:srgbClr val="ffffff"/>
              </a:solidFill>
              <a:latin typeface="Arial"/>
            </a:endParaRPr>
          </a:p>
        </p:txBody>
      </p:sp>
      <p:sp>
        <p:nvSpPr>
          <p:cNvPr id="216" name="PlaceHolder 4"/>
          <p:cNvSpPr>
            <a:spLocks noGrp="1"/>
          </p:cNvSpPr>
          <p:nvPr>
            <p:ph type="subTitle"/>
          </p:nvPr>
        </p:nvSpPr>
        <p:spPr>
          <a:xfrm>
            <a:off x="320760" y="4676040"/>
            <a:ext cx="2696760" cy="233280"/>
          </a:xfrm>
          <a:prstGeom prst="rect">
            <a:avLst/>
          </a:prstGeom>
          <a:noFill/>
          <a:ln w="0">
            <a:noFill/>
          </a:ln>
        </p:spPr>
        <p:txBody>
          <a:bodyPr lIns="0" rIns="0" tIns="0" bIns="0" anchor="b">
            <a:noAutofit/>
          </a:bodyPr>
          <a:p>
            <a:pPr indent="0">
              <a:lnSpc>
                <a:spcPct val="115000"/>
              </a:lnSpc>
              <a:buNone/>
              <a:tabLst>
                <a:tab algn="l" pos="0"/>
              </a:tabLst>
            </a:pPr>
            <a:r>
              <a:rPr b="0" lang="en" sz="700" spc="-1" strike="noStrike">
                <a:solidFill>
                  <a:schemeClr val="dk2"/>
                </a:solidFill>
                <a:latin typeface="Urbanist Medium"/>
                <a:ea typeface="Urbanist Medium"/>
              </a:rPr>
              <a:t>Justin Le</a:t>
            </a:r>
            <a:endParaRPr b="0" lang="en-US" sz="700" spc="-1" strike="noStrike">
              <a:solidFill>
                <a:srgbClr val="ffffff"/>
              </a:solidFill>
              <a:latin typeface="Arial"/>
            </a:endParaRPr>
          </a:p>
        </p:txBody>
      </p:sp>
      <p:sp>
        <p:nvSpPr>
          <p:cNvPr id="217" name="Risk list"/>
          <p:cNvSpPr/>
          <p:nvPr/>
        </p:nvSpPr>
        <p:spPr>
          <a:xfrm>
            <a:off x="5074920" y="914400"/>
            <a:ext cx="3839400" cy="3519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tabLst>
                <a:tab algn="l" pos="0"/>
              </a:tabLst>
            </a:pPr>
            <a:r>
              <a:rPr b="0" lang="en-US" sz="1200" spc="-1" strike="noStrike">
                <a:solidFill>
                  <a:schemeClr val="dk2"/>
                </a:solidFill>
                <a:latin typeface="Urbanist SemiBold"/>
                <a:ea typeface="Urbanist SemiBold"/>
              </a:rPr>
              <a:t>1.  SCT-1 is delayed, which delays SCT-2</a:t>
            </a:r>
            <a:endParaRPr b="0" lang="en-US" sz="12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Mitigation: prep SCT-2 in parallel (procedure reviews, GNU Radio development) while SCT-1 finishes</a:t>
            </a:r>
            <a:endParaRPr b="0" lang="en-US" sz="1050" spc="-1" strike="noStrike">
              <a:solidFill>
                <a:srgbClr val="ffffff"/>
              </a:solidFill>
              <a:latin typeface="Arial"/>
            </a:endParaRPr>
          </a:p>
          <a:p>
            <a:pPr>
              <a:lnSpc>
                <a:spcPct val="100000"/>
              </a:lnSpc>
              <a:spcBef>
                <a:spcPts val="901"/>
              </a:spcBef>
              <a:spcAft>
                <a:spcPts val="400"/>
              </a:spcAft>
              <a:tabLst>
                <a:tab algn="l" pos="0"/>
              </a:tabLst>
            </a:pPr>
            <a:r>
              <a:rPr b="0" lang="en-US" sz="1200" spc="-1" strike="noStrike">
                <a:solidFill>
                  <a:schemeClr val="dk2"/>
                </a:solidFill>
                <a:latin typeface="Urbanist SemiBold"/>
                <a:ea typeface="Urbanist SemiBold"/>
              </a:rPr>
              <a:t>2.  SCT-2 needs more development than planned</a:t>
            </a:r>
            <a:endParaRPr b="0" lang="en-US" sz="12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Mitigation: scope the Hydra work at the 10/23 procedure review and reuse the MCT and SCT-1 work</a:t>
            </a:r>
            <a:endParaRPr b="0" lang="en-US" sz="1050" spc="-1" strike="noStrike">
              <a:solidFill>
                <a:srgbClr val="ffffff"/>
              </a:solidFill>
              <a:latin typeface="Arial"/>
            </a:endParaRPr>
          </a:p>
          <a:p>
            <a:pPr>
              <a:lnSpc>
                <a:spcPct val="100000"/>
              </a:lnSpc>
              <a:spcBef>
                <a:spcPts val="901"/>
              </a:spcBef>
              <a:spcAft>
                <a:spcPts val="400"/>
              </a:spcAft>
              <a:tabLst>
                <a:tab algn="l" pos="0"/>
              </a:tabLst>
            </a:pPr>
            <a:r>
              <a:rPr b="0" lang="en-US" sz="1200" spc="-1" strike="noStrike">
                <a:solidFill>
                  <a:schemeClr val="dk2"/>
                </a:solidFill>
                <a:latin typeface="Urbanist SemiBold"/>
                <a:ea typeface="Urbanist SemiBold"/>
              </a:rPr>
              <a:t>3.  Motor interface can’t be resolved or bypassed</a:t>
            </a:r>
            <a:endParaRPr b="0" lang="en-US" sz="12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Mitigation: Elsa is looking into working with Palo and getting help from LASP</a:t>
            </a:r>
            <a:endParaRPr b="0" lang="en-US" sz="1050" spc="-1" strike="noStrike">
              <a:solidFill>
                <a:srgbClr val="ffffff"/>
              </a:solidFill>
              <a:latin typeface="Arial"/>
            </a:endParaRPr>
          </a:p>
          <a:p>
            <a:pPr>
              <a:lnSpc>
                <a:spcPct val="100000"/>
              </a:lnSpc>
              <a:spcBef>
                <a:spcPts val="901"/>
              </a:spcBef>
              <a:spcAft>
                <a:spcPts val="400"/>
              </a:spcAft>
              <a:tabLst>
                <a:tab algn="l" pos="0"/>
              </a:tabLst>
            </a:pPr>
            <a:r>
              <a:rPr b="0" lang="en-US" sz="1200" spc="-1" strike="noStrike">
                <a:solidFill>
                  <a:schemeClr val="dk2"/>
                </a:solidFill>
                <a:latin typeface="Urbanist SemiBold"/>
                <a:ea typeface="Urbanist SemiBold"/>
              </a:rPr>
              <a:t>4.  Delays in ground station bring-up</a:t>
            </a:r>
            <a:endParaRPr b="0" lang="en-US" sz="12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Mitigation: run verification in the chain with the interim laptop setup from MAXWELL</a:t>
            </a:r>
            <a:endParaRPr b="0" lang="en-US" sz="1050" spc="-1" strike="noStrike">
              <a:solidFill>
                <a:srgbClr val="ffffff"/>
              </a:solidFill>
              <a:latin typeface="Arial"/>
            </a:endParaRPr>
          </a:p>
          <a:p>
            <a:pPr>
              <a:lnSpc>
                <a:spcPct val="100000"/>
              </a:lnSpc>
              <a:spcBef>
                <a:spcPts val="901"/>
              </a:spcBef>
              <a:spcAft>
                <a:spcPts val="400"/>
              </a:spcAft>
              <a:tabLst>
                <a:tab algn="l" pos="0"/>
              </a:tabLst>
            </a:pPr>
            <a:r>
              <a:rPr b="0" lang="en-US" sz="1200" spc="-1" strike="noStrike">
                <a:solidFill>
                  <a:schemeClr val="dk2"/>
                </a:solidFill>
                <a:latin typeface="Urbanist SemiBold"/>
                <a:ea typeface="Urbanist SemiBold"/>
              </a:rPr>
              <a:t>5.  Issues verifying the GS PC at COSGC</a:t>
            </a:r>
            <a:endParaRPr b="0" lang="en-US" sz="1200" spc="-1" strike="noStrike">
              <a:solidFill>
                <a:srgbClr val="ffffff"/>
              </a:solidFill>
              <a:latin typeface="Arial"/>
            </a:endParaRPr>
          </a:p>
          <a:p>
            <a:pPr>
              <a:lnSpc>
                <a:spcPct val="100000"/>
              </a:lnSpc>
              <a:tabLst>
                <a:tab algn="l" pos="0"/>
              </a:tabLst>
            </a:pPr>
            <a:r>
              <a:rPr b="0" lang="en-US" sz="1050" spc="-1" strike="noStrike">
                <a:solidFill>
                  <a:schemeClr val="dk2"/>
                </a:solidFill>
                <a:latin typeface="Urbanist"/>
                <a:ea typeface="Urbanist"/>
              </a:rPr>
              <a:t>Mitigation: verify bottom up, with the interim laptop as a fallback</a:t>
            </a:r>
            <a:endParaRPr b="0" lang="en-US" sz="1050" spc="-1" strike="noStrike">
              <a:solidFill>
                <a:srgbClr val="ffffff"/>
              </a:solidFill>
              <a:latin typeface="Arial"/>
            </a:endParaRPr>
          </a:p>
        </p:txBody>
      </p:sp>
      <p:pic>
        <p:nvPicPr>
          <p:cNvPr id="218" name="Risk stoplight chart" descr="riskchart2.png"/>
          <p:cNvPicPr/>
          <p:nvPr/>
        </p:nvPicPr>
        <p:blipFill>
          <a:blip r:embed="rId1"/>
          <a:stretch/>
        </p:blipFill>
        <p:spPr>
          <a:xfrm>
            <a:off x="228600" y="1435320"/>
            <a:ext cx="4570920" cy="25228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228600" y="290520"/>
            <a:ext cx="3652560" cy="1038960"/>
          </a:xfrm>
          <a:prstGeom prst="rect">
            <a:avLst/>
          </a:prstGeom>
          <a:noFill/>
          <a:ln w="0">
            <a:noFill/>
          </a:ln>
        </p:spPr>
        <p:txBody>
          <a:bodyPr lIns="0" rIns="91440" tIns="91440" bIns="91440" anchor="t">
            <a:noAutofit/>
          </a:bodyPr>
          <a:p>
            <a:pPr indent="0">
              <a:lnSpc>
                <a:spcPct val="85000"/>
              </a:lnSpc>
              <a:buNone/>
              <a:tabLst>
                <a:tab algn="l" pos="0"/>
              </a:tabLst>
            </a:pPr>
            <a:r>
              <a:rPr b="0" lang="en" sz="4800" spc="-1" strike="noStrike">
                <a:solidFill>
                  <a:schemeClr val="lt1"/>
                </a:solidFill>
                <a:latin typeface="Urbanist Medium"/>
                <a:ea typeface="Urbanist Medium"/>
              </a:rPr>
              <a:t>Thank you</a:t>
            </a:r>
            <a:endParaRPr b="0" lang="en-US" sz="4800" spc="-1" strike="noStrike">
              <a:solidFill>
                <a:srgbClr val="ffffff"/>
              </a:solidFill>
              <a:latin typeface="Arial"/>
            </a:endParaRPr>
          </a:p>
        </p:txBody>
      </p:sp>
      <p:sp>
        <p:nvSpPr>
          <p:cNvPr id="220" name="Google Shape;1024;p68"/>
          <p:cNvSpPr/>
          <p:nvPr/>
        </p:nvSpPr>
        <p:spPr>
          <a:xfrm>
            <a:off x="228600" y="3299760"/>
            <a:ext cx="843840" cy="22536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2026-10-14T21:39:41Z</dcterms:modified>
  <cp:revision>10</cp:revision>
  <dc:subject/>
  <dc:title/>
</cp:coreProperties>
</file>

<file path=docProps/custom.xml><?xml version="1.0" encoding="utf-8"?>
<Properties xmlns="http://schemas.openxmlformats.org/officeDocument/2006/custom-properties" xmlns:vt="http://schemas.openxmlformats.org/officeDocument/2006/docPropsVTypes"/>
</file>