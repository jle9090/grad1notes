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309360" cy="3429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re-mitigation title"/>
          <p:cNvSpPr txBox="1"/>
          <p:nvPr/>
        </p:nvSpPr>
        <p:spPr>
          <a:xfrm>
            <a:off x="685800" y="1097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Pre-mitigation</a:t>
            </a:r>
          </a:p>
        </p:txBody>
      </p:sp>
      <p:sp>
        <p:nvSpPr>
          <p:cNvPr id="3" name="Pre-mitigation C1 L5"/>
          <p:cNvSpPr/>
          <p:nvPr/>
        </p:nvSpPr>
        <p:spPr>
          <a:xfrm>
            <a:off x="685800" y="457200"/>
            <a:ext cx="475488" cy="475488"/>
          </a:xfrm>
          <a:prstGeom prst="rect">
            <a:avLst/>
          </a:prstGeom>
          <a:solidFill>
            <a:srgbClr val="00B05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4" name="Pre-mitigation C2 L5"/>
          <p:cNvSpPr/>
          <p:nvPr/>
        </p:nvSpPr>
        <p:spPr>
          <a:xfrm>
            <a:off x="1161288" y="457200"/>
            <a:ext cx="475488" cy="475488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5" name="Pre-mitigation C3 L5"/>
          <p:cNvSpPr/>
          <p:nvPr/>
        </p:nvSpPr>
        <p:spPr>
          <a:xfrm>
            <a:off x="1636776" y="457200"/>
            <a:ext cx="475488" cy="475488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6" name="Pre-mitigation C4 L5"/>
          <p:cNvSpPr/>
          <p:nvPr/>
        </p:nvSpPr>
        <p:spPr>
          <a:xfrm>
            <a:off x="2112264" y="457200"/>
            <a:ext cx="475488" cy="475488"/>
          </a:xfrm>
          <a:prstGeom prst="rect">
            <a:avLst/>
          </a:prstGeom>
          <a:solidFill>
            <a:srgbClr val="FF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7" name="Pre-mitigation C5 L5"/>
          <p:cNvSpPr/>
          <p:nvPr/>
        </p:nvSpPr>
        <p:spPr>
          <a:xfrm>
            <a:off x="2587752" y="457200"/>
            <a:ext cx="475488" cy="475488"/>
          </a:xfrm>
          <a:prstGeom prst="rect">
            <a:avLst/>
          </a:prstGeom>
          <a:solidFill>
            <a:srgbClr val="FF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8" name="Pre-mitigation L5"/>
          <p:cNvSpPr txBox="1"/>
          <p:nvPr/>
        </p:nvSpPr>
        <p:spPr>
          <a:xfrm>
            <a:off x="429768" y="457200"/>
            <a:ext cx="182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9" name="Pre-mitigation C1 L4"/>
          <p:cNvSpPr/>
          <p:nvPr/>
        </p:nvSpPr>
        <p:spPr>
          <a:xfrm>
            <a:off x="685800" y="932688"/>
            <a:ext cx="475488" cy="475488"/>
          </a:xfrm>
          <a:prstGeom prst="rect">
            <a:avLst/>
          </a:prstGeom>
          <a:solidFill>
            <a:srgbClr val="00B05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10" name="Pre-mitigation C2 L4"/>
          <p:cNvSpPr/>
          <p:nvPr/>
        </p:nvSpPr>
        <p:spPr>
          <a:xfrm>
            <a:off x="1161288" y="932688"/>
            <a:ext cx="475488" cy="475488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11" name="Pre-mitigation C3 L4"/>
          <p:cNvSpPr/>
          <p:nvPr/>
        </p:nvSpPr>
        <p:spPr>
          <a:xfrm>
            <a:off x="1636776" y="932688"/>
            <a:ext cx="475488" cy="475488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1,2</a:t>
            </a:r>
          </a:p>
        </p:txBody>
      </p:sp>
      <p:sp>
        <p:nvSpPr>
          <p:cNvPr id="12" name="Pre-mitigation C4 L4"/>
          <p:cNvSpPr/>
          <p:nvPr/>
        </p:nvSpPr>
        <p:spPr>
          <a:xfrm>
            <a:off x="2112264" y="932688"/>
            <a:ext cx="475488" cy="475488"/>
          </a:xfrm>
          <a:prstGeom prst="rect">
            <a:avLst/>
          </a:prstGeom>
          <a:solidFill>
            <a:srgbClr val="FF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sp>
        <p:nvSpPr>
          <p:cNvPr id="13" name="Pre-mitigation C5 L4"/>
          <p:cNvSpPr/>
          <p:nvPr/>
        </p:nvSpPr>
        <p:spPr>
          <a:xfrm>
            <a:off x="2587752" y="932688"/>
            <a:ext cx="475488" cy="475488"/>
          </a:xfrm>
          <a:prstGeom prst="rect">
            <a:avLst/>
          </a:prstGeom>
          <a:solidFill>
            <a:srgbClr val="FF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14" name="Pre-mitigation L4"/>
          <p:cNvSpPr txBox="1"/>
          <p:nvPr/>
        </p:nvSpPr>
        <p:spPr>
          <a:xfrm>
            <a:off x="429768" y="932688"/>
            <a:ext cx="182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sp>
        <p:nvSpPr>
          <p:cNvPr id="15" name="Pre-mitigation C1 L3"/>
          <p:cNvSpPr/>
          <p:nvPr/>
        </p:nvSpPr>
        <p:spPr>
          <a:xfrm>
            <a:off x="685800" y="1408176"/>
            <a:ext cx="475488" cy="475488"/>
          </a:xfrm>
          <a:prstGeom prst="rect">
            <a:avLst/>
          </a:prstGeom>
          <a:solidFill>
            <a:srgbClr val="00B05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16" name="Pre-mitigation C2 L3"/>
          <p:cNvSpPr/>
          <p:nvPr/>
        </p:nvSpPr>
        <p:spPr>
          <a:xfrm>
            <a:off x="1161288" y="1408176"/>
            <a:ext cx="475488" cy="475488"/>
          </a:xfrm>
          <a:prstGeom prst="rect">
            <a:avLst/>
          </a:prstGeom>
          <a:solidFill>
            <a:srgbClr val="00B05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17" name="Pre-mitigation C3 L3"/>
          <p:cNvSpPr/>
          <p:nvPr/>
        </p:nvSpPr>
        <p:spPr>
          <a:xfrm>
            <a:off x="1636776" y="1408176"/>
            <a:ext cx="475488" cy="475488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18" name="Pre-mitigation C4 L3"/>
          <p:cNvSpPr/>
          <p:nvPr/>
        </p:nvSpPr>
        <p:spPr>
          <a:xfrm>
            <a:off x="2112264" y="1408176"/>
            <a:ext cx="475488" cy="475488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sp>
        <p:nvSpPr>
          <p:cNvPr id="19" name="Pre-mitigation C5 L3"/>
          <p:cNvSpPr/>
          <p:nvPr/>
        </p:nvSpPr>
        <p:spPr>
          <a:xfrm>
            <a:off x="2587752" y="1408176"/>
            <a:ext cx="475488" cy="475488"/>
          </a:xfrm>
          <a:prstGeom prst="rect">
            <a:avLst/>
          </a:prstGeom>
          <a:solidFill>
            <a:srgbClr val="FF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20" name="Pre-mitigation L3"/>
          <p:cNvSpPr txBox="1"/>
          <p:nvPr/>
        </p:nvSpPr>
        <p:spPr>
          <a:xfrm>
            <a:off x="429768" y="1408176"/>
            <a:ext cx="182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sp>
        <p:nvSpPr>
          <p:cNvPr id="21" name="Pre-mitigation C1 L2"/>
          <p:cNvSpPr/>
          <p:nvPr/>
        </p:nvSpPr>
        <p:spPr>
          <a:xfrm>
            <a:off x="685800" y="1883664"/>
            <a:ext cx="475488" cy="475488"/>
          </a:xfrm>
          <a:prstGeom prst="rect">
            <a:avLst/>
          </a:prstGeom>
          <a:solidFill>
            <a:srgbClr val="00B05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22" name="Pre-mitigation C2 L2"/>
          <p:cNvSpPr/>
          <p:nvPr/>
        </p:nvSpPr>
        <p:spPr>
          <a:xfrm>
            <a:off x="1161288" y="1883664"/>
            <a:ext cx="475488" cy="475488"/>
          </a:xfrm>
          <a:prstGeom prst="rect">
            <a:avLst/>
          </a:prstGeom>
          <a:solidFill>
            <a:srgbClr val="00B05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23" name="Pre-mitigation C3 L2"/>
          <p:cNvSpPr/>
          <p:nvPr/>
        </p:nvSpPr>
        <p:spPr>
          <a:xfrm>
            <a:off x="1636776" y="1883664"/>
            <a:ext cx="475488" cy="475488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24" name="Pre-mitigation C4 L2"/>
          <p:cNvSpPr/>
          <p:nvPr/>
        </p:nvSpPr>
        <p:spPr>
          <a:xfrm>
            <a:off x="2112264" y="1883664"/>
            <a:ext cx="475488" cy="475488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25" name="Pre-mitigation C5 L2"/>
          <p:cNvSpPr/>
          <p:nvPr/>
        </p:nvSpPr>
        <p:spPr>
          <a:xfrm>
            <a:off x="2587752" y="1883664"/>
            <a:ext cx="475488" cy="475488"/>
          </a:xfrm>
          <a:prstGeom prst="rect">
            <a:avLst/>
          </a:prstGeom>
          <a:solidFill>
            <a:srgbClr val="FF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26" name="Pre-mitigation L2"/>
          <p:cNvSpPr txBox="1"/>
          <p:nvPr/>
        </p:nvSpPr>
        <p:spPr>
          <a:xfrm>
            <a:off x="429768" y="1883664"/>
            <a:ext cx="182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sp>
        <p:nvSpPr>
          <p:cNvPr id="27" name="Pre-mitigation C1 L1"/>
          <p:cNvSpPr/>
          <p:nvPr/>
        </p:nvSpPr>
        <p:spPr>
          <a:xfrm>
            <a:off x="685800" y="2359152"/>
            <a:ext cx="475488" cy="475488"/>
          </a:xfrm>
          <a:prstGeom prst="rect">
            <a:avLst/>
          </a:prstGeom>
          <a:solidFill>
            <a:srgbClr val="00B05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28" name="Pre-mitigation C2 L1"/>
          <p:cNvSpPr/>
          <p:nvPr/>
        </p:nvSpPr>
        <p:spPr>
          <a:xfrm>
            <a:off x="1161288" y="2359152"/>
            <a:ext cx="475488" cy="475488"/>
          </a:xfrm>
          <a:prstGeom prst="rect">
            <a:avLst/>
          </a:prstGeom>
          <a:solidFill>
            <a:srgbClr val="00B05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29" name="Pre-mitigation C3 L1"/>
          <p:cNvSpPr/>
          <p:nvPr/>
        </p:nvSpPr>
        <p:spPr>
          <a:xfrm>
            <a:off x="1636776" y="2359152"/>
            <a:ext cx="475488" cy="475488"/>
          </a:xfrm>
          <a:prstGeom prst="rect">
            <a:avLst/>
          </a:prstGeom>
          <a:solidFill>
            <a:srgbClr val="00B05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30" name="Pre-mitigation C4 L1"/>
          <p:cNvSpPr/>
          <p:nvPr/>
        </p:nvSpPr>
        <p:spPr>
          <a:xfrm>
            <a:off x="2112264" y="2359152"/>
            <a:ext cx="475488" cy="475488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31" name="Pre-mitigation C5 L1"/>
          <p:cNvSpPr/>
          <p:nvPr/>
        </p:nvSpPr>
        <p:spPr>
          <a:xfrm>
            <a:off x="2587752" y="2359152"/>
            <a:ext cx="475488" cy="475488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32" name="Pre-mitigation L1"/>
          <p:cNvSpPr txBox="1"/>
          <p:nvPr/>
        </p:nvSpPr>
        <p:spPr>
          <a:xfrm>
            <a:off x="429768" y="2359152"/>
            <a:ext cx="182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sp>
        <p:nvSpPr>
          <p:cNvPr id="33" name="Pre-mitigation C1"/>
          <p:cNvSpPr txBox="1"/>
          <p:nvPr/>
        </p:nvSpPr>
        <p:spPr>
          <a:xfrm>
            <a:off x="685800" y="287121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sp>
        <p:nvSpPr>
          <p:cNvPr id="34" name="Pre-mitigation C2"/>
          <p:cNvSpPr txBox="1"/>
          <p:nvPr/>
        </p:nvSpPr>
        <p:spPr>
          <a:xfrm>
            <a:off x="1161288" y="287121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sp>
        <p:nvSpPr>
          <p:cNvPr id="35" name="Pre-mitigation C3"/>
          <p:cNvSpPr txBox="1"/>
          <p:nvPr/>
        </p:nvSpPr>
        <p:spPr>
          <a:xfrm>
            <a:off x="1636776" y="287121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sp>
        <p:nvSpPr>
          <p:cNvPr id="36" name="Pre-mitigation C4"/>
          <p:cNvSpPr txBox="1"/>
          <p:nvPr/>
        </p:nvSpPr>
        <p:spPr>
          <a:xfrm>
            <a:off x="2112264" y="287121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sp>
        <p:nvSpPr>
          <p:cNvPr id="37" name="Pre-mitigation C5"/>
          <p:cNvSpPr txBox="1"/>
          <p:nvPr/>
        </p:nvSpPr>
        <p:spPr>
          <a:xfrm>
            <a:off x="2587752" y="287121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38" name="Pre-mitigation x axis"/>
          <p:cNvSpPr txBox="1"/>
          <p:nvPr/>
        </p:nvSpPr>
        <p:spPr>
          <a:xfrm>
            <a:off x="685800" y="309067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Consequence</a:t>
            </a:r>
          </a:p>
        </p:txBody>
      </p:sp>
      <p:sp>
        <p:nvSpPr>
          <p:cNvPr id="39" name="Pre-mitigation y axis"/>
          <p:cNvSpPr txBox="1"/>
          <p:nvPr/>
        </p:nvSpPr>
        <p:spPr>
          <a:xfrm rot="16200000">
            <a:off x="-274320" y="15361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Likelihood</a:t>
            </a:r>
          </a:p>
        </p:txBody>
      </p:sp>
      <p:sp>
        <p:nvSpPr>
          <p:cNvPr id="40" name="Post-mitigation title"/>
          <p:cNvSpPr txBox="1"/>
          <p:nvPr/>
        </p:nvSpPr>
        <p:spPr>
          <a:xfrm>
            <a:off x="3703320" y="1097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Post-mitigation</a:t>
            </a:r>
          </a:p>
        </p:txBody>
      </p:sp>
      <p:sp>
        <p:nvSpPr>
          <p:cNvPr id="41" name="Post-mitigation C1 L5"/>
          <p:cNvSpPr/>
          <p:nvPr/>
        </p:nvSpPr>
        <p:spPr>
          <a:xfrm>
            <a:off x="3703320" y="457200"/>
            <a:ext cx="475488" cy="475488"/>
          </a:xfrm>
          <a:prstGeom prst="rect">
            <a:avLst/>
          </a:prstGeom>
          <a:solidFill>
            <a:srgbClr val="00B05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42" name="Post-mitigation C2 L5"/>
          <p:cNvSpPr/>
          <p:nvPr/>
        </p:nvSpPr>
        <p:spPr>
          <a:xfrm>
            <a:off x="4178808" y="457200"/>
            <a:ext cx="475488" cy="475488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43" name="Post-mitigation C3 L5"/>
          <p:cNvSpPr/>
          <p:nvPr/>
        </p:nvSpPr>
        <p:spPr>
          <a:xfrm>
            <a:off x="4654296" y="457200"/>
            <a:ext cx="475488" cy="475488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44" name="Post-mitigation C4 L5"/>
          <p:cNvSpPr/>
          <p:nvPr/>
        </p:nvSpPr>
        <p:spPr>
          <a:xfrm>
            <a:off x="5129783" y="457200"/>
            <a:ext cx="475488" cy="475488"/>
          </a:xfrm>
          <a:prstGeom prst="rect">
            <a:avLst/>
          </a:prstGeom>
          <a:solidFill>
            <a:srgbClr val="FF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45" name="Post-mitigation C5 L5"/>
          <p:cNvSpPr/>
          <p:nvPr/>
        </p:nvSpPr>
        <p:spPr>
          <a:xfrm>
            <a:off x="5605272" y="457200"/>
            <a:ext cx="475488" cy="475488"/>
          </a:xfrm>
          <a:prstGeom prst="rect">
            <a:avLst/>
          </a:prstGeom>
          <a:solidFill>
            <a:srgbClr val="FF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46" name="Post-mitigation L5"/>
          <p:cNvSpPr txBox="1"/>
          <p:nvPr/>
        </p:nvSpPr>
        <p:spPr>
          <a:xfrm>
            <a:off x="3447287" y="457200"/>
            <a:ext cx="182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47" name="Post-mitigation C1 L4"/>
          <p:cNvSpPr/>
          <p:nvPr/>
        </p:nvSpPr>
        <p:spPr>
          <a:xfrm>
            <a:off x="3703320" y="932688"/>
            <a:ext cx="475488" cy="475488"/>
          </a:xfrm>
          <a:prstGeom prst="rect">
            <a:avLst/>
          </a:prstGeom>
          <a:solidFill>
            <a:srgbClr val="00B05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48" name="Post-mitigation C2 L4"/>
          <p:cNvSpPr/>
          <p:nvPr/>
        </p:nvSpPr>
        <p:spPr>
          <a:xfrm>
            <a:off x="4178808" y="932688"/>
            <a:ext cx="475488" cy="475488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49" name="Post-mitigation C3 L4"/>
          <p:cNvSpPr/>
          <p:nvPr/>
        </p:nvSpPr>
        <p:spPr>
          <a:xfrm>
            <a:off x="4654296" y="932688"/>
            <a:ext cx="475488" cy="475488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50" name="Post-mitigation C4 L4"/>
          <p:cNvSpPr/>
          <p:nvPr/>
        </p:nvSpPr>
        <p:spPr>
          <a:xfrm>
            <a:off x="5129783" y="932688"/>
            <a:ext cx="475488" cy="475488"/>
          </a:xfrm>
          <a:prstGeom prst="rect">
            <a:avLst/>
          </a:prstGeom>
          <a:solidFill>
            <a:srgbClr val="FF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51" name="Post-mitigation C5 L4"/>
          <p:cNvSpPr/>
          <p:nvPr/>
        </p:nvSpPr>
        <p:spPr>
          <a:xfrm>
            <a:off x="5605272" y="932688"/>
            <a:ext cx="475488" cy="475488"/>
          </a:xfrm>
          <a:prstGeom prst="rect">
            <a:avLst/>
          </a:prstGeom>
          <a:solidFill>
            <a:srgbClr val="FF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52" name="Post-mitigation L4"/>
          <p:cNvSpPr txBox="1"/>
          <p:nvPr/>
        </p:nvSpPr>
        <p:spPr>
          <a:xfrm>
            <a:off x="3447287" y="932688"/>
            <a:ext cx="182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sp>
        <p:nvSpPr>
          <p:cNvPr id="53" name="Post-mitigation C1 L3"/>
          <p:cNvSpPr/>
          <p:nvPr/>
        </p:nvSpPr>
        <p:spPr>
          <a:xfrm>
            <a:off x="3703320" y="1408176"/>
            <a:ext cx="475488" cy="475488"/>
          </a:xfrm>
          <a:prstGeom prst="rect">
            <a:avLst/>
          </a:prstGeom>
          <a:solidFill>
            <a:srgbClr val="00B05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54" name="Post-mitigation C2 L3"/>
          <p:cNvSpPr/>
          <p:nvPr/>
        </p:nvSpPr>
        <p:spPr>
          <a:xfrm>
            <a:off x="4178808" y="1408176"/>
            <a:ext cx="475488" cy="475488"/>
          </a:xfrm>
          <a:prstGeom prst="rect">
            <a:avLst/>
          </a:prstGeom>
          <a:solidFill>
            <a:srgbClr val="00B05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55" name="Post-mitigation C3 L3"/>
          <p:cNvSpPr/>
          <p:nvPr/>
        </p:nvSpPr>
        <p:spPr>
          <a:xfrm>
            <a:off x="4654296" y="1408176"/>
            <a:ext cx="475488" cy="475488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2,4</a:t>
            </a:r>
          </a:p>
        </p:txBody>
      </p:sp>
      <p:sp>
        <p:nvSpPr>
          <p:cNvPr id="56" name="Post-mitigation C4 L3"/>
          <p:cNvSpPr/>
          <p:nvPr/>
        </p:nvSpPr>
        <p:spPr>
          <a:xfrm>
            <a:off x="5129783" y="1408176"/>
            <a:ext cx="475488" cy="475488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57" name="Post-mitigation C5 L3"/>
          <p:cNvSpPr/>
          <p:nvPr/>
        </p:nvSpPr>
        <p:spPr>
          <a:xfrm>
            <a:off x="5605272" y="1408176"/>
            <a:ext cx="475488" cy="475488"/>
          </a:xfrm>
          <a:prstGeom prst="rect">
            <a:avLst/>
          </a:prstGeom>
          <a:solidFill>
            <a:srgbClr val="FF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58" name="Post-mitigation L3"/>
          <p:cNvSpPr txBox="1"/>
          <p:nvPr/>
        </p:nvSpPr>
        <p:spPr>
          <a:xfrm>
            <a:off x="3447287" y="1408176"/>
            <a:ext cx="182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sp>
        <p:nvSpPr>
          <p:cNvPr id="59" name="Post-mitigation C1 L2"/>
          <p:cNvSpPr/>
          <p:nvPr/>
        </p:nvSpPr>
        <p:spPr>
          <a:xfrm>
            <a:off x="3703320" y="1883664"/>
            <a:ext cx="475488" cy="475488"/>
          </a:xfrm>
          <a:prstGeom prst="rect">
            <a:avLst/>
          </a:prstGeom>
          <a:solidFill>
            <a:srgbClr val="00B05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60" name="Post-mitigation C2 L2"/>
          <p:cNvSpPr/>
          <p:nvPr/>
        </p:nvSpPr>
        <p:spPr>
          <a:xfrm>
            <a:off x="4178808" y="1883664"/>
            <a:ext cx="475488" cy="475488"/>
          </a:xfrm>
          <a:prstGeom prst="rect">
            <a:avLst/>
          </a:prstGeom>
          <a:solidFill>
            <a:srgbClr val="00B05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61" name="Post-mitigation C3 L2"/>
          <p:cNvSpPr/>
          <p:nvPr/>
        </p:nvSpPr>
        <p:spPr>
          <a:xfrm>
            <a:off x="4654296" y="1883664"/>
            <a:ext cx="475488" cy="475488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1,5</a:t>
            </a:r>
          </a:p>
        </p:txBody>
      </p:sp>
      <p:sp>
        <p:nvSpPr>
          <p:cNvPr id="62" name="Post-mitigation C4 L2"/>
          <p:cNvSpPr/>
          <p:nvPr/>
        </p:nvSpPr>
        <p:spPr>
          <a:xfrm>
            <a:off x="5129783" y="1883664"/>
            <a:ext cx="475488" cy="475488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sp>
        <p:nvSpPr>
          <p:cNvPr id="63" name="Post-mitigation C5 L2"/>
          <p:cNvSpPr/>
          <p:nvPr/>
        </p:nvSpPr>
        <p:spPr>
          <a:xfrm>
            <a:off x="5605272" y="1883664"/>
            <a:ext cx="475488" cy="475488"/>
          </a:xfrm>
          <a:prstGeom prst="rect">
            <a:avLst/>
          </a:prstGeom>
          <a:solidFill>
            <a:srgbClr val="FF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64" name="Post-mitigation L2"/>
          <p:cNvSpPr txBox="1"/>
          <p:nvPr/>
        </p:nvSpPr>
        <p:spPr>
          <a:xfrm>
            <a:off x="3447287" y="1883664"/>
            <a:ext cx="182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sp>
        <p:nvSpPr>
          <p:cNvPr id="65" name="Post-mitigation C1 L1"/>
          <p:cNvSpPr/>
          <p:nvPr/>
        </p:nvSpPr>
        <p:spPr>
          <a:xfrm>
            <a:off x="3703320" y="2359152"/>
            <a:ext cx="475488" cy="475488"/>
          </a:xfrm>
          <a:prstGeom prst="rect">
            <a:avLst/>
          </a:prstGeom>
          <a:solidFill>
            <a:srgbClr val="00B05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66" name="Post-mitigation C2 L1"/>
          <p:cNvSpPr/>
          <p:nvPr/>
        </p:nvSpPr>
        <p:spPr>
          <a:xfrm>
            <a:off x="4178808" y="2359152"/>
            <a:ext cx="475488" cy="475488"/>
          </a:xfrm>
          <a:prstGeom prst="rect">
            <a:avLst/>
          </a:prstGeom>
          <a:solidFill>
            <a:srgbClr val="00B05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67" name="Post-mitigation C3 L1"/>
          <p:cNvSpPr/>
          <p:nvPr/>
        </p:nvSpPr>
        <p:spPr>
          <a:xfrm>
            <a:off x="4654296" y="2359152"/>
            <a:ext cx="475488" cy="475488"/>
          </a:xfrm>
          <a:prstGeom prst="rect">
            <a:avLst/>
          </a:prstGeom>
          <a:solidFill>
            <a:srgbClr val="00B05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68" name="Post-mitigation C4 L1"/>
          <p:cNvSpPr/>
          <p:nvPr/>
        </p:nvSpPr>
        <p:spPr>
          <a:xfrm>
            <a:off x="5129783" y="2359152"/>
            <a:ext cx="475488" cy="475488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69" name="Post-mitigation C5 L1"/>
          <p:cNvSpPr/>
          <p:nvPr/>
        </p:nvSpPr>
        <p:spPr>
          <a:xfrm>
            <a:off x="5605272" y="2359152"/>
            <a:ext cx="475488" cy="475488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70" name="Post-mitigation L1"/>
          <p:cNvSpPr txBox="1"/>
          <p:nvPr/>
        </p:nvSpPr>
        <p:spPr>
          <a:xfrm>
            <a:off x="3447287" y="2359152"/>
            <a:ext cx="182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sp>
        <p:nvSpPr>
          <p:cNvPr id="71" name="Post-mitigation C1"/>
          <p:cNvSpPr txBox="1"/>
          <p:nvPr/>
        </p:nvSpPr>
        <p:spPr>
          <a:xfrm>
            <a:off x="3703320" y="287121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sp>
        <p:nvSpPr>
          <p:cNvPr id="72" name="Post-mitigation C2"/>
          <p:cNvSpPr txBox="1"/>
          <p:nvPr/>
        </p:nvSpPr>
        <p:spPr>
          <a:xfrm>
            <a:off x="4178808" y="287121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sp>
        <p:nvSpPr>
          <p:cNvPr id="73" name="Post-mitigation C3"/>
          <p:cNvSpPr txBox="1"/>
          <p:nvPr/>
        </p:nvSpPr>
        <p:spPr>
          <a:xfrm>
            <a:off x="4654296" y="287121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sp>
        <p:nvSpPr>
          <p:cNvPr id="74" name="Post-mitigation C4"/>
          <p:cNvSpPr txBox="1"/>
          <p:nvPr/>
        </p:nvSpPr>
        <p:spPr>
          <a:xfrm>
            <a:off x="5129783" y="287121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sp>
        <p:nvSpPr>
          <p:cNvPr id="75" name="Post-mitigation C5"/>
          <p:cNvSpPr txBox="1"/>
          <p:nvPr/>
        </p:nvSpPr>
        <p:spPr>
          <a:xfrm>
            <a:off x="5605272" y="287121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76" name="Post-mitigation x axis"/>
          <p:cNvSpPr txBox="1"/>
          <p:nvPr/>
        </p:nvSpPr>
        <p:spPr>
          <a:xfrm>
            <a:off x="3703320" y="309067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Consequence</a:t>
            </a:r>
          </a:p>
        </p:txBody>
      </p:sp>
      <p:sp>
        <p:nvSpPr>
          <p:cNvPr id="77" name="Post-mitigation y axis"/>
          <p:cNvSpPr txBox="1"/>
          <p:nvPr/>
        </p:nvSpPr>
        <p:spPr>
          <a:xfrm rot="16200000">
            <a:off x="2743200" y="15361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Likelihood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