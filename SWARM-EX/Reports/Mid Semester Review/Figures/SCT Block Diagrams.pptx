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  <a:latin typeface="Arial"/>
              </a:rPr>
              <a:t>SCT test tiers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What each tier adds to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188720"/>
            <a:ext cx="3611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Arial"/>
              </a:rPr>
              <a:t>Ground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0" y="1188720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595959"/>
                </a:solidFill>
                <a:latin typeface="Arial"/>
              </a:rPr>
              <a:t>Flatsat</a:t>
            </a:r>
          </a:p>
        </p:txBody>
      </p:sp>
      <p:sp>
        <p:nvSpPr>
          <p:cNvPr id="6" name="SCT-1 label"/>
          <p:cNvSpPr txBox="1"/>
          <p:nvPr/>
        </p:nvSpPr>
        <p:spPr>
          <a:xfrm>
            <a:off x="365760" y="1508760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Arial"/>
              </a:rPr>
              <a:t>SCT-1</a:t>
            </a:r>
          </a:p>
        </p:txBody>
      </p:sp>
      <p:sp>
        <p:nvSpPr>
          <p:cNvPr id="7" name="Block - Hydra"/>
          <p:cNvSpPr/>
          <p:nvPr/>
        </p:nvSpPr>
        <p:spPr>
          <a:xfrm>
            <a:off x="1188720" y="1508760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Hydra</a:t>
            </a:r>
          </a:p>
        </p:txBody>
      </p:sp>
      <p:sp>
        <p:nvSpPr>
          <p:cNvPr id="8" name="Block - CDH"/>
          <p:cNvSpPr/>
          <p:nvPr/>
        </p:nvSpPr>
        <p:spPr>
          <a:xfrm>
            <a:off x="7680960" y="1508760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CDH</a:t>
            </a:r>
          </a:p>
        </p:txBody>
      </p:sp>
      <p:cxnSp>
        <p:nvCxnSpPr>
          <p:cNvPr id="9" name="SCT-1 Hydra-CDH"/>
          <p:cNvCxnSpPr/>
          <p:nvPr/>
        </p:nvCxnSpPr>
        <p:spPr>
          <a:xfrm>
            <a:off x="1947672" y="1760219"/>
            <a:ext cx="5705856" cy="0"/>
          </a:xfrm>
          <a:prstGeom prst="line">
            <a:avLst/>
          </a:prstGeom>
          <a:ln w="19050">
            <a:solidFill>
              <a:srgbClr val="40404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CT-1 link label"/>
          <p:cNvSpPr txBox="1"/>
          <p:nvPr/>
        </p:nvSpPr>
        <p:spPr>
          <a:xfrm>
            <a:off x="1920240" y="1490472"/>
            <a:ext cx="5760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Hardwired</a:t>
            </a:r>
          </a:p>
        </p:txBody>
      </p:sp>
      <p:sp>
        <p:nvSpPr>
          <p:cNvPr id="11" name="SCT-2 label"/>
          <p:cNvSpPr txBox="1"/>
          <p:nvPr/>
        </p:nvSpPr>
        <p:spPr>
          <a:xfrm>
            <a:off x="365760" y="2221991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Arial"/>
              </a:rPr>
              <a:t>SCT-2</a:t>
            </a:r>
          </a:p>
        </p:txBody>
      </p:sp>
      <p:sp>
        <p:nvSpPr>
          <p:cNvPr id="12" name="Block - Hydra"/>
          <p:cNvSpPr/>
          <p:nvPr/>
        </p:nvSpPr>
        <p:spPr>
          <a:xfrm>
            <a:off x="1188720" y="2221991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Hydra</a:t>
            </a:r>
          </a:p>
        </p:txBody>
      </p:sp>
      <p:sp>
        <p:nvSpPr>
          <p:cNvPr id="13" name="Block - GNU Radio"/>
          <p:cNvSpPr/>
          <p:nvPr/>
        </p:nvSpPr>
        <p:spPr>
          <a:xfrm>
            <a:off x="2148840" y="2221991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DEFF9A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GNU Radio</a:t>
            </a:r>
          </a:p>
        </p:txBody>
      </p:sp>
      <p:sp>
        <p:nvSpPr>
          <p:cNvPr id="14" name="Block - SDR"/>
          <p:cNvSpPr/>
          <p:nvPr/>
        </p:nvSpPr>
        <p:spPr>
          <a:xfrm>
            <a:off x="3108960" y="2221991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DEFF9A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SDR</a:t>
            </a:r>
          </a:p>
        </p:txBody>
      </p:sp>
      <p:sp>
        <p:nvSpPr>
          <p:cNvPr id="15" name="Block - Li-2"/>
          <p:cNvSpPr/>
          <p:nvPr/>
        </p:nvSpPr>
        <p:spPr>
          <a:xfrm>
            <a:off x="6720840" y="2221991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DEFF9A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Li-2</a:t>
            </a:r>
          </a:p>
        </p:txBody>
      </p:sp>
      <p:sp>
        <p:nvSpPr>
          <p:cNvPr id="16" name="Block - CDH"/>
          <p:cNvSpPr/>
          <p:nvPr/>
        </p:nvSpPr>
        <p:spPr>
          <a:xfrm>
            <a:off x="7680960" y="2221991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CDH</a:t>
            </a:r>
          </a:p>
        </p:txBody>
      </p:sp>
      <p:cxnSp>
        <p:nvCxnSpPr>
          <p:cNvPr id="17" name="SCT-2 Hydra-GNU Radio"/>
          <p:cNvCxnSpPr/>
          <p:nvPr/>
        </p:nvCxnSpPr>
        <p:spPr>
          <a:xfrm>
            <a:off x="1947672" y="2473451"/>
            <a:ext cx="173736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CT-2 GNU Radio-SDR"/>
          <p:cNvCxnSpPr/>
          <p:nvPr/>
        </p:nvCxnSpPr>
        <p:spPr>
          <a:xfrm>
            <a:off x="2907792" y="2473451"/>
            <a:ext cx="173736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CT-2 SDR-Li-2"/>
          <p:cNvCxnSpPr/>
          <p:nvPr/>
        </p:nvCxnSpPr>
        <p:spPr>
          <a:xfrm>
            <a:off x="3867912" y="2473451"/>
            <a:ext cx="2825495" cy="0"/>
          </a:xfrm>
          <a:prstGeom prst="line">
            <a:avLst/>
          </a:prstGeom>
          <a:ln w="19050">
            <a:solidFill>
              <a:srgbClr val="40404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CT-2 link label"/>
          <p:cNvSpPr txBox="1"/>
          <p:nvPr/>
        </p:nvSpPr>
        <p:spPr>
          <a:xfrm>
            <a:off x="3840480" y="2203703"/>
            <a:ext cx="288035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Hardline RF</a:t>
            </a:r>
          </a:p>
        </p:txBody>
      </p:sp>
      <p:cxnSp>
        <p:nvCxnSpPr>
          <p:cNvPr id="21" name="SCT-2 Li-2-CDH"/>
          <p:cNvCxnSpPr/>
          <p:nvPr/>
        </p:nvCxnSpPr>
        <p:spPr>
          <a:xfrm>
            <a:off x="7479792" y="2473451"/>
            <a:ext cx="173736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CT-3 label"/>
          <p:cNvSpPr txBox="1"/>
          <p:nvPr/>
        </p:nvSpPr>
        <p:spPr>
          <a:xfrm>
            <a:off x="365760" y="2935224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Arial"/>
              </a:rPr>
              <a:t>SCT-3</a:t>
            </a:r>
          </a:p>
        </p:txBody>
      </p:sp>
      <p:sp>
        <p:nvSpPr>
          <p:cNvPr id="23" name="Block - Hydra"/>
          <p:cNvSpPr/>
          <p:nvPr/>
        </p:nvSpPr>
        <p:spPr>
          <a:xfrm>
            <a:off x="1188720" y="2935224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Hydra</a:t>
            </a:r>
          </a:p>
        </p:txBody>
      </p:sp>
      <p:sp>
        <p:nvSpPr>
          <p:cNvPr id="24" name="Block - GNU Radio"/>
          <p:cNvSpPr/>
          <p:nvPr/>
        </p:nvSpPr>
        <p:spPr>
          <a:xfrm>
            <a:off x="2148840" y="2935224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GNU Radio</a:t>
            </a:r>
          </a:p>
        </p:txBody>
      </p:sp>
      <p:sp>
        <p:nvSpPr>
          <p:cNvPr id="25" name="Block - SDR"/>
          <p:cNvSpPr/>
          <p:nvPr/>
        </p:nvSpPr>
        <p:spPr>
          <a:xfrm>
            <a:off x="3108960" y="2935224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SDR</a:t>
            </a:r>
          </a:p>
        </p:txBody>
      </p:sp>
      <p:sp>
        <p:nvSpPr>
          <p:cNvPr id="26" name="Block - GS antenna"/>
          <p:cNvSpPr/>
          <p:nvPr/>
        </p:nvSpPr>
        <p:spPr>
          <a:xfrm>
            <a:off x="4069080" y="2935224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DEFF9A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GS antenna</a:t>
            </a:r>
          </a:p>
        </p:txBody>
      </p:sp>
      <p:sp>
        <p:nvSpPr>
          <p:cNvPr id="27" name="Block - Antenna"/>
          <p:cNvSpPr/>
          <p:nvPr/>
        </p:nvSpPr>
        <p:spPr>
          <a:xfrm>
            <a:off x="5760720" y="2935224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DEFF9A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Antenna</a:t>
            </a:r>
          </a:p>
        </p:txBody>
      </p:sp>
      <p:sp>
        <p:nvSpPr>
          <p:cNvPr id="28" name="Block - Li-2"/>
          <p:cNvSpPr/>
          <p:nvPr/>
        </p:nvSpPr>
        <p:spPr>
          <a:xfrm>
            <a:off x="6720840" y="2935224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Li-2</a:t>
            </a:r>
          </a:p>
        </p:txBody>
      </p:sp>
      <p:sp>
        <p:nvSpPr>
          <p:cNvPr id="29" name="Block - CDH"/>
          <p:cNvSpPr/>
          <p:nvPr/>
        </p:nvSpPr>
        <p:spPr>
          <a:xfrm>
            <a:off x="7680960" y="2935224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CDH</a:t>
            </a:r>
          </a:p>
        </p:txBody>
      </p:sp>
      <p:cxnSp>
        <p:nvCxnSpPr>
          <p:cNvPr id="30" name="SCT-3 Hydra-GNU Radio"/>
          <p:cNvCxnSpPr/>
          <p:nvPr/>
        </p:nvCxnSpPr>
        <p:spPr>
          <a:xfrm>
            <a:off x="1947672" y="3186684"/>
            <a:ext cx="173736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CT-3 GNU Radio-SDR"/>
          <p:cNvCxnSpPr/>
          <p:nvPr/>
        </p:nvCxnSpPr>
        <p:spPr>
          <a:xfrm>
            <a:off x="2907792" y="3186684"/>
            <a:ext cx="173736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CT-3 SDR-GS antenna"/>
          <p:cNvCxnSpPr/>
          <p:nvPr/>
        </p:nvCxnSpPr>
        <p:spPr>
          <a:xfrm>
            <a:off x="3867912" y="3186684"/>
            <a:ext cx="173736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CT-3 GS antenna-Antenna"/>
          <p:cNvCxnSpPr/>
          <p:nvPr/>
        </p:nvCxnSpPr>
        <p:spPr>
          <a:xfrm>
            <a:off x="4828032" y="3186684"/>
            <a:ext cx="905256" cy="0"/>
          </a:xfrm>
          <a:prstGeom prst="line">
            <a:avLst/>
          </a:prstGeom>
          <a:ln w="19050">
            <a:solidFill>
              <a:srgbClr val="404040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SCT-3 link label"/>
          <p:cNvSpPr txBox="1"/>
          <p:nvPr/>
        </p:nvSpPr>
        <p:spPr>
          <a:xfrm>
            <a:off x="4800600" y="2916936"/>
            <a:ext cx="9601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Short range</a:t>
            </a:r>
          </a:p>
        </p:txBody>
      </p:sp>
      <p:cxnSp>
        <p:nvCxnSpPr>
          <p:cNvPr id="35" name="SCT-3 Antenna-Li-2"/>
          <p:cNvCxnSpPr/>
          <p:nvPr/>
        </p:nvCxnSpPr>
        <p:spPr>
          <a:xfrm>
            <a:off x="6519672" y="3186684"/>
            <a:ext cx="173735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CT-3 Li-2-CDH"/>
          <p:cNvCxnSpPr/>
          <p:nvPr/>
        </p:nvCxnSpPr>
        <p:spPr>
          <a:xfrm>
            <a:off x="7479792" y="3186684"/>
            <a:ext cx="173736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SCT-4 label"/>
          <p:cNvSpPr txBox="1"/>
          <p:nvPr/>
        </p:nvSpPr>
        <p:spPr>
          <a:xfrm>
            <a:off x="365760" y="3648456"/>
            <a:ext cx="731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1F1F1F"/>
                </a:solidFill>
                <a:latin typeface="Arial"/>
              </a:rPr>
              <a:t>SCT-4</a:t>
            </a:r>
          </a:p>
        </p:txBody>
      </p:sp>
      <p:sp>
        <p:nvSpPr>
          <p:cNvPr id="38" name="Block - Hydra"/>
          <p:cNvSpPr/>
          <p:nvPr/>
        </p:nvSpPr>
        <p:spPr>
          <a:xfrm>
            <a:off x="1188720" y="3648456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Hydra</a:t>
            </a:r>
          </a:p>
        </p:txBody>
      </p:sp>
      <p:sp>
        <p:nvSpPr>
          <p:cNvPr id="39" name="Block - GNU Radio"/>
          <p:cNvSpPr/>
          <p:nvPr/>
        </p:nvSpPr>
        <p:spPr>
          <a:xfrm>
            <a:off x="2148840" y="3648456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GNU Radio</a:t>
            </a:r>
          </a:p>
        </p:txBody>
      </p:sp>
      <p:sp>
        <p:nvSpPr>
          <p:cNvPr id="40" name="Block - SDR"/>
          <p:cNvSpPr/>
          <p:nvPr/>
        </p:nvSpPr>
        <p:spPr>
          <a:xfrm>
            <a:off x="3108960" y="3648456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SDR</a:t>
            </a:r>
          </a:p>
        </p:txBody>
      </p:sp>
      <p:sp>
        <p:nvSpPr>
          <p:cNvPr id="41" name="Block - GS antenna"/>
          <p:cNvSpPr/>
          <p:nvPr/>
        </p:nvSpPr>
        <p:spPr>
          <a:xfrm>
            <a:off x="4069080" y="3648456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GS antenna</a:t>
            </a:r>
          </a:p>
        </p:txBody>
      </p:sp>
      <p:sp>
        <p:nvSpPr>
          <p:cNvPr id="42" name="Block - Antenna"/>
          <p:cNvSpPr/>
          <p:nvPr/>
        </p:nvSpPr>
        <p:spPr>
          <a:xfrm>
            <a:off x="5760720" y="3648456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Antenna</a:t>
            </a:r>
          </a:p>
        </p:txBody>
      </p:sp>
      <p:sp>
        <p:nvSpPr>
          <p:cNvPr id="43" name="Block - Li-2"/>
          <p:cNvSpPr/>
          <p:nvPr/>
        </p:nvSpPr>
        <p:spPr>
          <a:xfrm>
            <a:off x="6720840" y="3648456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Li-2</a:t>
            </a:r>
          </a:p>
        </p:txBody>
      </p:sp>
      <p:sp>
        <p:nvSpPr>
          <p:cNvPr id="44" name="Block - CDH"/>
          <p:cNvSpPr/>
          <p:nvPr/>
        </p:nvSpPr>
        <p:spPr>
          <a:xfrm>
            <a:off x="7680960" y="3648456"/>
            <a:ext cx="73152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CDH</a:t>
            </a:r>
          </a:p>
        </p:txBody>
      </p:sp>
      <p:cxnSp>
        <p:nvCxnSpPr>
          <p:cNvPr id="45" name="SCT-4 Hydra-GNU Radio"/>
          <p:cNvCxnSpPr/>
          <p:nvPr/>
        </p:nvCxnSpPr>
        <p:spPr>
          <a:xfrm>
            <a:off x="1947672" y="3899916"/>
            <a:ext cx="173736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CT-4 GNU Radio-SDR"/>
          <p:cNvCxnSpPr/>
          <p:nvPr/>
        </p:nvCxnSpPr>
        <p:spPr>
          <a:xfrm>
            <a:off x="2907792" y="3899916"/>
            <a:ext cx="173736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CT-4 SDR-GS antenna"/>
          <p:cNvCxnSpPr/>
          <p:nvPr/>
        </p:nvCxnSpPr>
        <p:spPr>
          <a:xfrm>
            <a:off x="3867912" y="3899916"/>
            <a:ext cx="173736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CT-4 GS antenna-Antenna"/>
          <p:cNvCxnSpPr/>
          <p:nvPr/>
        </p:nvCxnSpPr>
        <p:spPr>
          <a:xfrm>
            <a:off x="4828032" y="3899916"/>
            <a:ext cx="905256" cy="0"/>
          </a:xfrm>
          <a:prstGeom prst="line">
            <a:avLst/>
          </a:prstGeom>
          <a:ln w="19050">
            <a:solidFill>
              <a:srgbClr val="404040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SCT-4 link label"/>
          <p:cNvSpPr txBox="1"/>
          <p:nvPr/>
        </p:nvSpPr>
        <p:spPr>
          <a:xfrm>
            <a:off x="4800600" y="3630168"/>
            <a:ext cx="96011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F1F1F"/>
                </a:solidFill>
                <a:latin typeface="Arial"/>
              </a:rPr>
              <a:t>Long range</a:t>
            </a:r>
          </a:p>
        </p:txBody>
      </p:sp>
      <p:cxnSp>
        <p:nvCxnSpPr>
          <p:cNvPr id="50" name="SCT-4 Antenna-Li-2"/>
          <p:cNvCxnSpPr/>
          <p:nvPr/>
        </p:nvCxnSpPr>
        <p:spPr>
          <a:xfrm>
            <a:off x="6519672" y="3899916"/>
            <a:ext cx="173735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CT-4 Li-2-CDH"/>
          <p:cNvCxnSpPr/>
          <p:nvPr/>
        </p:nvCxnSpPr>
        <p:spPr>
          <a:xfrm>
            <a:off x="7479792" y="3899916"/>
            <a:ext cx="173736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Legend swatch"/>
          <p:cNvSpPr/>
          <p:nvPr/>
        </p:nvSpPr>
        <p:spPr>
          <a:xfrm>
            <a:off x="365760" y="4526280"/>
            <a:ext cx="274320" cy="164592"/>
          </a:xfrm>
          <a:prstGeom prst="roundRect">
            <a:avLst/>
          </a:prstGeom>
          <a:solidFill>
            <a:srgbClr val="DEFF9A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egend text"/>
          <p:cNvSpPr txBox="1"/>
          <p:nvPr/>
        </p:nvSpPr>
        <p:spPr>
          <a:xfrm>
            <a:off x="731520" y="4517136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New in this tier</a:t>
            </a:r>
          </a:p>
        </p:txBody>
      </p:sp>
      <p:sp>
        <p:nvSpPr>
          <p:cNvPr id="54" name="Line legend"/>
          <p:cNvSpPr txBox="1"/>
          <p:nvPr/>
        </p:nvSpPr>
        <p:spPr>
          <a:xfrm>
            <a:off x="2926080" y="4517136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95959"/>
                </a:solidFill>
                <a:latin typeface="Arial"/>
              </a:rPr>
              <a:t>Solid: cabled link   Dashed: over the air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  <a:latin typeface="Arial"/>
              </a:rPr>
              <a:t>MCT: Hydra to CDH to Li-2 over UART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Verifies commands from Hydra reach the Li-2 through CDH and are acknowledged</a:t>
            </a:r>
          </a:p>
        </p:txBody>
      </p:sp>
      <p:sp>
        <p:nvSpPr>
          <p:cNvPr id="4" name="Group - Ground side"/>
          <p:cNvSpPr/>
          <p:nvPr/>
        </p:nvSpPr>
        <p:spPr>
          <a:xfrm>
            <a:off x="365760" y="1325880"/>
            <a:ext cx="2743200" cy="27432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 label - Ground side"/>
          <p:cNvSpPr txBox="1"/>
          <p:nvPr/>
        </p:nvSpPr>
        <p:spPr>
          <a:xfrm>
            <a:off x="502920" y="1417320"/>
            <a:ext cx="24688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Arial"/>
              </a:rPr>
              <a:t>Ground side</a:t>
            </a:r>
          </a:p>
        </p:txBody>
      </p:sp>
      <p:sp>
        <p:nvSpPr>
          <p:cNvPr id="6" name="Group - Flatsat"/>
          <p:cNvSpPr/>
          <p:nvPr/>
        </p:nvSpPr>
        <p:spPr>
          <a:xfrm>
            <a:off x="4297680" y="1325880"/>
            <a:ext cx="4480560" cy="27432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oup label - Flatsat"/>
          <p:cNvSpPr txBox="1"/>
          <p:nvPr/>
        </p:nvSpPr>
        <p:spPr>
          <a:xfrm>
            <a:off x="4434840" y="1417320"/>
            <a:ext cx="4206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Arial"/>
              </a:rPr>
              <a:t>Flatsat</a:t>
            </a:r>
          </a:p>
        </p:txBody>
      </p:sp>
      <p:sp>
        <p:nvSpPr>
          <p:cNvPr id="8" name="Block - Hydra"/>
          <p:cNvSpPr/>
          <p:nvPr/>
        </p:nvSpPr>
        <p:spPr>
          <a:xfrm>
            <a:off x="685800" y="2011680"/>
            <a:ext cx="210312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Hydra</a:t>
            </a:r>
          </a:p>
          <a:p>
            <a:pPr algn="ctr"/>
            <a:r>
              <a:rPr sz="900">
                <a:solidFill>
                  <a:srgbClr val="595959"/>
                </a:solidFill>
                <a:latin typeface="Arial"/>
              </a:rPr>
              <a:t>Sends commands</a:t>
            </a:r>
          </a:p>
        </p:txBody>
      </p:sp>
      <p:sp>
        <p:nvSpPr>
          <p:cNvPr id="9" name="Block - CDH"/>
          <p:cNvSpPr/>
          <p:nvPr/>
        </p:nvSpPr>
        <p:spPr>
          <a:xfrm>
            <a:off x="4572000" y="2011680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CDH</a:t>
            </a:r>
          </a:p>
        </p:txBody>
      </p:sp>
      <p:sp>
        <p:nvSpPr>
          <p:cNvPr id="10" name="Block - Li-2"/>
          <p:cNvSpPr/>
          <p:nvPr/>
        </p:nvSpPr>
        <p:spPr>
          <a:xfrm>
            <a:off x="7040880" y="2011680"/>
            <a:ext cx="14630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Li-2</a:t>
            </a:r>
          </a:p>
        </p:txBody>
      </p:sp>
      <p:cxnSp>
        <p:nvCxnSpPr>
          <p:cNvPr id="11" name="Command"/>
          <p:cNvCxnSpPr/>
          <p:nvPr/>
        </p:nvCxnSpPr>
        <p:spPr>
          <a:xfrm>
            <a:off x="2834640" y="2240280"/>
            <a:ext cx="1691640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08960" y="194767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Command</a:t>
            </a:r>
          </a:p>
        </p:txBody>
      </p:sp>
      <p:cxnSp>
        <p:nvCxnSpPr>
          <p:cNvPr id="13" name="Acknowledgment"/>
          <p:cNvCxnSpPr/>
          <p:nvPr/>
        </p:nvCxnSpPr>
        <p:spPr>
          <a:xfrm flipH="1">
            <a:off x="2834640" y="2651760"/>
            <a:ext cx="1691640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017520" y="2724912"/>
            <a:ext cx="1371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Acknowledgment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154680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Hardwired UART</a:t>
            </a:r>
          </a:p>
        </p:txBody>
      </p:sp>
      <p:cxnSp>
        <p:nvCxnSpPr>
          <p:cNvPr id="16" name="CDH-Li-2 UART"/>
          <p:cNvCxnSpPr/>
          <p:nvPr/>
        </p:nvCxnSpPr>
        <p:spPr>
          <a:xfrm>
            <a:off x="6062472" y="2441448"/>
            <a:ext cx="950976" cy="0"/>
          </a:xfrm>
          <a:prstGeom prst="line">
            <a:avLst/>
          </a:prstGeom>
          <a:ln w="19050">
            <a:solidFill>
              <a:srgbClr val="40404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035040" y="216712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UART</a:t>
            </a:r>
          </a:p>
        </p:txBody>
      </p:sp>
      <p:sp>
        <p:nvSpPr>
          <p:cNvPr id="18" name="Block - Logic analyzer"/>
          <p:cNvSpPr/>
          <p:nvPr/>
        </p:nvSpPr>
        <p:spPr>
          <a:xfrm>
            <a:off x="5760720" y="3291840"/>
            <a:ext cx="219456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Logic analyzer</a:t>
            </a:r>
          </a:p>
          <a:p>
            <a:pPr algn="ctr"/>
            <a:r>
              <a:rPr sz="900">
                <a:solidFill>
                  <a:srgbClr val="595959"/>
                </a:solidFill>
                <a:latin typeface="Arial"/>
              </a:rPr>
              <a:t>Checks no-op, transmit, reset</a:t>
            </a:r>
          </a:p>
        </p:txBody>
      </p:sp>
      <p:cxnSp>
        <p:nvCxnSpPr>
          <p:cNvPr id="19" name="Probe"/>
          <p:cNvCxnSpPr/>
          <p:nvPr/>
        </p:nvCxnSpPr>
        <p:spPr>
          <a:xfrm>
            <a:off x="6537960" y="2487168"/>
            <a:ext cx="0" cy="777240"/>
          </a:xfrm>
          <a:prstGeom prst="line">
            <a:avLst/>
          </a:prstGeom>
          <a:ln w="19050">
            <a:solidFill>
              <a:srgbClr val="40404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65760" y="4224528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Commands reach the Li-2 over UART only, with no RF link to the ground side.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Built up one interface at a time: Hydra straight to the Li-2 first, then with CDH in the loop.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  <a:latin typeface="Arial"/>
              </a:rPr>
              <a:t>SCT-1: Hardwired CDH and Hydra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Verifies CDH reads Hydra’s command bytes and Hydra reads CDH’s telemetry bytes, with no wireless link</a:t>
            </a:r>
          </a:p>
        </p:txBody>
      </p:sp>
      <p:sp>
        <p:nvSpPr>
          <p:cNvPr id="4" name="Group - Ground side"/>
          <p:cNvSpPr/>
          <p:nvPr/>
        </p:nvSpPr>
        <p:spPr>
          <a:xfrm>
            <a:off x="365760" y="1325880"/>
            <a:ext cx="3017520" cy="27432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 label - Ground side"/>
          <p:cNvSpPr txBox="1"/>
          <p:nvPr/>
        </p:nvSpPr>
        <p:spPr>
          <a:xfrm>
            <a:off x="502920" y="14173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Arial"/>
              </a:rPr>
              <a:t>Ground side</a:t>
            </a:r>
          </a:p>
        </p:txBody>
      </p:sp>
      <p:sp>
        <p:nvSpPr>
          <p:cNvPr id="6" name="Group - Flatsat"/>
          <p:cNvSpPr/>
          <p:nvPr/>
        </p:nvSpPr>
        <p:spPr>
          <a:xfrm>
            <a:off x="5760720" y="1325880"/>
            <a:ext cx="3017520" cy="274320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oup label - Flatsat"/>
          <p:cNvSpPr txBox="1"/>
          <p:nvPr/>
        </p:nvSpPr>
        <p:spPr>
          <a:xfrm>
            <a:off x="5897880" y="141732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Arial"/>
              </a:rPr>
              <a:t>Flatsat</a:t>
            </a:r>
          </a:p>
        </p:txBody>
      </p:sp>
      <p:sp>
        <p:nvSpPr>
          <p:cNvPr id="8" name="Block - Hydra"/>
          <p:cNvSpPr/>
          <p:nvPr/>
        </p:nvSpPr>
        <p:spPr>
          <a:xfrm>
            <a:off x="731520" y="201168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Hydra</a:t>
            </a:r>
          </a:p>
          <a:p>
            <a:pPr algn="ctr"/>
            <a:r>
              <a:rPr sz="900">
                <a:solidFill>
                  <a:srgbClr val="595959"/>
                </a:solidFill>
                <a:latin typeface="Arial"/>
              </a:rPr>
              <a:t>Sends command, shows telemetry</a:t>
            </a:r>
          </a:p>
        </p:txBody>
      </p:sp>
      <p:sp>
        <p:nvSpPr>
          <p:cNvPr id="9" name="Block - CDH"/>
          <p:cNvSpPr/>
          <p:nvPr/>
        </p:nvSpPr>
        <p:spPr>
          <a:xfrm>
            <a:off x="6126480" y="2011680"/>
            <a:ext cx="22860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CDH</a:t>
            </a:r>
          </a:p>
        </p:txBody>
      </p:sp>
      <p:sp>
        <p:nvSpPr>
          <p:cNvPr id="10" name="Block - CDH terminal"/>
          <p:cNvSpPr/>
          <p:nvPr/>
        </p:nvSpPr>
        <p:spPr>
          <a:xfrm>
            <a:off x="6126480" y="3291840"/>
            <a:ext cx="2286000" cy="548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CDH terminal</a:t>
            </a:r>
          </a:p>
          <a:p>
            <a:pPr algn="ctr"/>
            <a:r>
              <a:rPr sz="900">
                <a:solidFill>
                  <a:srgbClr val="595959"/>
                </a:solidFill>
                <a:latin typeface="Arial"/>
              </a:rPr>
              <a:t>Verify command received</a:t>
            </a:r>
          </a:p>
        </p:txBody>
      </p:sp>
      <p:cxnSp>
        <p:nvCxnSpPr>
          <p:cNvPr id="11" name="Command"/>
          <p:cNvCxnSpPr/>
          <p:nvPr/>
        </p:nvCxnSpPr>
        <p:spPr>
          <a:xfrm>
            <a:off x="3063240" y="2240280"/>
            <a:ext cx="3017520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474720" y="1938528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1. Command: housekeeping request</a:t>
            </a:r>
          </a:p>
        </p:txBody>
      </p:sp>
      <p:cxnSp>
        <p:nvCxnSpPr>
          <p:cNvPr id="13" name="Telemetry"/>
          <p:cNvCxnSpPr/>
          <p:nvPr/>
        </p:nvCxnSpPr>
        <p:spPr>
          <a:xfrm flipH="1">
            <a:off x="3063240" y="2651760"/>
            <a:ext cx="3017520" cy="0"/>
          </a:xfrm>
          <a:prstGeom prst="line">
            <a:avLst/>
          </a:prstGeom>
          <a:ln w="19050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474720" y="27249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1F1F1F"/>
                </a:solidFill>
                <a:latin typeface="Arial"/>
              </a:rPr>
              <a:t>3. Telemetry: housekeeping packet</a:t>
            </a:r>
          </a:p>
        </p:txBody>
      </p:sp>
      <p:cxnSp>
        <p:nvCxnSpPr>
          <p:cNvPr id="15" name="Terminal link"/>
          <p:cNvCxnSpPr/>
          <p:nvPr/>
        </p:nvCxnSpPr>
        <p:spPr>
          <a:xfrm>
            <a:off x="7269480" y="2907792"/>
            <a:ext cx="0" cy="356616"/>
          </a:xfrm>
          <a:prstGeom prst="line">
            <a:avLst/>
          </a:prstGeom>
          <a:ln w="19050">
            <a:solidFill>
              <a:srgbClr val="40404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60920" y="2971800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F1F1F"/>
                </a:solidFill>
                <a:latin typeface="Arial"/>
              </a:rP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15468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95959"/>
                </a:solidFill>
                <a:latin typeface="Arial"/>
              </a:rPr>
              <a:t>Hardwired link, no RF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  <a:latin typeface="Arial"/>
              </a:rPr>
              <a:t>SCT-2: Full chain, antenna out of the loop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Verifies a message can be sent in both directions through the hardware and software</a:t>
            </a:r>
          </a:p>
        </p:txBody>
      </p:sp>
      <p:sp>
        <p:nvSpPr>
          <p:cNvPr id="4" name="Group - Ground side"/>
          <p:cNvSpPr/>
          <p:nvPr/>
        </p:nvSpPr>
        <p:spPr>
          <a:xfrm>
            <a:off x="365760" y="1371600"/>
            <a:ext cx="4343400" cy="224028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 label - Ground side"/>
          <p:cNvSpPr txBox="1"/>
          <p:nvPr/>
        </p:nvSpPr>
        <p:spPr>
          <a:xfrm>
            <a:off x="502920" y="1463040"/>
            <a:ext cx="4069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Arial"/>
              </a:rPr>
              <a:t>Ground side</a:t>
            </a:r>
          </a:p>
        </p:txBody>
      </p:sp>
      <p:sp>
        <p:nvSpPr>
          <p:cNvPr id="6" name="Group - Flatsat"/>
          <p:cNvSpPr/>
          <p:nvPr/>
        </p:nvSpPr>
        <p:spPr>
          <a:xfrm>
            <a:off x="5806440" y="1371600"/>
            <a:ext cx="2971800" cy="224028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oup label - Flatsat"/>
          <p:cNvSpPr txBox="1"/>
          <p:nvPr/>
        </p:nvSpPr>
        <p:spPr>
          <a:xfrm>
            <a:off x="5943600" y="14630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Arial"/>
              </a:rPr>
              <a:t>Flatsat</a:t>
            </a:r>
          </a:p>
        </p:txBody>
      </p:sp>
      <p:sp>
        <p:nvSpPr>
          <p:cNvPr id="8" name="Block - Hydra"/>
          <p:cNvSpPr/>
          <p:nvPr/>
        </p:nvSpPr>
        <p:spPr>
          <a:xfrm>
            <a:off x="548640" y="2148840"/>
            <a:ext cx="11430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Hydra</a:t>
            </a:r>
          </a:p>
        </p:txBody>
      </p:sp>
      <p:sp>
        <p:nvSpPr>
          <p:cNvPr id="9" name="Block - GNU Radio"/>
          <p:cNvSpPr/>
          <p:nvPr/>
        </p:nvSpPr>
        <p:spPr>
          <a:xfrm>
            <a:off x="1965960" y="2148840"/>
            <a:ext cx="11430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GNU Radio</a:t>
            </a:r>
          </a:p>
        </p:txBody>
      </p:sp>
      <p:sp>
        <p:nvSpPr>
          <p:cNvPr id="10" name="Block - SDR"/>
          <p:cNvSpPr/>
          <p:nvPr/>
        </p:nvSpPr>
        <p:spPr>
          <a:xfrm>
            <a:off x="3383280" y="2148840"/>
            <a:ext cx="11430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SDR</a:t>
            </a:r>
          </a:p>
        </p:txBody>
      </p:sp>
      <p:sp>
        <p:nvSpPr>
          <p:cNvPr id="11" name="Block - Li-2"/>
          <p:cNvSpPr/>
          <p:nvPr/>
        </p:nvSpPr>
        <p:spPr>
          <a:xfrm>
            <a:off x="5989320" y="2148840"/>
            <a:ext cx="11430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Li-2</a:t>
            </a:r>
          </a:p>
        </p:txBody>
      </p:sp>
      <p:sp>
        <p:nvSpPr>
          <p:cNvPr id="12" name="Block - CDH"/>
          <p:cNvSpPr/>
          <p:nvPr/>
        </p:nvSpPr>
        <p:spPr>
          <a:xfrm>
            <a:off x="7452360" y="2148840"/>
            <a:ext cx="114300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100" b="1">
                <a:solidFill>
                  <a:srgbClr val="1F1F1F"/>
                </a:solidFill>
                <a:latin typeface="Arial"/>
              </a:rPr>
              <a:t>CDH</a:t>
            </a:r>
          </a:p>
        </p:txBody>
      </p:sp>
      <p:cxnSp>
        <p:nvCxnSpPr>
          <p:cNvPr id="13" name="Hydra-GNU Radio"/>
          <p:cNvCxnSpPr/>
          <p:nvPr/>
        </p:nvCxnSpPr>
        <p:spPr>
          <a:xfrm>
            <a:off x="1719072" y="2560320"/>
            <a:ext cx="219456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NU Radio-SDR"/>
          <p:cNvCxnSpPr/>
          <p:nvPr/>
        </p:nvCxnSpPr>
        <p:spPr>
          <a:xfrm>
            <a:off x="3136392" y="2560320"/>
            <a:ext cx="219456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DR-Li-2 hardline"/>
          <p:cNvCxnSpPr/>
          <p:nvPr/>
        </p:nvCxnSpPr>
        <p:spPr>
          <a:xfrm>
            <a:off x="4553712" y="2560320"/>
            <a:ext cx="1408176" cy="0"/>
          </a:xfrm>
          <a:prstGeom prst="line">
            <a:avLst/>
          </a:prstGeom>
          <a:ln w="19050">
            <a:solidFill>
              <a:srgbClr val="40404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26280" y="22128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Hardline RF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517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cabled, attenuated</a:t>
            </a:r>
          </a:p>
        </p:txBody>
      </p:sp>
      <p:cxnSp>
        <p:nvCxnSpPr>
          <p:cNvPr id="18" name="Li-2-CDH"/>
          <p:cNvCxnSpPr/>
          <p:nvPr/>
        </p:nvCxnSpPr>
        <p:spPr>
          <a:xfrm>
            <a:off x="7159752" y="2560320"/>
            <a:ext cx="265175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5760" y="38404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Commands flow left to right, from Hydra to CDH. Telemetry flows right to left.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No antennas: the SDR and Li-2 are connected by cable.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  <a:latin typeface="Arial"/>
              </a:rPr>
              <a:t>SCT-3: Antenna in the loop, short range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Verifies antenna and ground station performance and the ability to close the link</a:t>
            </a:r>
          </a:p>
        </p:txBody>
      </p:sp>
      <p:sp>
        <p:nvSpPr>
          <p:cNvPr id="4" name="Group - COSGC Ground Station"/>
          <p:cNvSpPr/>
          <p:nvPr/>
        </p:nvSpPr>
        <p:spPr>
          <a:xfrm>
            <a:off x="365760" y="1371600"/>
            <a:ext cx="4343400" cy="224028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 label - COSGC Ground Station"/>
          <p:cNvSpPr txBox="1"/>
          <p:nvPr/>
        </p:nvSpPr>
        <p:spPr>
          <a:xfrm>
            <a:off x="502920" y="1463040"/>
            <a:ext cx="4069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Arial"/>
              </a:rPr>
              <a:t>COSGC Ground Station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SWARM-EX Hydra and GNU Radio instances</a:t>
            </a:r>
          </a:p>
        </p:txBody>
      </p:sp>
      <p:sp>
        <p:nvSpPr>
          <p:cNvPr id="6" name="Group - Flatsat"/>
          <p:cNvSpPr/>
          <p:nvPr/>
        </p:nvSpPr>
        <p:spPr>
          <a:xfrm>
            <a:off x="5806440" y="1371600"/>
            <a:ext cx="2971800" cy="224028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oup label - Flatsat"/>
          <p:cNvSpPr txBox="1"/>
          <p:nvPr/>
        </p:nvSpPr>
        <p:spPr>
          <a:xfrm>
            <a:off x="5943600" y="14630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Arial"/>
              </a:rPr>
              <a:t>Flatsat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Parking garage across from the DLC</a:t>
            </a:r>
          </a:p>
        </p:txBody>
      </p:sp>
      <p:sp>
        <p:nvSpPr>
          <p:cNvPr id="8" name="Block - Hydra"/>
          <p:cNvSpPr/>
          <p:nvPr/>
        </p:nvSpPr>
        <p:spPr>
          <a:xfrm>
            <a:off x="502920" y="2240280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Hydra</a:t>
            </a:r>
          </a:p>
        </p:txBody>
      </p:sp>
      <p:sp>
        <p:nvSpPr>
          <p:cNvPr id="9" name="Block - GNU Radio"/>
          <p:cNvSpPr/>
          <p:nvPr/>
        </p:nvSpPr>
        <p:spPr>
          <a:xfrm>
            <a:off x="1554480" y="2240280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GNU Radio</a:t>
            </a:r>
          </a:p>
        </p:txBody>
      </p:sp>
      <p:sp>
        <p:nvSpPr>
          <p:cNvPr id="10" name="Block - SDR"/>
          <p:cNvSpPr/>
          <p:nvPr/>
        </p:nvSpPr>
        <p:spPr>
          <a:xfrm>
            <a:off x="2606040" y="2240280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SDR</a:t>
            </a:r>
          </a:p>
        </p:txBody>
      </p:sp>
      <p:sp>
        <p:nvSpPr>
          <p:cNvPr id="11" name="Block - GS antenna"/>
          <p:cNvSpPr/>
          <p:nvPr/>
        </p:nvSpPr>
        <p:spPr>
          <a:xfrm>
            <a:off x="3657600" y="2240280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GS antenna</a:t>
            </a:r>
          </a:p>
        </p:txBody>
      </p:sp>
      <p:sp>
        <p:nvSpPr>
          <p:cNvPr id="12" name="Block - Antenna"/>
          <p:cNvSpPr/>
          <p:nvPr/>
        </p:nvSpPr>
        <p:spPr>
          <a:xfrm>
            <a:off x="5989320" y="2240280"/>
            <a:ext cx="7315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Antenna</a:t>
            </a:r>
          </a:p>
        </p:txBody>
      </p:sp>
      <p:sp>
        <p:nvSpPr>
          <p:cNvPr id="13" name="Block - Li-2"/>
          <p:cNvSpPr/>
          <p:nvPr/>
        </p:nvSpPr>
        <p:spPr>
          <a:xfrm>
            <a:off x="6949440" y="2240280"/>
            <a:ext cx="7315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Li-2</a:t>
            </a:r>
          </a:p>
        </p:txBody>
      </p:sp>
      <p:sp>
        <p:nvSpPr>
          <p:cNvPr id="14" name="Block - CDH"/>
          <p:cNvSpPr/>
          <p:nvPr/>
        </p:nvSpPr>
        <p:spPr>
          <a:xfrm>
            <a:off x="7909560" y="2240280"/>
            <a:ext cx="7315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CDH</a:t>
            </a:r>
          </a:p>
        </p:txBody>
      </p:sp>
      <p:cxnSp>
        <p:nvCxnSpPr>
          <p:cNvPr id="15" name="Link"/>
          <p:cNvCxnSpPr/>
          <p:nvPr/>
        </p:nvCxnSpPr>
        <p:spPr>
          <a:xfrm>
            <a:off x="1344168" y="2651760"/>
            <a:ext cx="192024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Link"/>
          <p:cNvCxnSpPr/>
          <p:nvPr/>
        </p:nvCxnSpPr>
        <p:spPr>
          <a:xfrm>
            <a:off x="2395728" y="2651760"/>
            <a:ext cx="192024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nk"/>
          <p:cNvCxnSpPr/>
          <p:nvPr/>
        </p:nvCxnSpPr>
        <p:spPr>
          <a:xfrm>
            <a:off x="3447288" y="2651760"/>
            <a:ext cx="192024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Over the air"/>
          <p:cNvCxnSpPr/>
          <p:nvPr/>
        </p:nvCxnSpPr>
        <p:spPr>
          <a:xfrm>
            <a:off x="4507992" y="2651760"/>
            <a:ext cx="1453896" cy="0"/>
          </a:xfrm>
          <a:prstGeom prst="line">
            <a:avLst/>
          </a:prstGeom>
          <a:ln w="19050">
            <a:solidFill>
              <a:srgbClr val="404040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26280" y="23042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Over the 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7432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short range</a:t>
            </a:r>
          </a:p>
        </p:txBody>
      </p:sp>
      <p:cxnSp>
        <p:nvCxnSpPr>
          <p:cNvPr id="21" name="Link"/>
          <p:cNvCxnSpPr/>
          <p:nvPr/>
        </p:nvCxnSpPr>
        <p:spPr>
          <a:xfrm>
            <a:off x="6739128" y="2651760"/>
            <a:ext cx="192024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nk"/>
          <p:cNvCxnSpPr/>
          <p:nvPr/>
        </p:nvCxnSpPr>
        <p:spPr>
          <a:xfrm>
            <a:off x="7699248" y="2651760"/>
            <a:ext cx="192024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5760" y="38404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Same flow as SCT-2, with both antennas added and the link closed over the air.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365760" y="274320"/>
            <a:ext cx="8412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1F1F1F"/>
                </a:solidFill>
                <a:latin typeface="Arial"/>
              </a:rPr>
              <a:t>SCT-4: Antenna in the loop, long range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365760" y="749808"/>
            <a:ext cx="8412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  <a:latin typeface="Arial"/>
              </a:rPr>
              <a:t>Verifies antenna and ground station performance and closing the link over a longer range</a:t>
            </a:r>
          </a:p>
        </p:txBody>
      </p:sp>
      <p:sp>
        <p:nvSpPr>
          <p:cNvPr id="4" name="Group - COSGC Ground Station"/>
          <p:cNvSpPr/>
          <p:nvPr/>
        </p:nvSpPr>
        <p:spPr>
          <a:xfrm>
            <a:off x="365760" y="1371600"/>
            <a:ext cx="4343400" cy="224028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Group label - COSGC Ground Station"/>
          <p:cNvSpPr txBox="1"/>
          <p:nvPr/>
        </p:nvSpPr>
        <p:spPr>
          <a:xfrm>
            <a:off x="502920" y="1463040"/>
            <a:ext cx="4069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Arial"/>
              </a:rPr>
              <a:t>COSGC Ground Station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SWARM-EX Hydra and GNU Radio instances</a:t>
            </a:r>
          </a:p>
        </p:txBody>
      </p:sp>
      <p:sp>
        <p:nvSpPr>
          <p:cNvPr id="6" name="Group - Flatsat"/>
          <p:cNvSpPr/>
          <p:nvPr/>
        </p:nvSpPr>
        <p:spPr>
          <a:xfrm>
            <a:off x="5806440" y="1371600"/>
            <a:ext cx="2971800" cy="224028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A6A6A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roup label - Flatsat"/>
          <p:cNvSpPr txBox="1"/>
          <p:nvPr/>
        </p:nvSpPr>
        <p:spPr>
          <a:xfrm>
            <a:off x="5943600" y="1463040"/>
            <a:ext cx="2697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95959"/>
                </a:solidFill>
                <a:latin typeface="Arial"/>
              </a:rPr>
              <a:t>Flatsat</a:t>
            </a:r>
          </a:p>
          <a:p>
            <a:pPr algn="l"/>
            <a:r>
              <a:rPr sz="900" b="0">
                <a:solidFill>
                  <a:srgbClr val="595959"/>
                </a:solidFill>
                <a:latin typeface="Arial"/>
              </a:rPr>
              <a:t>Farther from the ground station</a:t>
            </a:r>
          </a:p>
        </p:txBody>
      </p:sp>
      <p:sp>
        <p:nvSpPr>
          <p:cNvPr id="8" name="Block - Hydra"/>
          <p:cNvSpPr/>
          <p:nvPr/>
        </p:nvSpPr>
        <p:spPr>
          <a:xfrm>
            <a:off x="502920" y="2240280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Hydra</a:t>
            </a:r>
          </a:p>
        </p:txBody>
      </p:sp>
      <p:sp>
        <p:nvSpPr>
          <p:cNvPr id="9" name="Block - GNU Radio"/>
          <p:cNvSpPr/>
          <p:nvPr/>
        </p:nvSpPr>
        <p:spPr>
          <a:xfrm>
            <a:off x="1554480" y="2240280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GNU Radio</a:t>
            </a:r>
          </a:p>
        </p:txBody>
      </p:sp>
      <p:sp>
        <p:nvSpPr>
          <p:cNvPr id="10" name="Block - SDR"/>
          <p:cNvSpPr/>
          <p:nvPr/>
        </p:nvSpPr>
        <p:spPr>
          <a:xfrm>
            <a:off x="2606040" y="2240280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SDR</a:t>
            </a:r>
          </a:p>
        </p:txBody>
      </p:sp>
      <p:sp>
        <p:nvSpPr>
          <p:cNvPr id="11" name="Block - GS antenna"/>
          <p:cNvSpPr/>
          <p:nvPr/>
        </p:nvSpPr>
        <p:spPr>
          <a:xfrm>
            <a:off x="3657600" y="2240280"/>
            <a:ext cx="82296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GS antenna</a:t>
            </a:r>
          </a:p>
        </p:txBody>
      </p:sp>
      <p:sp>
        <p:nvSpPr>
          <p:cNvPr id="12" name="Block - Antenna"/>
          <p:cNvSpPr/>
          <p:nvPr/>
        </p:nvSpPr>
        <p:spPr>
          <a:xfrm>
            <a:off x="5989320" y="2240280"/>
            <a:ext cx="7315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Antenna</a:t>
            </a:r>
          </a:p>
        </p:txBody>
      </p:sp>
      <p:sp>
        <p:nvSpPr>
          <p:cNvPr id="13" name="Block - Li-2"/>
          <p:cNvSpPr/>
          <p:nvPr/>
        </p:nvSpPr>
        <p:spPr>
          <a:xfrm>
            <a:off x="6949440" y="2240280"/>
            <a:ext cx="7315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Li-2</a:t>
            </a:r>
          </a:p>
        </p:txBody>
      </p:sp>
      <p:sp>
        <p:nvSpPr>
          <p:cNvPr id="14" name="Block - CDH"/>
          <p:cNvSpPr/>
          <p:nvPr/>
        </p:nvSpPr>
        <p:spPr>
          <a:xfrm>
            <a:off x="7909560" y="2240280"/>
            <a:ext cx="731520" cy="8229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7432" bIns="27432"/>
          <a:lstStyle/>
          <a:p>
            <a:pPr algn="ctr"/>
            <a:r>
              <a:rPr sz="1050" b="1">
                <a:solidFill>
                  <a:srgbClr val="1F1F1F"/>
                </a:solidFill>
                <a:latin typeface="Arial"/>
              </a:rPr>
              <a:t>CDH</a:t>
            </a:r>
          </a:p>
        </p:txBody>
      </p:sp>
      <p:cxnSp>
        <p:nvCxnSpPr>
          <p:cNvPr id="15" name="Link"/>
          <p:cNvCxnSpPr/>
          <p:nvPr/>
        </p:nvCxnSpPr>
        <p:spPr>
          <a:xfrm>
            <a:off x="1344168" y="2651760"/>
            <a:ext cx="192024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Link"/>
          <p:cNvCxnSpPr/>
          <p:nvPr/>
        </p:nvCxnSpPr>
        <p:spPr>
          <a:xfrm>
            <a:off x="2395728" y="2651760"/>
            <a:ext cx="192024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nk"/>
          <p:cNvCxnSpPr/>
          <p:nvPr/>
        </p:nvCxnSpPr>
        <p:spPr>
          <a:xfrm>
            <a:off x="3447288" y="2651760"/>
            <a:ext cx="192024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Over the air"/>
          <p:cNvCxnSpPr/>
          <p:nvPr/>
        </p:nvCxnSpPr>
        <p:spPr>
          <a:xfrm>
            <a:off x="4507992" y="2651760"/>
            <a:ext cx="1453896" cy="0"/>
          </a:xfrm>
          <a:prstGeom prst="line">
            <a:avLst/>
          </a:prstGeom>
          <a:ln w="19050">
            <a:solidFill>
              <a:srgbClr val="404040"/>
            </a:solidFill>
            <a:prstDash val="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26280" y="230428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1F1F"/>
                </a:solidFill>
                <a:latin typeface="Arial"/>
              </a:rPr>
              <a:t>Over the air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2743200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595959"/>
                </a:solidFill>
                <a:latin typeface="Arial"/>
              </a:rPr>
              <a:t>long range</a:t>
            </a:r>
          </a:p>
        </p:txBody>
      </p:sp>
      <p:cxnSp>
        <p:nvCxnSpPr>
          <p:cNvPr id="21" name="Link"/>
          <p:cNvCxnSpPr/>
          <p:nvPr/>
        </p:nvCxnSpPr>
        <p:spPr>
          <a:xfrm>
            <a:off x="6739128" y="2651760"/>
            <a:ext cx="192024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nk"/>
          <p:cNvCxnSpPr/>
          <p:nvPr/>
        </p:nvCxnSpPr>
        <p:spPr>
          <a:xfrm>
            <a:off x="7699248" y="2651760"/>
            <a:ext cx="192024" cy="0"/>
          </a:xfrm>
          <a:prstGeom prst="line">
            <a:avLst/>
          </a:prstGeom>
          <a:ln w="1905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65760" y="3840480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Arial"/>
              </a:rPr>
              <a:t>Identical to SCT-3. Only the distance between the flatsat and the ground station changes.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